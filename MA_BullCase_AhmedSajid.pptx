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13" r:id="rId3"/>
    <p:sldId id="315" r:id="rId4"/>
    <p:sldId id="317" r:id="rId5"/>
    <p:sldId id="319" r:id="rId6"/>
    <p:sldId id="321" r:id="rId7"/>
    <p:sldId id="323" r:id="rId8"/>
    <p:sldId id="257" r:id="rId9"/>
    <p:sldId id="258" r:id="rId10"/>
    <p:sldId id="262" r:id="rId11"/>
    <p:sldId id="268" r:id="rId12"/>
    <p:sldId id="269" r:id="rId13"/>
    <p:sldId id="259" r:id="rId14"/>
    <p:sldId id="260" r:id="rId15"/>
    <p:sldId id="279" r:id="rId16"/>
    <p:sldId id="277" r:id="rId17"/>
    <p:sldId id="278" r:id="rId18"/>
    <p:sldId id="263" r:id="rId19"/>
    <p:sldId id="264" r:id="rId20"/>
    <p:sldId id="265" r:id="rId21"/>
    <p:sldId id="266" r:id="rId22"/>
    <p:sldId id="267" r:id="rId23"/>
    <p:sldId id="270" r:id="rId24"/>
    <p:sldId id="324" r:id="rId25"/>
    <p:sldId id="272" r:id="rId26"/>
    <p:sldId id="273" r:id="rId27"/>
    <p:sldId id="287" r:id="rId28"/>
    <p:sldId id="288" r:id="rId29"/>
    <p:sldId id="292" r:id="rId30"/>
    <p:sldId id="326" r:id="rId31"/>
    <p:sldId id="289" r:id="rId32"/>
    <p:sldId id="280" r:id="rId33"/>
    <p:sldId id="281" r:id="rId34"/>
    <p:sldId id="295" r:id="rId35"/>
    <p:sldId id="294" r:id="rId36"/>
    <p:sldId id="293" r:id="rId37"/>
    <p:sldId id="274" r:id="rId38"/>
    <p:sldId id="275" r:id="rId39"/>
    <p:sldId id="276" r:id="rId40"/>
    <p:sldId id="306" r:id="rId41"/>
    <p:sldId id="307" r:id="rId42"/>
    <p:sldId id="308" r:id="rId43"/>
    <p:sldId id="309" r:id="rId44"/>
    <p:sldId id="325" r:id="rId45"/>
    <p:sldId id="282" r:id="rId46"/>
    <p:sldId id="283" r:id="rId47"/>
    <p:sldId id="284" r:id="rId48"/>
    <p:sldId id="291" r:id="rId49"/>
    <p:sldId id="310" r:id="rId50"/>
    <p:sldId id="311" r:id="rId51"/>
    <p:sldId id="296" r:id="rId52"/>
    <p:sldId id="297" r:id="rId53"/>
    <p:sldId id="298" r:id="rId54"/>
    <p:sldId id="328" r:id="rId55"/>
    <p:sldId id="329"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95D9"/>
    <a:srgbClr val="76D6FF"/>
    <a:srgbClr val="009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sajid-home/Desktop/MSFIN%20Spring%202025/FINA%207325/Annual_CashFlow_V.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libri" panose="020F0502020204030204" pitchFamily="34" charset="0"/>
                <a:ea typeface="+mn-ea"/>
                <a:cs typeface="Calibri" panose="020F0502020204030204" pitchFamily="34" charset="0"/>
              </a:defRPr>
            </a:pPr>
            <a:r>
              <a:rPr lang="en-US" sz="1800" dirty="0">
                <a:latin typeface="Calibri" panose="020F0502020204030204" pitchFamily="34" charset="0"/>
                <a:cs typeface="Calibri" panose="020F0502020204030204" pitchFamily="34" charset="0"/>
              </a:rPr>
              <a:t>Mastercard</a:t>
            </a:r>
            <a:r>
              <a:rPr lang="en-US" sz="1800" baseline="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2024</a:t>
            </a:r>
            <a:r>
              <a:rPr lang="en-US" sz="1800" baseline="0" dirty="0">
                <a:latin typeface="Calibri" panose="020F0502020204030204" pitchFamily="34" charset="0"/>
                <a:cs typeface="Calibri" panose="020F0502020204030204" pitchFamily="34" charset="0"/>
              </a:rPr>
              <a:t> net revenue by category</a:t>
            </a:r>
            <a:endParaRPr lang="en-US" sz="1800" dirty="0">
              <a:latin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libri" panose="020F0502020204030204" pitchFamily="34" charset="0"/>
              <a:ea typeface="+mn-ea"/>
              <a:cs typeface="Calibri" panose="020F0502020204030204" pitchFamily="34" charset="0"/>
            </a:defRPr>
          </a:pPr>
          <a:endParaRPr lang="en-US"/>
        </a:p>
      </c:txPr>
    </c:title>
    <c:autoTitleDeleted val="0"/>
    <c:plotArea>
      <c:layout/>
      <c:barChart>
        <c:barDir val="col"/>
        <c:grouping val="clustered"/>
        <c:varyColors val="0"/>
        <c:ser>
          <c:idx val="2"/>
          <c:order val="2"/>
          <c:tx>
            <c:strRef>
              <c:f>Sheet5!$A$4</c:f>
              <c:strCache>
                <c:ptCount val="1"/>
                <c:pt idx="0">
                  <c:v>Payment network</c:v>
                </c:pt>
              </c:strCache>
            </c:strRef>
          </c:tx>
          <c:spPr>
            <a:solidFill>
              <a:schemeClr val="accent1">
                <a:lumMod val="60000"/>
                <a:lumOff val="40000"/>
              </a:schemeClr>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Sheet5!$B$1:$D$1</c:f>
              <c:numCache>
                <c:formatCode>General</c:formatCode>
                <c:ptCount val="3"/>
                <c:pt idx="0">
                  <c:v>2022</c:v>
                </c:pt>
                <c:pt idx="1">
                  <c:v>2023</c:v>
                </c:pt>
                <c:pt idx="2">
                  <c:v>2024</c:v>
                </c:pt>
              </c:numCache>
            </c:numRef>
          </c:cat>
          <c:val>
            <c:numRef>
              <c:f>Sheet5!$B$4:$D$4</c:f>
              <c:numCache>
                <c:formatCode>_("$"* #,##0_);_("$"* \(#,##0\);_("$"* "-"??_);_(@_)</c:formatCode>
                <c:ptCount val="3"/>
                <c:pt idx="0">
                  <c:v>14358</c:v>
                </c:pt>
                <c:pt idx="1">
                  <c:v>15824</c:v>
                </c:pt>
                <c:pt idx="2">
                  <c:v>17335</c:v>
                </c:pt>
              </c:numCache>
            </c:numRef>
          </c:val>
          <c:extLst>
            <c:ext xmlns:c16="http://schemas.microsoft.com/office/drawing/2014/chart" uri="{C3380CC4-5D6E-409C-BE32-E72D297353CC}">
              <c16:uniqueId val="{00000000-4170-734E-A256-878D916124A5}"/>
            </c:ext>
          </c:extLst>
        </c:ser>
        <c:ser>
          <c:idx val="4"/>
          <c:order val="4"/>
          <c:tx>
            <c:strRef>
              <c:f>Sheet5!$A$6</c:f>
              <c:strCache>
                <c:ptCount val="1"/>
                <c:pt idx="0">
                  <c:v>Value added services and solutions</c:v>
                </c:pt>
              </c:strCache>
            </c:strRef>
          </c:tx>
          <c:spPr>
            <a:solidFill>
              <a:srgbClr val="FFC000"/>
            </a:soli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numRef>
              <c:f>Sheet5!$B$1:$D$1</c:f>
              <c:numCache>
                <c:formatCode>General</c:formatCode>
                <c:ptCount val="3"/>
                <c:pt idx="0">
                  <c:v>2022</c:v>
                </c:pt>
                <c:pt idx="1">
                  <c:v>2023</c:v>
                </c:pt>
                <c:pt idx="2">
                  <c:v>2024</c:v>
                </c:pt>
              </c:numCache>
            </c:numRef>
          </c:cat>
          <c:val>
            <c:numRef>
              <c:f>Sheet5!$B$6:$D$6</c:f>
              <c:numCache>
                <c:formatCode>_("$"* #,##0_);_("$"* \(#,##0\);_("$"* "-"??_);_(@_)</c:formatCode>
                <c:ptCount val="3"/>
                <c:pt idx="0">
                  <c:v>7879</c:v>
                </c:pt>
                <c:pt idx="1">
                  <c:v>9274</c:v>
                </c:pt>
                <c:pt idx="2">
                  <c:v>10832</c:v>
                </c:pt>
              </c:numCache>
            </c:numRef>
          </c:val>
          <c:extLst>
            <c:ext xmlns:c16="http://schemas.microsoft.com/office/drawing/2014/chart" uri="{C3380CC4-5D6E-409C-BE32-E72D297353CC}">
              <c16:uniqueId val="{00000001-4170-734E-A256-878D916124A5}"/>
            </c:ext>
          </c:extLst>
        </c:ser>
        <c:dLbls>
          <c:showLegendKey val="0"/>
          <c:showVal val="0"/>
          <c:showCatName val="0"/>
          <c:showSerName val="0"/>
          <c:showPercent val="0"/>
          <c:showBubbleSize val="0"/>
        </c:dLbls>
        <c:gapWidth val="100"/>
        <c:overlap val="-24"/>
        <c:axId val="1336401440"/>
        <c:axId val="99956784"/>
        <c:extLst>
          <c:ext xmlns:c15="http://schemas.microsoft.com/office/drawing/2012/chart" uri="{02D57815-91ED-43cb-92C2-25804820EDAC}">
            <c15:filteredBarSeries>
              <c15:ser>
                <c:idx val="0"/>
                <c:order val="0"/>
                <c:tx>
                  <c:strRef>
                    <c:extLst>
                      <c:ext uri="{02D57815-91ED-43cb-92C2-25804820EDAC}">
                        <c15:formulaRef>
                          <c15:sqref>Sheet5!$A$2</c15:sqref>
                        </c15:formulaRef>
                      </c:ext>
                    </c:extLst>
                    <c:strCache>
                      <c:ptCount val="1"/>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extLst>
                      <c:ext uri="{02D57815-91ED-43cb-92C2-25804820EDAC}">
                        <c15:formulaRef>
                          <c15:sqref>Sheet5!$B$1:$D$1</c15:sqref>
                        </c15:formulaRef>
                      </c:ext>
                    </c:extLst>
                    <c:numCache>
                      <c:formatCode>General</c:formatCode>
                      <c:ptCount val="3"/>
                      <c:pt idx="0">
                        <c:v>2022</c:v>
                      </c:pt>
                      <c:pt idx="1">
                        <c:v>2023</c:v>
                      </c:pt>
                      <c:pt idx="2">
                        <c:v>2024</c:v>
                      </c:pt>
                    </c:numCache>
                  </c:numRef>
                </c:cat>
                <c:val>
                  <c:numRef>
                    <c:extLst>
                      <c:ext uri="{02D57815-91ED-43cb-92C2-25804820EDAC}">
                        <c15:formulaRef>
                          <c15:sqref>Sheet5!$B$2:$D$2</c15:sqref>
                        </c15:formulaRef>
                      </c:ext>
                    </c:extLst>
                    <c:numCache>
                      <c:formatCode>General</c:formatCode>
                      <c:ptCount val="3"/>
                    </c:numCache>
                  </c:numRef>
                </c:val>
                <c:extLst>
                  <c:ext xmlns:c16="http://schemas.microsoft.com/office/drawing/2014/chart" uri="{C3380CC4-5D6E-409C-BE32-E72D297353CC}">
                    <c16:uniqueId val="{00000002-4170-734E-A256-878D916124A5}"/>
                  </c:ext>
                </c:extLst>
              </c15:ser>
            </c15:filteredBarSeries>
            <c15:filteredBarSeries>
              <c15:ser>
                <c:idx val="1"/>
                <c:order val="1"/>
                <c:tx>
                  <c:strRef>
                    <c:extLst xmlns:c15="http://schemas.microsoft.com/office/drawing/2012/chart">
                      <c:ext xmlns:c15="http://schemas.microsoft.com/office/drawing/2012/chart" uri="{02D57815-91ED-43cb-92C2-25804820EDAC}">
                        <c15:formulaRef>
                          <c15:sqref>Sheet5!$A$3</c15:sqref>
                        </c15:formulaRef>
                      </c:ext>
                    </c:extLst>
                    <c:strCache>
                      <c:ptCount val="1"/>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extLst xmlns:c15="http://schemas.microsoft.com/office/drawing/2012/chart">
                      <c:ext xmlns:c15="http://schemas.microsoft.com/office/drawing/2012/chart" uri="{02D57815-91ED-43cb-92C2-25804820EDAC}">
                        <c15:formulaRef>
                          <c15:sqref>Sheet5!$B$1:$D$1</c15:sqref>
                        </c15:formulaRef>
                      </c:ext>
                    </c:extLst>
                    <c:numCache>
                      <c:formatCode>General</c:formatCode>
                      <c:ptCount val="3"/>
                      <c:pt idx="0">
                        <c:v>2022</c:v>
                      </c:pt>
                      <c:pt idx="1">
                        <c:v>2023</c:v>
                      </c:pt>
                      <c:pt idx="2">
                        <c:v>2024</c:v>
                      </c:pt>
                    </c:numCache>
                  </c:numRef>
                </c:cat>
                <c:val>
                  <c:numRef>
                    <c:extLst xmlns:c15="http://schemas.microsoft.com/office/drawing/2012/chart">
                      <c:ext xmlns:c15="http://schemas.microsoft.com/office/drawing/2012/chart" uri="{02D57815-91ED-43cb-92C2-25804820EDAC}">
                        <c15:formulaRef>
                          <c15:sqref>Sheet5!$B$3:$D$3</c15:sqref>
                        </c15:formulaRef>
                      </c:ext>
                    </c:extLst>
                    <c:numCache>
                      <c:formatCode>General</c:formatCode>
                      <c:ptCount val="3"/>
                    </c:numCache>
                  </c:numRef>
                </c:val>
                <c:extLst xmlns:c15="http://schemas.microsoft.com/office/drawing/2012/chart">
                  <c:ext xmlns:c16="http://schemas.microsoft.com/office/drawing/2014/chart" uri="{C3380CC4-5D6E-409C-BE32-E72D297353CC}">
                    <c16:uniqueId val="{00000003-4170-734E-A256-878D916124A5}"/>
                  </c:ext>
                </c:extLst>
              </c15:ser>
            </c15:filteredBarSeries>
            <c15:filteredBarSeries>
              <c15:ser>
                <c:idx val="3"/>
                <c:order val="3"/>
                <c:tx>
                  <c:strRef>
                    <c:extLst xmlns:c15="http://schemas.microsoft.com/office/drawing/2012/chart">
                      <c:ext xmlns:c15="http://schemas.microsoft.com/office/drawing/2012/chart" uri="{02D57815-91ED-43cb-92C2-25804820EDAC}">
                        <c15:formulaRef>
                          <c15:sqref>Sheet5!$A$5</c15:sqref>
                        </c15:formulaRef>
                      </c:ext>
                    </c:extLst>
                    <c:strCache>
                      <c:ptCount val="1"/>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numRef>
                    <c:extLst xmlns:c15="http://schemas.microsoft.com/office/drawing/2012/chart">
                      <c:ext xmlns:c15="http://schemas.microsoft.com/office/drawing/2012/chart" uri="{02D57815-91ED-43cb-92C2-25804820EDAC}">
                        <c15:formulaRef>
                          <c15:sqref>Sheet5!$B$1:$D$1</c15:sqref>
                        </c15:formulaRef>
                      </c:ext>
                    </c:extLst>
                    <c:numCache>
                      <c:formatCode>General</c:formatCode>
                      <c:ptCount val="3"/>
                      <c:pt idx="0">
                        <c:v>2022</c:v>
                      </c:pt>
                      <c:pt idx="1">
                        <c:v>2023</c:v>
                      </c:pt>
                      <c:pt idx="2">
                        <c:v>2024</c:v>
                      </c:pt>
                    </c:numCache>
                  </c:numRef>
                </c:cat>
                <c:val>
                  <c:numRef>
                    <c:extLst xmlns:c15="http://schemas.microsoft.com/office/drawing/2012/chart">
                      <c:ext xmlns:c15="http://schemas.microsoft.com/office/drawing/2012/chart" uri="{02D57815-91ED-43cb-92C2-25804820EDAC}">
                        <c15:formulaRef>
                          <c15:sqref>Sheet5!$B$5:$D$5</c15:sqref>
                        </c15:formulaRef>
                      </c:ext>
                    </c:extLst>
                    <c:numCache>
                      <c:formatCode>General</c:formatCode>
                      <c:ptCount val="3"/>
                    </c:numCache>
                  </c:numRef>
                </c:val>
                <c:extLst xmlns:c15="http://schemas.microsoft.com/office/drawing/2012/chart">
                  <c:ext xmlns:c16="http://schemas.microsoft.com/office/drawing/2014/chart" uri="{C3380CC4-5D6E-409C-BE32-E72D297353CC}">
                    <c16:uniqueId val="{00000004-4170-734E-A256-878D916124A5}"/>
                  </c:ext>
                </c:extLst>
              </c15:ser>
            </c15:filteredBarSeries>
          </c:ext>
        </c:extLst>
      </c:barChart>
      <c:catAx>
        <c:axId val="1336401440"/>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99956784"/>
        <c:crosses val="autoZero"/>
        <c:auto val="1"/>
        <c:lblAlgn val="ctr"/>
        <c:lblOffset val="100"/>
        <c:noMultiLvlLbl val="0"/>
      </c:catAx>
      <c:valAx>
        <c:axId val="99956784"/>
        <c:scaling>
          <c:orientation val="minMax"/>
        </c:scaling>
        <c:delete val="0"/>
        <c:axPos val="l"/>
        <c:majorGridlines>
          <c:spPr>
            <a:ln w="9525" cap="flat" cmpd="sng" algn="ctr">
              <a:solidFill>
                <a:schemeClr val="lt1">
                  <a:lumMod val="95000"/>
                  <a:alpha val="10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3364014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libri" panose="020F0502020204030204" pitchFamily="34" charset="0"/>
                <a:ea typeface="+mn-ea"/>
                <a:cs typeface="Calibri" panose="020F0502020204030204" pitchFamily="34" charset="0"/>
              </a:defRPr>
            </a:pPr>
            <a:r>
              <a:rPr lang="en-US" sz="1800" dirty="0">
                <a:latin typeface="Calibri" panose="020F0502020204030204" pitchFamily="34" charset="0"/>
                <a:cs typeface="Calibri" panose="020F0502020204030204" pitchFamily="34" charset="0"/>
              </a:rPr>
              <a:t>Mastercard</a:t>
            </a:r>
            <a:r>
              <a:rPr lang="en-US" sz="1800" baseline="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2024</a:t>
            </a:r>
            <a:r>
              <a:rPr lang="en-US" sz="1800" baseline="0" dirty="0">
                <a:latin typeface="Calibri" panose="020F0502020204030204" pitchFamily="34" charset="0"/>
                <a:cs typeface="Calibri" panose="020F0502020204030204" pitchFamily="34" charset="0"/>
              </a:rPr>
              <a:t> net revenue by geography</a:t>
            </a:r>
            <a:endParaRPr lang="en-US" sz="1800" dirty="0">
              <a:latin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Calibri" panose="020F0502020204030204" pitchFamily="34" charset="0"/>
              <a:ea typeface="+mn-ea"/>
              <a:cs typeface="Calibri" panose="020F0502020204030204" pitchFamily="34" charset="0"/>
            </a:defRPr>
          </a:pPr>
          <a:endParaRPr lang="en-US"/>
        </a:p>
      </c:txPr>
    </c:title>
    <c:autoTitleDeleted val="0"/>
    <c:plotArea>
      <c:layout/>
      <c:pieChart>
        <c:varyColors val="1"/>
        <c:ser>
          <c:idx val="0"/>
          <c:order val="0"/>
          <c:dPt>
            <c:idx val="0"/>
            <c:bubble3D val="0"/>
            <c:spPr>
              <a:solidFill>
                <a:srgbClr val="00B0F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57B8-904A-BB67-8850B2AD554B}"/>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57B8-904A-BB67-8850B2AD554B}"/>
              </c:ext>
            </c:extLst>
          </c:dPt>
          <c:dPt>
            <c:idx val="2"/>
            <c:bubble3D val="0"/>
            <c:spPr>
              <a:solidFill>
                <a:srgbClr val="FFC000"/>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57B8-904A-BB67-8850B2AD554B}"/>
              </c:ext>
            </c:extLst>
          </c:dPt>
          <c:dLbls>
            <c:dLbl>
              <c:idx val="0"/>
              <c:layout>
                <c:manualLayout>
                  <c:x val="-0.13635780531628178"/>
                  <c:y val="1.597611372403953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7B8-904A-BB67-8850B2AD554B}"/>
                </c:ext>
              </c:extLst>
            </c:dLbl>
            <c:dLbl>
              <c:idx val="2"/>
              <c:layout>
                <c:manualLayout>
                  <c:x val="0.13216198541457486"/>
                  <c:y val="-3.6031496062992129E-2"/>
                </c:manualLayout>
              </c:layout>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7B8-904A-BB67-8850B2AD554B}"/>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Sheet5!$A$12:$A$14</c:f>
              <c:strCache>
                <c:ptCount val="3"/>
                <c:pt idx="0">
                  <c:v>Americas</c:v>
                </c:pt>
                <c:pt idx="2">
                  <c:v>Asia Pacific, Europe, Middle East and Africa</c:v>
                </c:pt>
              </c:strCache>
            </c:strRef>
          </c:cat>
          <c:val>
            <c:numRef>
              <c:f>Sheet5!$B$12:$B$14</c:f>
              <c:numCache>
                <c:formatCode>General</c:formatCode>
                <c:ptCount val="3"/>
                <c:pt idx="0" formatCode="_(&quot;$&quot;* #,##0_);_(&quot;$&quot;* \(#,##0\);_(&quot;$&quot;* &quot;-&quot;??_);_(@_)">
                  <c:v>12375</c:v>
                </c:pt>
                <c:pt idx="2" formatCode="_(&quot;$&quot;* #,##0_);_(&quot;$&quot;* \(#,##0\);_(&quot;$&quot;* &quot;-&quot;??_);_(@_)">
                  <c:v>15792</c:v>
                </c:pt>
              </c:numCache>
            </c:numRef>
          </c:val>
          <c:extLst>
            <c:ext xmlns:c16="http://schemas.microsoft.com/office/drawing/2014/chart" uri="{C3380CC4-5D6E-409C-BE32-E72D297353CC}">
              <c16:uniqueId val="{00000006-57B8-904A-BB67-8850B2AD554B}"/>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1"/>
        <c:delete val="1"/>
      </c:legendEntry>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00" normalizeH="0" baseline="0">
                <a:solidFill>
                  <a:schemeClr val="lt1"/>
                </a:solidFill>
                <a:latin typeface="Calibri" panose="020F0502020204030204" pitchFamily="34" charset="0"/>
                <a:ea typeface="+mn-ea"/>
                <a:cs typeface="Calibri" panose="020F0502020204030204" pitchFamily="34" charset="0"/>
              </a:defRPr>
            </a:pPr>
            <a:r>
              <a:rPr lang="en-US" sz="1800">
                <a:latin typeface="Calibri" panose="020F0502020204030204" pitchFamily="34" charset="0"/>
                <a:cs typeface="Calibri" panose="020F0502020204030204" pitchFamily="34" charset="0"/>
              </a:rPr>
              <a:t>Mastercard</a:t>
            </a:r>
            <a:r>
              <a:rPr lang="en-US" sz="1800" baseline="0">
                <a:latin typeface="Calibri" panose="020F0502020204030204" pitchFamily="34" charset="0"/>
                <a:cs typeface="Calibri" panose="020F0502020204030204" pitchFamily="34" charset="0"/>
              </a:rPr>
              <a:t> </a:t>
            </a:r>
            <a:r>
              <a:rPr lang="en-US" sz="1800">
                <a:latin typeface="Calibri" panose="020F0502020204030204" pitchFamily="34" charset="0"/>
                <a:cs typeface="Calibri" panose="020F0502020204030204" pitchFamily="34" charset="0"/>
              </a:rPr>
              <a:t>Annual Revenue($Millions)</a:t>
            </a:r>
          </a:p>
        </c:rich>
      </c:tx>
      <c:overlay val="0"/>
      <c:spPr>
        <a:noFill/>
        <a:ln>
          <a:noFill/>
        </a:ln>
        <a:effectLst/>
      </c:spPr>
      <c:txPr>
        <a:bodyPr rot="0" spcFirstLastPara="1" vertOverflow="ellipsis" vert="horz" wrap="square" anchor="ctr" anchorCtr="1"/>
        <a:lstStyle/>
        <a:p>
          <a:pPr>
            <a:defRPr sz="1800" b="1" i="0" u="none" strike="noStrike" kern="1200" cap="all" spc="100" normalizeH="0" baseline="0">
              <a:solidFill>
                <a:schemeClr val="lt1"/>
              </a:solidFill>
              <a:latin typeface="Calibri" panose="020F0502020204030204" pitchFamily="34" charset="0"/>
              <a:ea typeface="+mn-ea"/>
              <a:cs typeface="Calibri" panose="020F0502020204030204" pitchFamily="34" charset="0"/>
            </a:defRPr>
          </a:pPr>
          <a:endParaRPr lang="en-US"/>
        </a:p>
      </c:txPr>
    </c:title>
    <c:autoTitleDeleted val="0"/>
    <c:plotArea>
      <c:layout/>
      <c:barChart>
        <c:barDir val="col"/>
        <c:grouping val="clustered"/>
        <c:varyColors val="0"/>
        <c:ser>
          <c:idx val="0"/>
          <c:order val="0"/>
          <c:tx>
            <c:strRef>
              <c:f>Mastercard!$A$2</c:f>
              <c:strCache>
                <c:ptCount val="1"/>
                <c:pt idx="0">
                  <c:v>Annual Revenue</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Mastercard!$B$1:$Q$1</c:f>
              <c:numCache>
                <c:formatCode>General</c:formatCode>
                <c:ptCount val="16"/>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numCache>
            </c:numRef>
          </c:cat>
          <c:val>
            <c:numRef>
              <c:f>Mastercard!$B$2:$Q$2</c:f>
              <c:numCache>
                <c:formatCode>"$"#,##0_);[Red]\("$"#,##0\)</c:formatCode>
                <c:ptCount val="16"/>
                <c:pt idx="0">
                  <c:v>5099</c:v>
                </c:pt>
                <c:pt idx="1">
                  <c:v>5539</c:v>
                </c:pt>
                <c:pt idx="2">
                  <c:v>6714</c:v>
                </c:pt>
                <c:pt idx="3">
                  <c:v>7391</c:v>
                </c:pt>
                <c:pt idx="4">
                  <c:v>8312</c:v>
                </c:pt>
                <c:pt idx="5">
                  <c:v>9441</c:v>
                </c:pt>
                <c:pt idx="6">
                  <c:v>9667</c:v>
                </c:pt>
                <c:pt idx="7">
                  <c:v>10776</c:v>
                </c:pt>
                <c:pt idx="8">
                  <c:v>12497</c:v>
                </c:pt>
                <c:pt idx="9">
                  <c:v>14950</c:v>
                </c:pt>
                <c:pt idx="10">
                  <c:v>16883</c:v>
                </c:pt>
                <c:pt idx="11">
                  <c:v>15301</c:v>
                </c:pt>
                <c:pt idx="12">
                  <c:v>18884</c:v>
                </c:pt>
                <c:pt idx="13">
                  <c:v>22237</c:v>
                </c:pt>
                <c:pt idx="14">
                  <c:v>25098</c:v>
                </c:pt>
                <c:pt idx="15">
                  <c:v>28167</c:v>
                </c:pt>
              </c:numCache>
            </c:numRef>
          </c:val>
          <c:extLst>
            <c:ext xmlns:c16="http://schemas.microsoft.com/office/drawing/2014/chart" uri="{C3380CC4-5D6E-409C-BE32-E72D297353CC}">
              <c16:uniqueId val="{00000000-EDC5-AA4D-91BF-4AAF8528017B}"/>
            </c:ext>
          </c:extLst>
        </c:ser>
        <c:dLbls>
          <c:showLegendKey val="0"/>
          <c:showVal val="0"/>
          <c:showCatName val="0"/>
          <c:showSerName val="0"/>
          <c:showPercent val="0"/>
          <c:showBubbleSize val="0"/>
        </c:dLbls>
        <c:gapWidth val="269"/>
        <c:overlap val="-20"/>
        <c:axId val="126082256"/>
        <c:axId val="126083968"/>
      </c:barChart>
      <c:catAx>
        <c:axId val="126082256"/>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26083968"/>
        <c:crosses val="autoZero"/>
        <c:auto val="1"/>
        <c:lblAlgn val="ctr"/>
        <c:lblOffset val="100"/>
        <c:noMultiLvlLbl val="0"/>
      </c:catAx>
      <c:valAx>
        <c:axId val="126083968"/>
        <c:scaling>
          <c:orientation val="minMax"/>
        </c:scaling>
        <c:delete val="0"/>
        <c:axPos val="l"/>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26082256"/>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a:t>YOY revenue Growth Rate</a:t>
            </a:r>
          </a:p>
        </c:rich>
      </c:tx>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Mastercard!$A$3</c:f>
              <c:strCache>
                <c:ptCount val="1"/>
                <c:pt idx="0">
                  <c:v>YOY Growth </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Mastercard!$B$1:$Q$1</c:f>
              <c:numCache>
                <c:formatCode>General</c:formatCode>
                <c:ptCount val="16"/>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numCache>
            </c:numRef>
          </c:cat>
          <c:val>
            <c:numRef>
              <c:f>Mastercard!$B$3:$Q$3</c:f>
              <c:numCache>
                <c:formatCode>0.00%</c:formatCode>
                <c:ptCount val="16"/>
                <c:pt idx="1">
                  <c:v>8.6291429692096494E-2</c:v>
                </c:pt>
                <c:pt idx="2">
                  <c:v>0.21213215381837877</c:v>
                </c:pt>
                <c:pt idx="3">
                  <c:v>0.1008340780458743</c:v>
                </c:pt>
                <c:pt idx="4">
                  <c:v>0.12461101339466919</c:v>
                </c:pt>
                <c:pt idx="5">
                  <c:v>0.13582771896053897</c:v>
                </c:pt>
                <c:pt idx="6">
                  <c:v>2.3938142145959115E-2</c:v>
                </c:pt>
                <c:pt idx="7">
                  <c:v>0.1147201820626875</c:v>
                </c:pt>
                <c:pt idx="8">
                  <c:v>0.15970675575352636</c:v>
                </c:pt>
                <c:pt idx="9">
                  <c:v>0.19628710890613749</c:v>
                </c:pt>
                <c:pt idx="10">
                  <c:v>0.12929765886287625</c:v>
                </c:pt>
                <c:pt idx="11">
                  <c:v>-9.3703725641177515E-2</c:v>
                </c:pt>
                <c:pt idx="12">
                  <c:v>0.23416770145742108</c:v>
                </c:pt>
                <c:pt idx="13">
                  <c:v>0.17755772082185978</c:v>
                </c:pt>
                <c:pt idx="14">
                  <c:v>0.1286594414714215</c:v>
                </c:pt>
                <c:pt idx="15">
                  <c:v>0.12228065981353096</c:v>
                </c:pt>
              </c:numCache>
            </c:numRef>
          </c:val>
          <c:extLst>
            <c:ext xmlns:c16="http://schemas.microsoft.com/office/drawing/2014/chart" uri="{C3380CC4-5D6E-409C-BE32-E72D297353CC}">
              <c16:uniqueId val="{00000000-7BB1-254E-8AF9-42E1759F3B44}"/>
            </c:ext>
          </c:extLst>
        </c:ser>
        <c:dLbls>
          <c:showLegendKey val="0"/>
          <c:showVal val="0"/>
          <c:showCatName val="0"/>
          <c:showSerName val="0"/>
          <c:showPercent val="0"/>
          <c:showBubbleSize val="0"/>
        </c:dLbls>
        <c:gapWidth val="269"/>
        <c:overlap val="-20"/>
        <c:axId val="452511440"/>
        <c:axId val="452439888"/>
      </c:barChart>
      <c:catAx>
        <c:axId val="452511440"/>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452439888"/>
        <c:crosses val="autoZero"/>
        <c:auto val="1"/>
        <c:lblAlgn val="ctr"/>
        <c:lblOffset val="100"/>
        <c:noMultiLvlLbl val="0"/>
      </c:catAx>
      <c:valAx>
        <c:axId val="452439888"/>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452511440"/>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00" normalizeH="0" baseline="0">
                <a:solidFill>
                  <a:schemeClr val="lt1"/>
                </a:solidFill>
                <a:latin typeface="Calibri" panose="020F0502020204030204" pitchFamily="34" charset="0"/>
                <a:ea typeface="+mn-ea"/>
                <a:cs typeface="Calibri" panose="020F0502020204030204" pitchFamily="34" charset="0"/>
              </a:defRPr>
            </a:pPr>
            <a:r>
              <a:rPr lang="en-US" sz="1800">
                <a:latin typeface="Calibri" panose="020F0502020204030204" pitchFamily="34" charset="0"/>
                <a:cs typeface="Calibri" panose="020F0502020204030204" pitchFamily="34" charset="0"/>
              </a:rPr>
              <a:t>mastercard Annual net income($ millions)</a:t>
            </a:r>
          </a:p>
        </c:rich>
      </c:tx>
      <c:overlay val="0"/>
      <c:spPr>
        <a:noFill/>
        <a:ln>
          <a:noFill/>
        </a:ln>
        <a:effectLst/>
      </c:spPr>
      <c:txPr>
        <a:bodyPr rot="0" spcFirstLastPara="1" vertOverflow="ellipsis" vert="horz" wrap="square" anchor="ctr" anchorCtr="1"/>
        <a:lstStyle/>
        <a:p>
          <a:pPr>
            <a:defRPr sz="1800" b="1" i="0" u="none" strike="noStrike" kern="1200" cap="all" spc="100" normalizeH="0" baseline="0">
              <a:solidFill>
                <a:schemeClr val="lt1"/>
              </a:solidFill>
              <a:latin typeface="Calibri" panose="020F0502020204030204" pitchFamily="34" charset="0"/>
              <a:ea typeface="+mn-ea"/>
              <a:cs typeface="Calibri" panose="020F0502020204030204" pitchFamily="34" charset="0"/>
            </a:defRPr>
          </a:pPr>
          <a:endParaRPr lang="en-US"/>
        </a:p>
      </c:txPr>
    </c:title>
    <c:autoTitleDeleted val="0"/>
    <c:plotArea>
      <c:layout/>
      <c:barChart>
        <c:barDir val="col"/>
        <c:grouping val="clustered"/>
        <c:varyColors val="0"/>
        <c:ser>
          <c:idx val="0"/>
          <c:order val="0"/>
          <c:tx>
            <c:strRef>
              <c:f>Sheet2!$A$2</c:f>
              <c:strCache>
                <c:ptCount val="1"/>
                <c:pt idx="0">
                  <c:v>Annual net income</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Sheet2!$B$1:$Q$1</c:f>
              <c:numCache>
                <c:formatCode>General</c:formatCode>
                <c:ptCount val="16"/>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numCache>
            </c:numRef>
          </c:cat>
          <c:val>
            <c:numRef>
              <c:f>Sheet2!$B$2:$Q$2</c:f>
              <c:numCache>
                <c:formatCode>"$"#,##0_);[Red]\("$"#,##0\)</c:formatCode>
                <c:ptCount val="16"/>
                <c:pt idx="0">
                  <c:v>1463</c:v>
                </c:pt>
                <c:pt idx="1">
                  <c:v>1843</c:v>
                </c:pt>
                <c:pt idx="2">
                  <c:v>1906</c:v>
                </c:pt>
                <c:pt idx="3">
                  <c:v>2759</c:v>
                </c:pt>
                <c:pt idx="4">
                  <c:v>3116</c:v>
                </c:pt>
                <c:pt idx="5">
                  <c:v>3617</c:v>
                </c:pt>
                <c:pt idx="6">
                  <c:v>3808</c:v>
                </c:pt>
                <c:pt idx="7">
                  <c:v>4059</c:v>
                </c:pt>
                <c:pt idx="8">
                  <c:v>3915</c:v>
                </c:pt>
                <c:pt idx="9">
                  <c:v>5859</c:v>
                </c:pt>
                <c:pt idx="10">
                  <c:v>8118</c:v>
                </c:pt>
                <c:pt idx="11">
                  <c:v>6411</c:v>
                </c:pt>
                <c:pt idx="12">
                  <c:v>8687</c:v>
                </c:pt>
                <c:pt idx="13">
                  <c:v>9930</c:v>
                </c:pt>
                <c:pt idx="14">
                  <c:v>11195</c:v>
                </c:pt>
                <c:pt idx="15">
                  <c:v>12874</c:v>
                </c:pt>
              </c:numCache>
            </c:numRef>
          </c:val>
          <c:extLst>
            <c:ext xmlns:c16="http://schemas.microsoft.com/office/drawing/2014/chart" uri="{C3380CC4-5D6E-409C-BE32-E72D297353CC}">
              <c16:uniqueId val="{00000000-EA8C-F949-BFA7-D0A0788DF002}"/>
            </c:ext>
          </c:extLst>
        </c:ser>
        <c:dLbls>
          <c:showLegendKey val="0"/>
          <c:showVal val="0"/>
          <c:showCatName val="0"/>
          <c:showSerName val="0"/>
          <c:showPercent val="0"/>
          <c:showBubbleSize val="0"/>
        </c:dLbls>
        <c:gapWidth val="269"/>
        <c:overlap val="-20"/>
        <c:axId val="100291504"/>
        <c:axId val="993542720"/>
      </c:barChart>
      <c:catAx>
        <c:axId val="100291504"/>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993542720"/>
        <c:crosses val="autoZero"/>
        <c:auto val="1"/>
        <c:lblAlgn val="ctr"/>
        <c:lblOffset val="100"/>
        <c:noMultiLvlLbl val="0"/>
      </c:catAx>
      <c:valAx>
        <c:axId val="993542720"/>
        <c:scaling>
          <c:orientation val="minMax"/>
        </c:scaling>
        <c:delete val="0"/>
        <c:axPos val="l"/>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00291504"/>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00" normalizeH="0" baseline="0">
                <a:solidFill>
                  <a:schemeClr val="lt1"/>
                </a:solidFill>
                <a:latin typeface="Calibri" panose="020F0502020204030204" pitchFamily="34" charset="0"/>
                <a:ea typeface="+mn-ea"/>
                <a:cs typeface="Calibri" panose="020F0502020204030204" pitchFamily="34" charset="0"/>
              </a:defRPr>
            </a:pPr>
            <a:r>
              <a:rPr lang="en-US" sz="1800">
                <a:latin typeface="Calibri" panose="020F0502020204030204" pitchFamily="34" charset="0"/>
                <a:cs typeface="Calibri" panose="020F0502020204030204" pitchFamily="34" charset="0"/>
              </a:rPr>
              <a:t>YOY net income growth</a:t>
            </a:r>
          </a:p>
        </c:rich>
      </c:tx>
      <c:overlay val="0"/>
      <c:spPr>
        <a:noFill/>
        <a:ln>
          <a:noFill/>
        </a:ln>
        <a:effectLst/>
      </c:spPr>
      <c:txPr>
        <a:bodyPr rot="0" spcFirstLastPara="1" vertOverflow="ellipsis" vert="horz" wrap="square" anchor="ctr" anchorCtr="1"/>
        <a:lstStyle/>
        <a:p>
          <a:pPr>
            <a:defRPr sz="1800" b="1" i="0" u="none" strike="noStrike" kern="1200" cap="all" spc="100" normalizeH="0" baseline="0">
              <a:solidFill>
                <a:schemeClr val="lt1"/>
              </a:solidFill>
              <a:latin typeface="Calibri" panose="020F0502020204030204" pitchFamily="34" charset="0"/>
              <a:ea typeface="+mn-ea"/>
              <a:cs typeface="Calibri" panose="020F0502020204030204" pitchFamily="34" charset="0"/>
            </a:defRPr>
          </a:pPr>
          <a:endParaRPr lang="en-US"/>
        </a:p>
      </c:txPr>
    </c:title>
    <c:autoTitleDeleted val="0"/>
    <c:plotArea>
      <c:layout/>
      <c:barChart>
        <c:barDir val="col"/>
        <c:grouping val="clustered"/>
        <c:varyColors val="0"/>
        <c:ser>
          <c:idx val="0"/>
          <c:order val="0"/>
          <c:tx>
            <c:strRef>
              <c:f>Sheet2!$A$3</c:f>
              <c:strCache>
                <c:ptCount val="1"/>
                <c:pt idx="0">
                  <c:v>YOY Growth</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Sheet2!$B$1:$Q$1</c:f>
              <c:numCache>
                <c:formatCode>General</c:formatCode>
                <c:ptCount val="16"/>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numCache>
            </c:numRef>
          </c:cat>
          <c:val>
            <c:numRef>
              <c:f>Sheet2!$B$3:$Q$3</c:f>
              <c:numCache>
                <c:formatCode>0%</c:formatCode>
                <c:ptCount val="16"/>
                <c:pt idx="1">
                  <c:v>0.25974025974025972</c:v>
                </c:pt>
                <c:pt idx="2">
                  <c:v>3.4183396635919697E-2</c:v>
                </c:pt>
                <c:pt idx="3">
                  <c:v>0.44753410283315842</c:v>
                </c:pt>
                <c:pt idx="4">
                  <c:v>0.1293947082276187</c:v>
                </c:pt>
                <c:pt idx="5">
                  <c:v>0.16078305519897304</c:v>
                </c:pt>
                <c:pt idx="6">
                  <c:v>5.2806192977605748E-2</c:v>
                </c:pt>
                <c:pt idx="7">
                  <c:v>6.5913865546218489E-2</c:v>
                </c:pt>
                <c:pt idx="8">
                  <c:v>-3.5476718403547672E-2</c:v>
                </c:pt>
                <c:pt idx="9">
                  <c:v>0.49655172413793103</c:v>
                </c:pt>
                <c:pt idx="10">
                  <c:v>0.38556067588325654</c:v>
                </c:pt>
                <c:pt idx="11">
                  <c:v>-0.21027346637102734</c:v>
                </c:pt>
                <c:pt idx="12">
                  <c:v>0.35501481828107939</c:v>
                </c:pt>
                <c:pt idx="13">
                  <c:v>0.1430873719350754</c:v>
                </c:pt>
                <c:pt idx="14">
                  <c:v>0.12739174219536759</c:v>
                </c:pt>
                <c:pt idx="15">
                  <c:v>0.1499776686020545</c:v>
                </c:pt>
              </c:numCache>
            </c:numRef>
          </c:val>
          <c:extLst>
            <c:ext xmlns:c16="http://schemas.microsoft.com/office/drawing/2014/chart" uri="{C3380CC4-5D6E-409C-BE32-E72D297353CC}">
              <c16:uniqueId val="{00000000-C6E3-8741-AD9A-E6FFDBC78C04}"/>
            </c:ext>
          </c:extLst>
        </c:ser>
        <c:dLbls>
          <c:showLegendKey val="0"/>
          <c:showVal val="0"/>
          <c:showCatName val="0"/>
          <c:showSerName val="0"/>
          <c:showPercent val="0"/>
          <c:showBubbleSize val="0"/>
        </c:dLbls>
        <c:gapWidth val="269"/>
        <c:overlap val="-20"/>
        <c:axId val="1002482864"/>
        <c:axId val="1002484592"/>
      </c:barChart>
      <c:catAx>
        <c:axId val="1002482864"/>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002484592"/>
        <c:crosses val="autoZero"/>
        <c:auto val="1"/>
        <c:lblAlgn val="ctr"/>
        <c:lblOffset val="100"/>
        <c:noMultiLvlLbl val="0"/>
      </c:catAx>
      <c:valAx>
        <c:axId val="100248459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002482864"/>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r>
              <a:rPr lang="en-US"/>
              <a:t>mastercard Annual FCF($ millions)</a:t>
            </a:r>
          </a:p>
        </c:rich>
      </c:tx>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lotArea>
      <c:layout/>
      <c:barChart>
        <c:barDir val="col"/>
        <c:grouping val="clustered"/>
        <c:varyColors val="0"/>
        <c:ser>
          <c:idx val="0"/>
          <c:order val="0"/>
          <c:tx>
            <c:strRef>
              <c:f>Sheet3!$A$2</c:f>
              <c:strCache>
                <c:ptCount val="1"/>
                <c:pt idx="0">
                  <c:v>Annual FCF</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Sheet3!$B$1:$Q$1</c:f>
              <c:numCache>
                <c:formatCode>General</c:formatCode>
                <c:ptCount val="16"/>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numCache>
            </c:numRef>
          </c:cat>
          <c:val>
            <c:numRef>
              <c:f>Sheet3!$B$2:$Q$2</c:f>
              <c:numCache>
                <c:formatCode>"$"#,##0</c:formatCode>
                <c:ptCount val="16"/>
                <c:pt idx="0">
                  <c:v>1238</c:v>
                </c:pt>
                <c:pt idx="1">
                  <c:v>1546</c:v>
                </c:pt>
                <c:pt idx="2">
                  <c:v>2507</c:v>
                </c:pt>
                <c:pt idx="3">
                  <c:v>2730</c:v>
                </c:pt>
                <c:pt idx="4" formatCode="_(&quot;$&quot;* #,##0_);_(&quot;$&quot;* \(#,##0\);_(&quot;$&quot;* &quot;-&quot;??_);_(@_)">
                  <c:v>3836</c:v>
                </c:pt>
                <c:pt idx="5" formatCode="_(&quot;$&quot;* #,##0_);_(&quot;$&quot;* \(#,##0\);_(&quot;$&quot;* &quot;-&quot;??_);_(@_)">
                  <c:v>3073</c:v>
                </c:pt>
                <c:pt idx="6" formatCode="_(&quot;$&quot;* #,##0_);_(&quot;$&quot;* \(#,##0\);_(&quot;$&quot;* &quot;-&quot;??_);_(@_)">
                  <c:v>3759</c:v>
                </c:pt>
                <c:pt idx="7" formatCode="_(&quot;$&quot;* #,##0_);_(&quot;$&quot;* \(#,##0\);_(&quot;$&quot;* &quot;-&quot;??_);_(@_)">
                  <c:v>4255</c:v>
                </c:pt>
                <c:pt idx="8" formatCode="_(&quot;$&quot;* #,##0_);_(&quot;$&quot;* \(#,##0\);_(&quot;$&quot;* &quot;-&quot;??_);_(@_)">
                  <c:v>5241</c:v>
                </c:pt>
                <c:pt idx="9" formatCode="_(&quot;$&quot;* #,##0_);_(&quot;$&quot;* \(#,##0\);_(&quot;$&quot;* &quot;-&quot;??_);_(@_)">
                  <c:v>5719</c:v>
                </c:pt>
                <c:pt idx="10" formatCode="_(&quot;$&quot;* #,##0_);_(&quot;$&quot;* \(#,##0\);_(&quot;$&quot;* &quot;-&quot;??_);_(@_)">
                  <c:v>7455</c:v>
                </c:pt>
                <c:pt idx="11" formatCode="_(&quot;$&quot;* #,##0_);_(&quot;$&quot;* \(#,##0\);_(&quot;$&quot;* &quot;-&quot;??_);_(@_)">
                  <c:v>6516</c:v>
                </c:pt>
                <c:pt idx="12" formatCode="_(&quot;$&quot;* #,##0_);_(&quot;$&quot;* \(#,##0\);_(&quot;$&quot;* &quot;-&quot;??_);_(@_)">
                  <c:v>8649</c:v>
                </c:pt>
                <c:pt idx="13" formatCode="_(&quot;$&quot;* #,##0_);_(&quot;$&quot;* \(#,##0\);_(&quot;$&quot;* &quot;-&quot;??_);_(@_)">
                  <c:v>10098</c:v>
                </c:pt>
                <c:pt idx="14" formatCode="_(&quot;$&quot;* #,##0_);_(&quot;$&quot;* \(#,##0\);_(&quot;$&quot;* &quot;-&quot;??_);_(@_)">
                  <c:v>10892</c:v>
                </c:pt>
                <c:pt idx="15" formatCode="_(&quot;$&quot;* #,##0_);_(&quot;$&quot;* \(#,##0\);_(&quot;$&quot;* &quot;-&quot;??_);_(@_)">
                  <c:v>13586</c:v>
                </c:pt>
              </c:numCache>
            </c:numRef>
          </c:val>
          <c:extLst>
            <c:ext xmlns:c16="http://schemas.microsoft.com/office/drawing/2014/chart" uri="{C3380CC4-5D6E-409C-BE32-E72D297353CC}">
              <c16:uniqueId val="{00000000-4330-7F4E-8FF1-CE392FDC04EB}"/>
            </c:ext>
          </c:extLst>
        </c:ser>
        <c:dLbls>
          <c:showLegendKey val="0"/>
          <c:showVal val="0"/>
          <c:showCatName val="0"/>
          <c:showSerName val="0"/>
          <c:showPercent val="0"/>
          <c:showBubbleSize val="0"/>
        </c:dLbls>
        <c:gapWidth val="269"/>
        <c:overlap val="-20"/>
        <c:axId val="993066592"/>
        <c:axId val="100568576"/>
      </c:barChart>
      <c:catAx>
        <c:axId val="993066592"/>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00568576"/>
        <c:crosses val="autoZero"/>
        <c:auto val="1"/>
        <c:lblAlgn val="ctr"/>
        <c:lblOffset val="100"/>
        <c:noMultiLvlLbl val="0"/>
      </c:catAx>
      <c:valAx>
        <c:axId val="100568576"/>
        <c:scaling>
          <c:orientation val="minMax"/>
        </c:scaling>
        <c:delete val="0"/>
        <c:axPos val="l"/>
        <c:numFmt formatCode="&quot;$&quot;#,##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993066592"/>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all" spc="100" normalizeH="0" baseline="0">
                <a:solidFill>
                  <a:schemeClr val="lt1"/>
                </a:solidFill>
                <a:latin typeface="Calibri" panose="020F0502020204030204" pitchFamily="34" charset="0"/>
                <a:ea typeface="+mn-ea"/>
                <a:cs typeface="Calibri" panose="020F0502020204030204" pitchFamily="34" charset="0"/>
              </a:defRPr>
            </a:pPr>
            <a:r>
              <a:rPr lang="en-US" sz="1800">
                <a:latin typeface="Calibri" panose="020F0502020204030204" pitchFamily="34" charset="0"/>
                <a:cs typeface="Calibri" panose="020F0502020204030204" pitchFamily="34" charset="0"/>
              </a:rPr>
              <a:t>mastercard YOY FCF Growth rate </a:t>
            </a:r>
          </a:p>
        </c:rich>
      </c:tx>
      <c:overlay val="0"/>
      <c:spPr>
        <a:noFill/>
        <a:ln>
          <a:noFill/>
        </a:ln>
        <a:effectLst/>
      </c:spPr>
      <c:txPr>
        <a:bodyPr rot="0" spcFirstLastPara="1" vertOverflow="ellipsis" vert="horz" wrap="square" anchor="ctr" anchorCtr="1"/>
        <a:lstStyle/>
        <a:p>
          <a:pPr>
            <a:defRPr sz="1800" b="1" i="0" u="none" strike="noStrike" kern="1200" cap="all" spc="100" normalizeH="0" baseline="0">
              <a:solidFill>
                <a:schemeClr val="lt1"/>
              </a:solidFill>
              <a:latin typeface="Calibri" panose="020F0502020204030204" pitchFamily="34" charset="0"/>
              <a:ea typeface="+mn-ea"/>
              <a:cs typeface="Calibri" panose="020F0502020204030204" pitchFamily="34" charset="0"/>
            </a:defRPr>
          </a:pPr>
          <a:endParaRPr lang="en-US"/>
        </a:p>
      </c:txPr>
    </c:title>
    <c:autoTitleDeleted val="0"/>
    <c:plotArea>
      <c:layout/>
      <c:barChart>
        <c:barDir val="col"/>
        <c:grouping val="clustered"/>
        <c:varyColors val="0"/>
        <c:ser>
          <c:idx val="0"/>
          <c:order val="0"/>
          <c:tx>
            <c:strRef>
              <c:f>Sheet3!$A$3</c:f>
              <c:strCache>
                <c:ptCount val="1"/>
                <c:pt idx="0">
                  <c:v>YOY Growth</c:v>
                </c:pt>
              </c:strCache>
            </c:strRef>
          </c:tx>
          <c:spPr>
            <a:pattFill prst="ltUpDiag">
              <a:fgClr>
                <a:schemeClr val="accent1"/>
              </a:fgClr>
              <a:bgClr>
                <a:schemeClr val="lt1"/>
              </a:bgClr>
            </a:pattFill>
            <a:ln>
              <a:noFill/>
            </a:ln>
            <a:effectLst/>
          </c:spPr>
          <c:invertIfNegative val="0"/>
          <c:dLbls>
            <c:spPr>
              <a:solidFill>
                <a:srgbClr val="156082">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numRef>
              <c:f>Sheet3!$B$1:$Q$1</c:f>
              <c:numCache>
                <c:formatCode>General</c:formatCode>
                <c:ptCount val="16"/>
                <c:pt idx="0">
                  <c:v>2009</c:v>
                </c:pt>
                <c:pt idx="1">
                  <c:v>2010</c:v>
                </c:pt>
                <c:pt idx="2">
                  <c:v>2011</c:v>
                </c:pt>
                <c:pt idx="3">
                  <c:v>2012</c:v>
                </c:pt>
                <c:pt idx="4">
                  <c:v>2013</c:v>
                </c:pt>
                <c:pt idx="5">
                  <c:v>2014</c:v>
                </c:pt>
                <c:pt idx="6">
                  <c:v>2015</c:v>
                </c:pt>
                <c:pt idx="7">
                  <c:v>2016</c:v>
                </c:pt>
                <c:pt idx="8">
                  <c:v>2017</c:v>
                </c:pt>
                <c:pt idx="9">
                  <c:v>2018</c:v>
                </c:pt>
                <c:pt idx="10">
                  <c:v>2019</c:v>
                </c:pt>
                <c:pt idx="11">
                  <c:v>2020</c:v>
                </c:pt>
                <c:pt idx="12">
                  <c:v>2021</c:v>
                </c:pt>
                <c:pt idx="13">
                  <c:v>2022</c:v>
                </c:pt>
                <c:pt idx="14">
                  <c:v>2023</c:v>
                </c:pt>
                <c:pt idx="15">
                  <c:v>2024</c:v>
                </c:pt>
              </c:numCache>
            </c:numRef>
          </c:cat>
          <c:val>
            <c:numRef>
              <c:f>Sheet3!$B$3:$Q$3</c:f>
              <c:numCache>
                <c:formatCode>0%</c:formatCode>
                <c:ptCount val="16"/>
                <c:pt idx="1">
                  <c:v>0.24878836833602586</c:v>
                </c:pt>
                <c:pt idx="2">
                  <c:v>0.62160413971539452</c:v>
                </c:pt>
                <c:pt idx="3">
                  <c:v>8.8950937375349023E-2</c:v>
                </c:pt>
                <c:pt idx="4">
                  <c:v>0.40512820512820513</c:v>
                </c:pt>
                <c:pt idx="5">
                  <c:v>-0.1989051094890511</c:v>
                </c:pt>
                <c:pt idx="6">
                  <c:v>0.22323462414578588</c:v>
                </c:pt>
                <c:pt idx="7">
                  <c:v>0.13194998669859004</c:v>
                </c:pt>
                <c:pt idx="8">
                  <c:v>0.23172737955346651</c:v>
                </c:pt>
                <c:pt idx="9">
                  <c:v>9.1203968708261779E-2</c:v>
                </c:pt>
                <c:pt idx="10">
                  <c:v>0.30354957160342716</c:v>
                </c:pt>
                <c:pt idx="11">
                  <c:v>-0.12595573440643862</c:v>
                </c:pt>
                <c:pt idx="12">
                  <c:v>0.32734806629834257</c:v>
                </c:pt>
                <c:pt idx="13">
                  <c:v>0.16753381893860561</c:v>
                </c:pt>
                <c:pt idx="14">
                  <c:v>7.8629431570608047E-2</c:v>
                </c:pt>
                <c:pt idx="15">
                  <c:v>0.24733749540947483</c:v>
                </c:pt>
              </c:numCache>
            </c:numRef>
          </c:val>
          <c:extLst>
            <c:ext xmlns:c16="http://schemas.microsoft.com/office/drawing/2014/chart" uri="{C3380CC4-5D6E-409C-BE32-E72D297353CC}">
              <c16:uniqueId val="{00000000-6845-CE43-A9E9-5806039C8297}"/>
            </c:ext>
          </c:extLst>
        </c:ser>
        <c:dLbls>
          <c:showLegendKey val="0"/>
          <c:showVal val="0"/>
          <c:showCatName val="0"/>
          <c:showSerName val="0"/>
          <c:showPercent val="0"/>
          <c:showBubbleSize val="0"/>
        </c:dLbls>
        <c:gapWidth val="269"/>
        <c:overlap val="-20"/>
        <c:axId val="1386304607"/>
        <c:axId val="1386306319"/>
      </c:barChart>
      <c:catAx>
        <c:axId val="1386304607"/>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386306319"/>
        <c:crosses val="autoZero"/>
        <c:auto val="1"/>
        <c:lblAlgn val="ctr"/>
        <c:lblOffset val="100"/>
        <c:noMultiLvlLbl val="0"/>
      </c:catAx>
      <c:valAx>
        <c:axId val="1386306319"/>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386304607"/>
        <c:crosses val="autoZero"/>
        <c:crossBetween val="between"/>
      </c:valAx>
      <c:spPr>
        <a:noFill/>
        <a:ln>
          <a:noFill/>
        </a:ln>
        <a:effectLst/>
      </c:spPr>
    </c:plotArea>
    <c:plotVisOnly val="1"/>
    <c:dispBlanksAs val="gap"/>
    <c:showDLblsOverMax val="0"/>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65F35-D78C-84BF-E5A6-B6ACC2701E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51F469-6DD9-B876-5E26-02C07AF20C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7B380F-BBC4-77CA-0C18-3406C006845E}"/>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5" name="Footer Placeholder 4">
            <a:extLst>
              <a:ext uri="{FF2B5EF4-FFF2-40B4-BE49-F238E27FC236}">
                <a16:creationId xmlns:a16="http://schemas.microsoft.com/office/drawing/2014/main" id="{7B69D0E7-5916-8030-A4B8-F77EC6608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1CCB7-C5CF-3FB1-8DF7-ED32F6C6A5CE}"/>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1139368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27FBC-C04A-7C25-E4FA-B422CFDA1F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CF0B49-D49F-31BE-7C99-65EDE9CAB8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854AE-3AFE-7FAD-1CF8-3180B901D47F}"/>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5" name="Footer Placeholder 4">
            <a:extLst>
              <a:ext uri="{FF2B5EF4-FFF2-40B4-BE49-F238E27FC236}">
                <a16:creationId xmlns:a16="http://schemas.microsoft.com/office/drawing/2014/main" id="{932203BB-3E33-5A96-C49F-8B43DB44A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0591D5-1FF3-A579-71D4-626F1A1257A1}"/>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111820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E126-A7EC-DA30-D114-7FCE96E221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8B82E7-9282-88CE-6F3C-7CB35D5453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2C3F4-161F-3E50-04E9-E889DAC124C7}"/>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5" name="Footer Placeholder 4">
            <a:extLst>
              <a:ext uri="{FF2B5EF4-FFF2-40B4-BE49-F238E27FC236}">
                <a16:creationId xmlns:a16="http://schemas.microsoft.com/office/drawing/2014/main" id="{48F3C5AA-F064-71B1-E301-315F4B97AE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9FC95-2050-4BA4-E7F1-47238BC1BC68}"/>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774719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76BDE-5CE3-E6D2-DF59-86AB2D72AD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CC747C-BCB2-D13A-3514-86BB8EF233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015D82-08F2-72D9-3D39-9590F26163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DF8C2B-25F4-BF93-351F-EB4FD881845C}"/>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6" name="Footer Placeholder 5">
            <a:extLst>
              <a:ext uri="{FF2B5EF4-FFF2-40B4-BE49-F238E27FC236}">
                <a16:creationId xmlns:a16="http://schemas.microsoft.com/office/drawing/2014/main" id="{DE5F05A4-602B-E13F-A302-43D5DBA05C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09497F-6ADC-4A1C-3590-95BC5FB39E81}"/>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1409036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5EAFF-AE3A-128B-9304-8F2514F376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D23F8C-6ECB-9A76-5CB1-C1A91A2907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5DC3E-0266-B7CC-7181-9BAAEA77F7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BC4B7E-DB3C-9A74-E5A8-79219CF411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DE0D61-DD79-0BDF-38BD-CEB86A71C4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98B6B3-066E-6E9E-422B-88CC73E39878}"/>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8" name="Footer Placeholder 7">
            <a:extLst>
              <a:ext uri="{FF2B5EF4-FFF2-40B4-BE49-F238E27FC236}">
                <a16:creationId xmlns:a16="http://schemas.microsoft.com/office/drawing/2014/main" id="{455B7E26-E382-D462-C071-3B5ACB120D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9D2EBF-1C41-29A6-7DA0-01D92C588852}"/>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4007178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78933-8C12-7455-4CC6-AFAD876FF1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B658E8-F1B7-1499-F69E-6B274DE0FC01}"/>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4" name="Footer Placeholder 3">
            <a:extLst>
              <a:ext uri="{FF2B5EF4-FFF2-40B4-BE49-F238E27FC236}">
                <a16:creationId xmlns:a16="http://schemas.microsoft.com/office/drawing/2014/main" id="{E2FDD2B8-8D35-EAA5-012A-C0FC094084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C7FF76-CA7C-43B0-212B-55D2843A664B}"/>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1048396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AF7A06-1AA9-9693-9118-5F69923E32C3}"/>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3" name="Footer Placeholder 2">
            <a:extLst>
              <a:ext uri="{FF2B5EF4-FFF2-40B4-BE49-F238E27FC236}">
                <a16:creationId xmlns:a16="http://schemas.microsoft.com/office/drawing/2014/main" id="{675BD2AE-8104-A3B8-B08A-5DEEEFC177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D99E71-41B0-349D-842E-7D1DB93EFDCB}"/>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1562871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EB77D-8868-888D-8B8A-977227D23F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9D1076-5506-C07F-7A74-9D8860982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BBD54D-27C9-8C6D-CEF4-725FBC5A7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56E5BC-233D-29AB-83FF-E6C8B118F5B9}"/>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6" name="Footer Placeholder 5">
            <a:extLst>
              <a:ext uri="{FF2B5EF4-FFF2-40B4-BE49-F238E27FC236}">
                <a16:creationId xmlns:a16="http://schemas.microsoft.com/office/drawing/2014/main" id="{90F14242-6C47-C8EC-E9F3-40B00DC490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EE9CAC-0EC8-5B22-A4CB-00EB74F5097A}"/>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1675269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4B5D-D289-4C9C-5563-25386880F3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E938E0-92EA-1B20-4161-CC8A931F5B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DC6917-CD1B-E415-A164-BA058D08E8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583831-BF13-7866-2BB9-99AA91B3E31F}"/>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6" name="Footer Placeholder 5">
            <a:extLst>
              <a:ext uri="{FF2B5EF4-FFF2-40B4-BE49-F238E27FC236}">
                <a16:creationId xmlns:a16="http://schemas.microsoft.com/office/drawing/2014/main" id="{1AD511B2-50CE-680E-1C55-CF02556080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6DEDB5-7A44-D119-3949-C3C35CD67C5A}"/>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579154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8D5D8-1B9B-2366-26B3-3B2B9EED00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201876-17EC-AACE-7B6F-9FF30F226D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438C92-D361-CDA4-D009-41A58B1B572C}"/>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5" name="Footer Placeholder 4">
            <a:extLst>
              <a:ext uri="{FF2B5EF4-FFF2-40B4-BE49-F238E27FC236}">
                <a16:creationId xmlns:a16="http://schemas.microsoft.com/office/drawing/2014/main" id="{44953BEA-AF9A-235F-20AA-6D05A5079F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F7DBE9-1B18-DF9C-55A0-00A6882BDB56}"/>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2241309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3482F6-24A8-06F8-3DD6-34396AB632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B469FA-425D-1264-BE54-65C9CB0F4C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DE57C1-78BA-8B49-7D6B-F6B1CBD8DA70}"/>
              </a:ext>
            </a:extLst>
          </p:cNvPr>
          <p:cNvSpPr>
            <a:spLocks noGrp="1"/>
          </p:cNvSpPr>
          <p:nvPr>
            <p:ph type="dt" sz="half" idx="10"/>
          </p:nvPr>
        </p:nvSpPr>
        <p:spPr/>
        <p:txBody>
          <a:bodyPr/>
          <a:lstStyle/>
          <a:p>
            <a:fld id="{3173ED1D-887E-0045-8F8E-816099DB69A9}" type="datetimeFigureOut">
              <a:rPr lang="en-US" smtClean="0"/>
              <a:t>5/8/25</a:t>
            </a:fld>
            <a:endParaRPr lang="en-US"/>
          </a:p>
        </p:txBody>
      </p:sp>
      <p:sp>
        <p:nvSpPr>
          <p:cNvPr id="5" name="Footer Placeholder 4">
            <a:extLst>
              <a:ext uri="{FF2B5EF4-FFF2-40B4-BE49-F238E27FC236}">
                <a16:creationId xmlns:a16="http://schemas.microsoft.com/office/drawing/2014/main" id="{A1B2D572-62B7-BB75-57B7-E83997E48E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3E112-3A10-F868-040A-7C2E9580902E}"/>
              </a:ext>
            </a:extLst>
          </p:cNvPr>
          <p:cNvSpPr>
            <a:spLocks noGrp="1"/>
          </p:cNvSpPr>
          <p:nvPr>
            <p:ph type="sldNum" sz="quarter" idx="12"/>
          </p:nvPr>
        </p:nvSpPr>
        <p:spPr/>
        <p:txBody>
          <a:bodyPr/>
          <a:lstStyle/>
          <a:p>
            <a:fld id="{D2CD1E3D-844B-A34A-A409-71B94E2D59E7}" type="slidenum">
              <a:rPr lang="en-US" smtClean="0"/>
              <a:t>‹#›</a:t>
            </a:fld>
            <a:endParaRPr lang="en-US"/>
          </a:p>
        </p:txBody>
      </p:sp>
    </p:spTree>
    <p:extLst>
      <p:ext uri="{BB962C8B-B14F-4D97-AF65-F5344CB8AC3E}">
        <p14:creationId xmlns:p14="http://schemas.microsoft.com/office/powerpoint/2010/main" val="3116734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411633-B49A-ADED-9C90-CE63B0E07C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66F279-6A47-6EC0-3A61-B9CDD3A1B8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CACF6B-F681-42CE-BC6F-AADDC212C5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73ED1D-887E-0045-8F8E-816099DB69A9}" type="datetimeFigureOut">
              <a:rPr lang="en-US" smtClean="0"/>
              <a:t>5/8/25</a:t>
            </a:fld>
            <a:endParaRPr lang="en-US"/>
          </a:p>
        </p:txBody>
      </p:sp>
      <p:sp>
        <p:nvSpPr>
          <p:cNvPr id="5" name="Footer Placeholder 4">
            <a:extLst>
              <a:ext uri="{FF2B5EF4-FFF2-40B4-BE49-F238E27FC236}">
                <a16:creationId xmlns:a16="http://schemas.microsoft.com/office/drawing/2014/main" id="{6137B0FD-446E-2077-96BE-60F4F159AC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4E3848-5515-DD67-17AB-0CB5B2E18B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CD1E3D-844B-A34A-A409-71B94E2D59E7}" type="slidenum">
              <a:rPr lang="en-US" smtClean="0"/>
              <a:t>‹#›</a:t>
            </a:fld>
            <a:endParaRPr lang="en-US"/>
          </a:p>
        </p:txBody>
      </p:sp>
    </p:spTree>
    <p:extLst>
      <p:ext uri="{BB962C8B-B14F-4D97-AF65-F5344CB8AC3E}">
        <p14:creationId xmlns:p14="http://schemas.microsoft.com/office/powerpoint/2010/main" val="2488530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E6FED0-64BC-C96F-0B12-13E34B30BC3E}"/>
              </a:ext>
            </a:extLst>
          </p:cNvPr>
          <p:cNvSpPr>
            <a:spLocks noGrp="1"/>
          </p:cNvSpPr>
          <p:nvPr>
            <p:ph type="ctrTitle"/>
          </p:nvPr>
        </p:nvSpPr>
        <p:spPr>
          <a:xfrm>
            <a:off x="1875869" y="2124254"/>
            <a:ext cx="4274289" cy="1516695"/>
          </a:xfrm>
        </p:spPr>
        <p:txBody>
          <a:bodyPr anchor="b">
            <a:normAutofit/>
          </a:bodyPr>
          <a:lstStyle/>
          <a:p>
            <a:pPr algn="l"/>
            <a:r>
              <a:rPr lang="en-US" sz="4400" i="1" dirty="0">
                <a:solidFill>
                  <a:srgbClr val="FFFFFF"/>
                </a:solidFill>
                <a:latin typeface="Calibri" panose="020F0502020204030204" pitchFamily="34" charset="0"/>
                <a:cs typeface="Calibri" panose="020F0502020204030204" pitchFamily="34" charset="0"/>
              </a:rPr>
              <a:t>A Bullish Case for </a:t>
            </a:r>
          </a:p>
        </p:txBody>
      </p:sp>
      <p:sp>
        <p:nvSpPr>
          <p:cNvPr id="18" name="Rectangle 17">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F18F8251-A648-665E-C47A-D182756A0DEC}"/>
              </a:ext>
            </a:extLst>
          </p:cNvPr>
          <p:cNvSpPr>
            <a:spLocks noGrp="1"/>
          </p:cNvSpPr>
          <p:nvPr>
            <p:ph type="subTitle" idx="1"/>
          </p:nvPr>
        </p:nvSpPr>
        <p:spPr>
          <a:xfrm>
            <a:off x="1619825" y="4612725"/>
            <a:ext cx="4422987" cy="825828"/>
          </a:xfrm>
        </p:spPr>
        <p:txBody>
          <a:bodyPr anchor="t">
            <a:normAutofit/>
          </a:bodyPr>
          <a:lstStyle/>
          <a:p>
            <a:pPr algn="l"/>
            <a:r>
              <a:rPr lang="en-US" sz="2800" i="1" dirty="0">
                <a:solidFill>
                  <a:srgbClr val="FFFFFF"/>
                </a:solidFill>
                <a:latin typeface="Calibri" panose="020F0502020204030204" pitchFamily="34" charset="0"/>
                <a:cs typeface="Calibri" panose="020F0502020204030204" pitchFamily="34" charset="0"/>
              </a:rPr>
              <a:t>                  By Ahmed Sajid</a:t>
            </a:r>
          </a:p>
        </p:txBody>
      </p:sp>
      <p:sp>
        <p:nvSpPr>
          <p:cNvPr id="20" name="Oval 19">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D28354F2-AFA3-0D75-8DD3-EB79391A17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0456" y="2108877"/>
            <a:ext cx="3417369" cy="2654533"/>
          </a:xfrm>
          <a:prstGeom prst="rect">
            <a:avLst/>
          </a:prstGeom>
        </p:spPr>
      </p:pic>
    </p:spTree>
    <p:extLst>
      <p:ext uri="{BB962C8B-B14F-4D97-AF65-F5344CB8AC3E}">
        <p14:creationId xmlns:p14="http://schemas.microsoft.com/office/powerpoint/2010/main" val="3218867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409FC-7A5B-01D7-1611-20117FE0129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6F8D8E6-4240-A4F2-D5F2-BEE55428886B}"/>
              </a:ext>
            </a:extLst>
          </p:cNvPr>
          <p:cNvSpPr>
            <a:spLocks noGrp="1"/>
          </p:cNvSpPr>
          <p:nvPr>
            <p:ph idx="1"/>
          </p:nvPr>
        </p:nvSpPr>
        <p:spPr>
          <a:xfrm>
            <a:off x="552450" y="339725"/>
            <a:ext cx="11133138" cy="6103938"/>
          </a:xfrm>
        </p:spPr>
        <p:txBody>
          <a:bodyPr>
            <a:normAutofit/>
          </a:bodyPr>
          <a:lstStyle/>
          <a:p>
            <a:pPr marL="0" indent="0">
              <a:buNone/>
            </a:pPr>
            <a:r>
              <a:rPr lang="en-US" sz="2400" kern="1400" spc="25" dirty="0">
                <a:solidFill>
                  <a:schemeClr val="tx2">
                    <a:lumMod val="90000"/>
                    <a:lumOff val="10000"/>
                  </a:schemeClr>
                </a:solidFill>
                <a:effectLst/>
                <a:latin typeface="Calibri" panose="020F0502020204030204" pitchFamily="34" charset="0"/>
                <a:ea typeface="MS Gothic" panose="020B0609070205080204" pitchFamily="49" charset="-128"/>
                <a:cs typeface="Times New Roman" panose="02020603050405020304" pitchFamily="18" charset="0"/>
              </a:rPr>
              <a:t>Bull Case Investment Thesis: Visa &amp; Mastercard</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Duopoly in a Massive, Growing Market</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Visa and Mastercard dominate the global card payments network, benefiting from strong network effects and the ongoing global shift from cash to digital payments. </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Asset-Light, Scalable Business Models</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Their model generates high margins and free cash flow since they don't lend money or assume credit risk. Operating leverage allows volume growth to amplify earnings.</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Global Expansion and Financial Inclusion</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Both companies are investing in emerging markets and financial inclusion, unlocking long-term volume growth opportunities in underserved regions.</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Diversification Beyond Core Payments</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They are expanding into high-margin services like fraud prevention, tokenization, and data analytics, creating new recurring revenue streams.</a:t>
            </a:r>
          </a:p>
          <a:p>
            <a:pPr marL="0" indent="0">
              <a:buNone/>
            </a:pPr>
            <a:endParaRPr lang="en-US" dirty="0"/>
          </a:p>
        </p:txBody>
      </p:sp>
    </p:spTree>
    <p:extLst>
      <p:ext uri="{BB962C8B-B14F-4D97-AF65-F5344CB8AC3E}">
        <p14:creationId xmlns:p14="http://schemas.microsoft.com/office/powerpoint/2010/main" val="1914542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A2D08-F157-DC74-D58B-6F31D2BB4D2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088A44C-5C2B-2CE6-DB95-6D892033A353}"/>
              </a:ext>
            </a:extLst>
          </p:cNvPr>
          <p:cNvSpPr>
            <a:spLocks noGrp="1"/>
          </p:cNvSpPr>
          <p:nvPr>
            <p:ph idx="1"/>
          </p:nvPr>
        </p:nvSpPr>
        <p:spPr>
          <a:xfrm>
            <a:off x="393700" y="361950"/>
            <a:ext cx="10960100" cy="5815013"/>
          </a:xfrm>
        </p:spPr>
        <p:txBody>
          <a:bodyPr>
            <a:normAutofit/>
          </a:bodyPr>
          <a:lstStyle/>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Beneficiaries of E-Commerce and Cross-Border Travel</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Growing e-commerce and recovering international travel drive higher transaction volumes, especially in high-margin cross-border segments.</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Strong Balance Sheets and Shareholder Returns</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Robust financials enable significant stock buybacks and dividend growth, appealing to long-term investors seeking reliability and compounding potential.</a:t>
            </a:r>
          </a:p>
          <a:p>
            <a:pPr marL="0" marR="0">
              <a:lnSpc>
                <a:spcPct val="115000"/>
              </a:lnSpc>
              <a:spcBef>
                <a:spcPts val="1000"/>
              </a:spcBef>
              <a:buNone/>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Technological Adaptability and Innovation</a:t>
            </a:r>
          </a:p>
          <a:p>
            <a:pPr marL="0" marR="0" indent="0">
              <a:lnSpc>
                <a:spcPct val="115000"/>
              </a:lnSpc>
              <a:spcAft>
                <a:spcPts val="1000"/>
              </a:spcAft>
              <a:buNone/>
            </a:pPr>
            <a:r>
              <a:rPr lang="en-US" sz="1800" dirty="0">
                <a:effectLst/>
                <a:latin typeface="Calibri" panose="020F0502020204030204" pitchFamily="34" charset="0"/>
                <a:ea typeface="MS Mincho" panose="02020609040205080304" pitchFamily="49" charset="-128"/>
                <a:cs typeface="Calibri" panose="020F0502020204030204" pitchFamily="34" charset="0"/>
              </a:rPr>
              <a:t>Rather than being disrupted, Visa and Mastercard are integrating with fintech's and exploring new technologies like crypto, real-time payments, and AI.</a:t>
            </a:r>
          </a:p>
          <a:p>
            <a:pPr marL="0" indent="0">
              <a:buNone/>
            </a:pPr>
            <a:endParaRPr lang="en-US" dirty="0"/>
          </a:p>
        </p:txBody>
      </p:sp>
    </p:spTree>
    <p:extLst>
      <p:ext uri="{BB962C8B-B14F-4D97-AF65-F5344CB8AC3E}">
        <p14:creationId xmlns:p14="http://schemas.microsoft.com/office/powerpoint/2010/main" val="1112123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9F1E2-9429-1C1D-6244-8A96D9B8A4A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57160-A225-DF4C-510A-050F818AF158}"/>
              </a:ext>
            </a:extLst>
          </p:cNvPr>
          <p:cNvSpPr>
            <a:spLocks noGrp="1"/>
          </p:cNvSpPr>
          <p:nvPr>
            <p:ph idx="1"/>
          </p:nvPr>
        </p:nvSpPr>
        <p:spPr>
          <a:xfrm>
            <a:off x="361507" y="340242"/>
            <a:ext cx="11259879" cy="6060557"/>
          </a:xfrm>
        </p:spPr>
        <p:txBody>
          <a:bodyPr>
            <a:normAutofit lnSpcReduction="10000"/>
          </a:bodyPr>
          <a:lstStyle/>
          <a:p>
            <a:pPr>
              <a:buFont typeface="Wingdings" pitchFamily="2" charset="2"/>
              <a:buChar char="v"/>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Duopoly in a Massive, Growing Market</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Visa and Mastercard </a:t>
            </a:r>
            <a:r>
              <a:rPr lang="en-US" sz="1800" b="1" dirty="0">
                <a:effectLst/>
                <a:latin typeface="Calibri" panose="020F0502020204030204" pitchFamily="34" charset="0"/>
                <a:ea typeface="MS Mincho" panose="02020609040205080304" pitchFamily="49" charset="-128"/>
                <a:cs typeface="Calibri" panose="020F0502020204030204" pitchFamily="34" charset="0"/>
              </a:rPr>
              <a:t>dominate the global card payments network</a:t>
            </a:r>
            <a:r>
              <a:rPr lang="en-US" sz="1800" dirty="0">
                <a:effectLst/>
                <a:latin typeface="Calibri" panose="020F0502020204030204" pitchFamily="34" charset="0"/>
                <a:ea typeface="MS Mincho" panose="02020609040205080304" pitchFamily="49" charset="-128"/>
                <a:cs typeface="Calibri" panose="020F0502020204030204" pitchFamily="34" charset="0"/>
              </a:rPr>
              <a:t> with a combined ~80% market share outside of China.</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This </a:t>
            </a:r>
            <a:r>
              <a:rPr lang="en-US" sz="1800" b="1" dirty="0">
                <a:effectLst/>
                <a:latin typeface="Calibri" panose="020F0502020204030204" pitchFamily="34" charset="0"/>
                <a:ea typeface="MS Mincho" panose="02020609040205080304" pitchFamily="49" charset="-128"/>
                <a:cs typeface="Calibri" panose="020F0502020204030204" pitchFamily="34" charset="0"/>
              </a:rPr>
              <a:t>entrenched duopoly</a:t>
            </a:r>
            <a:r>
              <a:rPr lang="en-US" sz="1800" dirty="0">
                <a:effectLst/>
                <a:latin typeface="Calibri" panose="020F0502020204030204" pitchFamily="34" charset="0"/>
                <a:ea typeface="MS Mincho" panose="02020609040205080304" pitchFamily="49" charset="-128"/>
                <a:cs typeface="Calibri" panose="020F0502020204030204" pitchFamily="34" charset="0"/>
              </a:rPr>
              <a:t> benefits from strong network effects — the more consumers and merchants use their services, the more valuable they become.</a:t>
            </a:r>
          </a:p>
          <a:p>
            <a:pPr marL="342900" marR="0" lvl="0" indent="-342900">
              <a:lnSpc>
                <a:spcPct val="115000"/>
              </a:lnSpc>
              <a:spcAft>
                <a:spcPts val="1000"/>
              </a:spcAft>
              <a:buSzPts val="1000"/>
              <a:buFont typeface="Symbol" pitchFamily="2" charset="2"/>
              <a:buChar char=""/>
              <a:tabLst>
                <a:tab pos="457200" algn="l"/>
              </a:tabLst>
            </a:pPr>
            <a:r>
              <a:rPr lang="en-US" sz="1800" b="0" i="0" dirty="0">
                <a:effectLst/>
                <a:latin typeface="Calibri" panose="020F0502020204030204" pitchFamily="34" charset="0"/>
                <a:cs typeface="Calibri" panose="020F0502020204030204" pitchFamily="34" charset="0"/>
              </a:rPr>
              <a:t>Visa's </a:t>
            </a:r>
            <a:r>
              <a:rPr lang="en-US" sz="1800" b="1" i="0" dirty="0">
                <a:effectLst/>
                <a:latin typeface="Calibri" panose="020F0502020204030204" pitchFamily="34" charset="0"/>
                <a:cs typeface="Calibri" panose="020F0502020204030204" pitchFamily="34" charset="0"/>
              </a:rPr>
              <a:t>network effect </a:t>
            </a:r>
            <a:r>
              <a:rPr lang="en-US" sz="1800" b="0" i="0" dirty="0">
                <a:effectLst/>
                <a:latin typeface="Calibri" panose="020F0502020204030204" pitchFamily="34" charset="0"/>
                <a:cs typeface="Calibri" panose="020F0502020204030204" pitchFamily="34" charset="0"/>
              </a:rPr>
              <a:t>is strong as more consumers using Visa cards attract more merchants, which in turn attracts more consumers. With over 3.6 billion cards and millions of merchants worldwide, its network is self-reinforcing.</a:t>
            </a:r>
            <a:endParaRPr lang="en-US" sz="1800" dirty="0">
              <a:effectLst/>
              <a:latin typeface="Calibri" panose="020F0502020204030204" pitchFamily="34" charset="0"/>
              <a:ea typeface="MS Mincho" panose="02020609040205080304" pitchFamily="49" charset="-128"/>
              <a:cs typeface="Calibri" panose="020F0502020204030204" pitchFamily="34" charset="0"/>
            </a:endParaRP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The </a:t>
            </a:r>
            <a:r>
              <a:rPr lang="en-US" sz="1800" b="1" dirty="0">
                <a:effectLst/>
                <a:latin typeface="Calibri" panose="020F0502020204030204" pitchFamily="34" charset="0"/>
                <a:ea typeface="MS Mincho" panose="02020609040205080304" pitchFamily="49" charset="-128"/>
                <a:cs typeface="Calibri" panose="020F0502020204030204" pitchFamily="34" charset="0"/>
              </a:rPr>
              <a:t>secular shift from cash to digital payments</a:t>
            </a:r>
            <a:r>
              <a:rPr lang="en-US" sz="1800" dirty="0">
                <a:effectLst/>
                <a:latin typeface="Calibri" panose="020F0502020204030204" pitchFamily="34" charset="0"/>
                <a:ea typeface="MS Mincho" panose="02020609040205080304" pitchFamily="49" charset="-128"/>
                <a:cs typeface="Calibri" panose="020F0502020204030204" pitchFamily="34" charset="0"/>
              </a:rPr>
              <a:t> is still underway, especially in </a:t>
            </a:r>
            <a:r>
              <a:rPr lang="en-US" sz="1800" b="1" dirty="0">
                <a:effectLst/>
                <a:latin typeface="Calibri" panose="020F0502020204030204" pitchFamily="34" charset="0"/>
                <a:ea typeface="MS Mincho" panose="02020609040205080304" pitchFamily="49" charset="-128"/>
                <a:cs typeface="Calibri" panose="020F0502020204030204" pitchFamily="34" charset="0"/>
              </a:rPr>
              <a:t>emerging markets</a:t>
            </a:r>
            <a:r>
              <a:rPr lang="en-US" sz="1800" dirty="0">
                <a:effectLst/>
                <a:latin typeface="Calibri" panose="020F0502020204030204" pitchFamily="34" charset="0"/>
                <a:ea typeface="MS Mincho" panose="02020609040205080304" pitchFamily="49" charset="-128"/>
                <a:cs typeface="Calibri" panose="020F0502020204030204" pitchFamily="34" charset="0"/>
              </a:rPr>
              <a:t>, offering multi-decade tailwinds.</a:t>
            </a:r>
          </a:p>
          <a:p>
            <a:pPr>
              <a:buFont typeface="Wingdings" pitchFamily="2" charset="2"/>
              <a:buChar char="v"/>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Asset-Light, Scalable Business Models</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Neither company takes on </a:t>
            </a:r>
            <a:r>
              <a:rPr lang="en-US" sz="1800" b="1" dirty="0">
                <a:effectLst/>
                <a:latin typeface="Calibri" panose="020F0502020204030204" pitchFamily="34" charset="0"/>
                <a:ea typeface="MS Mincho" panose="02020609040205080304" pitchFamily="49" charset="-128"/>
                <a:cs typeface="Calibri" panose="020F0502020204030204" pitchFamily="34" charset="0"/>
              </a:rPr>
              <a:t>credit risk</a:t>
            </a:r>
            <a:r>
              <a:rPr lang="en-US" sz="1800" dirty="0">
                <a:effectLst/>
                <a:latin typeface="Calibri" panose="020F0502020204030204" pitchFamily="34" charset="0"/>
                <a:ea typeface="MS Mincho" panose="02020609040205080304" pitchFamily="49" charset="-128"/>
                <a:cs typeface="Calibri" panose="020F0502020204030204" pitchFamily="34" charset="0"/>
              </a:rPr>
              <a:t> (banks issue the cards and assume the lending risk). Instead, they collect </a:t>
            </a:r>
            <a:r>
              <a:rPr lang="en-US" sz="1800" b="1" dirty="0">
                <a:effectLst/>
                <a:latin typeface="Calibri" panose="020F0502020204030204" pitchFamily="34" charset="0"/>
                <a:ea typeface="MS Mincho" panose="02020609040205080304" pitchFamily="49" charset="-128"/>
                <a:cs typeface="Calibri" panose="020F0502020204030204" pitchFamily="34" charset="0"/>
              </a:rPr>
              <a:t>fees on transaction volume</a:t>
            </a:r>
            <a:r>
              <a:rPr lang="en-US" sz="1800" dirty="0">
                <a:effectLst/>
                <a:latin typeface="Calibri" panose="020F0502020204030204" pitchFamily="34" charset="0"/>
                <a:ea typeface="MS Mincho" panose="02020609040205080304" pitchFamily="49" charset="-128"/>
                <a:cs typeface="Calibri" panose="020F0502020204030204" pitchFamily="34" charset="0"/>
              </a:rPr>
              <a:t>.</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Their </a:t>
            </a:r>
            <a:r>
              <a:rPr lang="en-US" sz="1800" b="1" dirty="0">
                <a:effectLst/>
                <a:latin typeface="Calibri" panose="020F0502020204030204" pitchFamily="34" charset="0"/>
                <a:ea typeface="MS Mincho" panose="02020609040205080304" pitchFamily="49" charset="-128"/>
                <a:cs typeface="Calibri" panose="020F0502020204030204" pitchFamily="34" charset="0"/>
              </a:rPr>
              <a:t>high-margin, capital-efficient model</a:t>
            </a:r>
            <a:r>
              <a:rPr lang="en-US" sz="1800" dirty="0">
                <a:effectLst/>
                <a:latin typeface="Calibri" panose="020F0502020204030204" pitchFamily="34" charset="0"/>
                <a:ea typeface="MS Mincho" panose="02020609040205080304" pitchFamily="49" charset="-128"/>
                <a:cs typeface="Calibri" panose="020F0502020204030204" pitchFamily="34" charset="0"/>
              </a:rPr>
              <a:t> yields substantial free cash flow and return on equity.</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Both businesses have </a:t>
            </a:r>
            <a:r>
              <a:rPr lang="en-US" sz="1800" b="1" dirty="0">
                <a:effectLst/>
                <a:latin typeface="Calibri" panose="020F0502020204030204" pitchFamily="34" charset="0"/>
                <a:ea typeface="MS Mincho" panose="02020609040205080304" pitchFamily="49" charset="-128"/>
                <a:cs typeface="Calibri" panose="020F0502020204030204" pitchFamily="34" charset="0"/>
              </a:rPr>
              <a:t>operating leverage</a:t>
            </a:r>
            <a:r>
              <a:rPr lang="en-US" sz="1800" dirty="0">
                <a:effectLst/>
                <a:latin typeface="Calibri" panose="020F0502020204030204" pitchFamily="34" charset="0"/>
                <a:ea typeface="MS Mincho" panose="02020609040205080304" pitchFamily="49" charset="-128"/>
                <a:cs typeface="Calibri" panose="020F0502020204030204" pitchFamily="34" charset="0"/>
              </a:rPr>
              <a:t> — incremental volume growth results in outsized earnings growth.</a:t>
            </a:r>
            <a:endParaRPr 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877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CBE84-4B52-F3C1-30D0-54B6D671CD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EE9553-D31F-A200-EF72-D82FFFEE19AD}"/>
              </a:ext>
            </a:extLst>
          </p:cNvPr>
          <p:cNvSpPr>
            <a:spLocks noGrp="1"/>
          </p:cNvSpPr>
          <p:nvPr>
            <p:ph idx="1"/>
          </p:nvPr>
        </p:nvSpPr>
        <p:spPr>
          <a:xfrm>
            <a:off x="350874" y="329608"/>
            <a:ext cx="11291777" cy="6113721"/>
          </a:xfrm>
        </p:spPr>
        <p:txBody>
          <a:bodyPr/>
          <a:lstStyle/>
          <a:p>
            <a:pPr>
              <a:buFont typeface="Wingdings" pitchFamily="2" charset="2"/>
              <a:buChar char="v"/>
            </a:pPr>
            <a:r>
              <a:rPr lang="en-US" sz="1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Global Expansion and Financial Inclusion</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Billions of people in emerging economies remain </a:t>
            </a:r>
            <a:r>
              <a:rPr lang="en-US" sz="1800" b="1" dirty="0">
                <a:effectLst/>
                <a:latin typeface="Calibri" panose="020F0502020204030204" pitchFamily="34" charset="0"/>
                <a:ea typeface="MS Mincho" panose="02020609040205080304" pitchFamily="49" charset="-128"/>
                <a:cs typeface="Calibri" panose="020F0502020204030204" pitchFamily="34" charset="0"/>
              </a:rPr>
              <a:t>unbanked or underbanked</a:t>
            </a:r>
            <a:r>
              <a:rPr lang="en-US" sz="1800" dirty="0">
                <a:effectLst/>
                <a:latin typeface="Calibri" panose="020F0502020204030204" pitchFamily="34" charset="0"/>
                <a:ea typeface="MS Mincho" panose="02020609040205080304" pitchFamily="49" charset="-128"/>
                <a:cs typeface="Calibri" panose="020F0502020204030204" pitchFamily="34" charset="0"/>
              </a:rPr>
              <a:t>.</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Visa and Mastercard are deeply invested in </a:t>
            </a:r>
            <a:r>
              <a:rPr lang="en-US" sz="1800" b="1" dirty="0">
                <a:effectLst/>
                <a:latin typeface="Calibri" panose="020F0502020204030204" pitchFamily="34" charset="0"/>
                <a:ea typeface="MS Mincho" panose="02020609040205080304" pitchFamily="49" charset="-128"/>
                <a:cs typeface="Calibri" panose="020F0502020204030204" pitchFamily="34" charset="0"/>
              </a:rPr>
              <a:t>financial inclusion initiatives</a:t>
            </a:r>
            <a:r>
              <a:rPr lang="en-US" sz="1800" dirty="0">
                <a:effectLst/>
                <a:latin typeface="Calibri" panose="020F0502020204030204" pitchFamily="34" charset="0"/>
                <a:ea typeface="MS Mincho" panose="02020609040205080304" pitchFamily="49" charset="-128"/>
                <a:cs typeface="Calibri" panose="020F0502020204030204" pitchFamily="34" charset="0"/>
              </a:rPr>
              <a:t>, such as mobile-first solutions, real-time payments, and local partnerships.</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Long-term, their presence in markets like India, Africa, and Southeast Asia could drive </a:t>
            </a:r>
            <a:r>
              <a:rPr lang="en-US" sz="1800" b="1" dirty="0">
                <a:effectLst/>
                <a:latin typeface="Calibri" panose="020F0502020204030204" pitchFamily="34" charset="0"/>
                <a:ea typeface="MS Mincho" panose="02020609040205080304" pitchFamily="49" charset="-128"/>
                <a:cs typeface="Calibri" panose="020F0502020204030204" pitchFamily="34" charset="0"/>
              </a:rPr>
              <a:t>sustained volume growth</a:t>
            </a:r>
            <a:r>
              <a:rPr lang="en-US" sz="1800" dirty="0">
                <a:effectLst/>
                <a:latin typeface="Calibri" panose="020F0502020204030204" pitchFamily="34" charset="0"/>
                <a:ea typeface="MS Mincho" panose="02020609040205080304" pitchFamily="49" charset="-128"/>
                <a:cs typeface="Calibri" panose="020F0502020204030204" pitchFamily="34" charset="0"/>
              </a:rPr>
              <a:t>.</a:t>
            </a:r>
          </a:p>
          <a:p>
            <a:pPr>
              <a:buFont typeface="Wingdings" pitchFamily="2" charset="2"/>
              <a:buChar char="v"/>
            </a:pPr>
            <a:r>
              <a:rPr lang="en-US" sz="1800" b="0"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 </a:t>
            </a:r>
            <a:r>
              <a:rPr lang="en-US" sz="1800" b="1" dirty="0">
                <a:solidFill>
                  <a:srgbClr val="4F81BD"/>
                </a:solidFill>
                <a:effectLst/>
                <a:latin typeface="Calibri" panose="020F0502020204030204" pitchFamily="34" charset="0"/>
                <a:ea typeface="MS Gothic" panose="020B0609070205080204" pitchFamily="49" charset="-128"/>
                <a:cs typeface="Times New Roman" panose="02020603050405020304" pitchFamily="18" charset="0"/>
              </a:rPr>
              <a:t>Diversification Beyond Core Payments</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Both companies are expanding into </a:t>
            </a:r>
            <a:r>
              <a:rPr lang="en-US" sz="1800" b="1" dirty="0">
                <a:effectLst/>
                <a:latin typeface="Calibri" panose="020F0502020204030204" pitchFamily="34" charset="0"/>
                <a:ea typeface="MS Mincho" panose="02020609040205080304" pitchFamily="49" charset="-128"/>
                <a:cs typeface="Calibri" panose="020F0502020204030204" pitchFamily="34" charset="0"/>
              </a:rPr>
              <a:t>value-added services</a:t>
            </a:r>
            <a:r>
              <a:rPr lang="en-US" sz="1800" dirty="0">
                <a:effectLst/>
                <a:latin typeface="Calibri" panose="020F0502020204030204" pitchFamily="34" charset="0"/>
                <a:ea typeface="MS Mincho" panose="02020609040205080304" pitchFamily="49" charset="-128"/>
                <a:cs typeface="Calibri" panose="020F0502020204030204" pitchFamily="34" charset="0"/>
              </a:rPr>
              <a:t>, such as:</a:t>
            </a:r>
          </a:p>
          <a:p>
            <a:pPr marL="742950" marR="0" lvl="1" indent="-285750">
              <a:lnSpc>
                <a:spcPct val="115000"/>
              </a:lnSpc>
              <a:spcAft>
                <a:spcPts val="1000"/>
              </a:spcAft>
              <a:buSzPts val="1000"/>
              <a:buFont typeface="Courier New" panose="02070309020205020404" pitchFamily="49" charset="0"/>
              <a:buChar char="o"/>
              <a:tabLst>
                <a:tab pos="9144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Cybersecurity and fraud prevention</a:t>
            </a:r>
          </a:p>
          <a:p>
            <a:pPr marL="742950" marR="0" lvl="1" indent="-285750">
              <a:lnSpc>
                <a:spcPct val="115000"/>
              </a:lnSpc>
              <a:spcAft>
                <a:spcPts val="1000"/>
              </a:spcAft>
              <a:buSzPts val="1000"/>
              <a:buFont typeface="Courier New" panose="02070309020205020404" pitchFamily="49" charset="0"/>
              <a:buChar char="o"/>
              <a:tabLst>
                <a:tab pos="9144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Tokenization and identity solutions</a:t>
            </a:r>
          </a:p>
          <a:p>
            <a:pPr marL="742950" marR="0" lvl="1" indent="-285750">
              <a:lnSpc>
                <a:spcPct val="115000"/>
              </a:lnSpc>
              <a:spcAft>
                <a:spcPts val="1000"/>
              </a:spcAft>
              <a:buSzPts val="1000"/>
              <a:buFont typeface="Courier New" panose="02070309020205020404" pitchFamily="49" charset="0"/>
              <a:buChar char="o"/>
              <a:tabLst>
                <a:tab pos="9144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Data analytics for financial institutions and merchants</a:t>
            </a:r>
          </a:p>
          <a:p>
            <a:pPr marL="342900" marR="0" lvl="0" indent="-342900">
              <a:lnSpc>
                <a:spcPct val="115000"/>
              </a:lnSpc>
              <a:spcAft>
                <a:spcPts val="1000"/>
              </a:spcAft>
              <a:buSzPts val="1000"/>
              <a:buFont typeface="Symbol" pitchFamily="2" charset="2"/>
              <a:buChar char=""/>
              <a:tabLst>
                <a:tab pos="457200" algn="l"/>
              </a:tabLst>
            </a:pPr>
            <a:r>
              <a:rPr lang="en-US" sz="1800" dirty="0">
                <a:effectLst/>
                <a:latin typeface="Calibri" panose="020F0502020204030204" pitchFamily="34" charset="0"/>
                <a:ea typeface="MS Mincho" panose="02020609040205080304" pitchFamily="49" charset="-128"/>
                <a:cs typeface="Calibri" panose="020F0502020204030204" pitchFamily="34" charset="0"/>
              </a:rPr>
              <a:t>These new verticals offer </a:t>
            </a:r>
            <a:r>
              <a:rPr lang="en-US" sz="1800" b="1" dirty="0">
                <a:effectLst/>
                <a:latin typeface="Calibri" panose="020F0502020204030204" pitchFamily="34" charset="0"/>
                <a:ea typeface="MS Mincho" panose="02020609040205080304" pitchFamily="49" charset="-128"/>
                <a:cs typeface="Calibri" panose="020F0502020204030204" pitchFamily="34" charset="0"/>
              </a:rPr>
              <a:t>high-margin recurring revenue streams</a:t>
            </a:r>
            <a:r>
              <a:rPr lang="en-US" sz="1800" dirty="0">
                <a:effectLst/>
                <a:latin typeface="Calibri" panose="020F0502020204030204" pitchFamily="34" charset="0"/>
                <a:ea typeface="MS Mincho" panose="02020609040205080304" pitchFamily="49" charset="-128"/>
                <a:cs typeface="Calibri" panose="020F0502020204030204" pitchFamily="34" charset="0"/>
              </a:rPr>
              <a:t> beyond traditional interchange and processing.</a:t>
            </a:r>
          </a:p>
          <a:p>
            <a:endParaRPr lang="en-US" dirty="0"/>
          </a:p>
        </p:txBody>
      </p:sp>
    </p:spTree>
    <p:extLst>
      <p:ext uri="{BB962C8B-B14F-4D97-AF65-F5344CB8AC3E}">
        <p14:creationId xmlns:p14="http://schemas.microsoft.com/office/powerpoint/2010/main" val="2894476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40D5D-0190-5668-1BC6-DF02591235D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F177E24-4FD2-D8E1-7AD3-4C66AD7DBA62}"/>
              </a:ext>
            </a:extLst>
          </p:cNvPr>
          <p:cNvSpPr>
            <a:spLocks noGrp="1"/>
          </p:cNvSpPr>
          <p:nvPr>
            <p:ph idx="1"/>
          </p:nvPr>
        </p:nvSpPr>
        <p:spPr>
          <a:xfrm>
            <a:off x="552450" y="477838"/>
            <a:ext cx="11015663" cy="5922962"/>
          </a:xfrm>
        </p:spPr>
        <p:txBody>
          <a:bodyPr>
            <a:normAutofit fontScale="62500" lnSpcReduction="20000"/>
          </a:bodyPr>
          <a:lstStyle/>
          <a:p>
            <a:pPr>
              <a:buFont typeface="Wingdings" pitchFamily="2" charset="2"/>
              <a:buChar char="v"/>
            </a:pPr>
            <a:r>
              <a:rPr lang="en-US" sz="2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Beneficiaries of E-Commerce and Cross-Border Travel</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The </a:t>
            </a:r>
            <a:r>
              <a:rPr lang="en-US" sz="2800" b="1" dirty="0">
                <a:effectLst/>
                <a:latin typeface="Calibri" panose="020F0502020204030204" pitchFamily="34" charset="0"/>
                <a:ea typeface="MS Mincho" panose="02020609040205080304" pitchFamily="49" charset="-128"/>
                <a:cs typeface="Calibri" panose="020F0502020204030204" pitchFamily="34" charset="0"/>
              </a:rPr>
              <a:t>growth of global e-commerce</a:t>
            </a:r>
            <a:r>
              <a:rPr lang="en-US" sz="2800" dirty="0">
                <a:effectLst/>
                <a:latin typeface="Calibri" panose="020F0502020204030204" pitchFamily="34" charset="0"/>
                <a:ea typeface="MS Mincho" panose="02020609040205080304" pitchFamily="49" charset="-128"/>
                <a:cs typeface="Calibri" panose="020F0502020204030204" pitchFamily="34" charset="0"/>
              </a:rPr>
              <a:t> directly boosts digital transaction volumes.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Visa and Mastercard also earn </a:t>
            </a:r>
            <a:r>
              <a:rPr lang="en-US" sz="2800" b="1" dirty="0">
                <a:effectLst/>
                <a:latin typeface="Calibri" panose="020F0502020204030204" pitchFamily="34" charset="0"/>
                <a:ea typeface="MS Mincho" panose="02020609040205080304" pitchFamily="49" charset="-128"/>
                <a:cs typeface="Calibri" panose="020F0502020204030204" pitchFamily="34" charset="0"/>
              </a:rPr>
              <a:t>outsized fees from cross-border transactions</a:t>
            </a:r>
            <a:r>
              <a:rPr lang="en-US" sz="2800" dirty="0">
                <a:effectLst/>
                <a:latin typeface="Calibri" panose="020F0502020204030204" pitchFamily="34" charset="0"/>
                <a:ea typeface="MS Mincho" panose="02020609040205080304" pitchFamily="49" charset="-128"/>
                <a:cs typeface="Calibri" panose="020F0502020204030204" pitchFamily="34" charset="0"/>
              </a:rPr>
              <a:t>, which are rebounding post-pandemic due to </a:t>
            </a:r>
            <a:r>
              <a:rPr lang="en-US" sz="2800" b="1" dirty="0">
                <a:effectLst/>
                <a:latin typeface="Calibri" panose="020F0502020204030204" pitchFamily="34" charset="0"/>
                <a:ea typeface="MS Mincho" panose="02020609040205080304" pitchFamily="49" charset="-128"/>
                <a:cs typeface="Calibri" panose="020F0502020204030204" pitchFamily="34" charset="0"/>
              </a:rPr>
              <a:t>increased international travel</a:t>
            </a:r>
            <a:r>
              <a:rPr lang="en-US" sz="2800" dirty="0">
                <a:effectLst/>
                <a:latin typeface="Calibri" panose="020F0502020204030204" pitchFamily="34" charset="0"/>
                <a:ea typeface="MS Mincho" panose="02020609040205080304" pitchFamily="49" charset="-128"/>
                <a:cs typeface="Calibri" panose="020F0502020204030204" pitchFamily="34" charset="0"/>
              </a:rPr>
              <a:t> and global economic recovery.</a:t>
            </a:r>
          </a:p>
          <a:p>
            <a:pPr>
              <a:buFont typeface="Wingdings" pitchFamily="2" charset="2"/>
              <a:buChar char="v"/>
            </a:pPr>
            <a:r>
              <a:rPr lang="en-US" sz="2800" b="0"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a:t>
            </a:r>
            <a:r>
              <a:rPr lang="en-US" sz="2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Strong Balance Sheets and Shareholder Returns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Both companies maintain </a:t>
            </a:r>
            <a:r>
              <a:rPr lang="en-US" sz="2800" b="1" dirty="0">
                <a:effectLst/>
                <a:latin typeface="Calibri" panose="020F0502020204030204" pitchFamily="34" charset="0"/>
                <a:ea typeface="MS Mincho" panose="02020609040205080304" pitchFamily="49" charset="-128"/>
                <a:cs typeface="Calibri" panose="020F0502020204030204" pitchFamily="34" charset="0"/>
              </a:rPr>
              <a:t>fortress balance sheets</a:t>
            </a:r>
            <a:r>
              <a:rPr lang="en-US" sz="2800" dirty="0">
                <a:effectLst/>
                <a:latin typeface="Calibri" panose="020F0502020204030204" pitchFamily="34" charset="0"/>
                <a:ea typeface="MS Mincho" panose="02020609040205080304" pitchFamily="49" charset="-128"/>
                <a:cs typeface="Calibri" panose="020F0502020204030204" pitchFamily="34" charset="0"/>
              </a:rPr>
              <a:t>, with little debt and robust cash flows.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Their consistent </a:t>
            </a:r>
            <a:r>
              <a:rPr lang="en-US" sz="2800" b="1" dirty="0">
                <a:effectLst/>
                <a:latin typeface="Calibri" panose="020F0502020204030204" pitchFamily="34" charset="0"/>
                <a:ea typeface="MS Mincho" panose="02020609040205080304" pitchFamily="49" charset="-128"/>
                <a:cs typeface="Calibri" panose="020F0502020204030204" pitchFamily="34" charset="0"/>
              </a:rPr>
              <a:t>buybacks and dividend growth</a:t>
            </a:r>
            <a:r>
              <a:rPr lang="en-US" sz="2800" dirty="0">
                <a:effectLst/>
                <a:latin typeface="Calibri" panose="020F0502020204030204" pitchFamily="34" charset="0"/>
                <a:ea typeface="MS Mincho" panose="02020609040205080304" pitchFamily="49" charset="-128"/>
                <a:cs typeface="Calibri" panose="020F0502020204030204" pitchFamily="34" charset="0"/>
              </a:rPr>
              <a:t> appeal to both growth and income investors.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Capital allocation discipline has been historically strong.</a:t>
            </a:r>
          </a:p>
          <a:p>
            <a:pPr>
              <a:buFont typeface="Wingdings" pitchFamily="2" charset="2"/>
              <a:buChar char="v"/>
            </a:pPr>
            <a:r>
              <a:rPr lang="en-US" sz="2800" b="0"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  </a:t>
            </a:r>
            <a:r>
              <a:rPr lang="en-US" sz="2800" b="1" dirty="0">
                <a:solidFill>
                  <a:srgbClr val="4F81BD"/>
                </a:solidFill>
                <a:effectLst/>
                <a:latin typeface="Calibri" panose="020F0502020204030204" pitchFamily="34" charset="0"/>
                <a:ea typeface="MS Gothic" panose="020B0609070205080204" pitchFamily="49" charset="-128"/>
                <a:cs typeface="Calibri" panose="020F0502020204030204" pitchFamily="34" charset="0"/>
              </a:rPr>
              <a:t>Technological Adaptability and Innovation</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Contrary to being disrupted, both Visa and Mastercard are </a:t>
            </a:r>
            <a:r>
              <a:rPr lang="en-US" sz="2800" b="1" dirty="0">
                <a:effectLst/>
                <a:latin typeface="Calibri" panose="020F0502020204030204" pitchFamily="34" charset="0"/>
                <a:ea typeface="MS Mincho" panose="02020609040205080304" pitchFamily="49" charset="-128"/>
                <a:cs typeface="Calibri" panose="020F0502020204030204" pitchFamily="34" charset="0"/>
              </a:rPr>
              <a:t>acquiring or partnering with fintech’s</a:t>
            </a:r>
            <a:r>
              <a:rPr lang="en-US" sz="2800" dirty="0">
                <a:effectLst/>
                <a:latin typeface="Calibri" panose="020F0502020204030204" pitchFamily="34" charset="0"/>
                <a:ea typeface="MS Mincho" panose="02020609040205080304" pitchFamily="49" charset="-128"/>
                <a:cs typeface="Calibri" panose="020F0502020204030204" pitchFamily="34" charset="0"/>
              </a:rPr>
              <a:t> to stay relevant.</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Investments in </a:t>
            </a:r>
            <a:r>
              <a:rPr lang="en-US" sz="2800" b="1" dirty="0">
                <a:effectLst/>
                <a:latin typeface="Calibri" panose="020F0502020204030204" pitchFamily="34" charset="0"/>
                <a:ea typeface="MS Mincho" panose="02020609040205080304" pitchFamily="49" charset="-128"/>
                <a:cs typeface="Calibri" panose="020F0502020204030204" pitchFamily="34" charset="0"/>
              </a:rPr>
              <a:t>crypto rails, tokenized payments, real-time settlements, and AI</a:t>
            </a:r>
            <a:r>
              <a:rPr lang="en-US" sz="2800" dirty="0">
                <a:effectLst/>
                <a:latin typeface="Calibri" panose="020F0502020204030204" pitchFamily="34" charset="0"/>
                <a:ea typeface="MS Mincho" panose="02020609040205080304" pitchFamily="49" charset="-128"/>
                <a:cs typeface="Calibri" panose="020F0502020204030204" pitchFamily="34" charset="0"/>
              </a:rPr>
              <a:t> suggest strong adaptability to evolving trends.</a:t>
            </a:r>
          </a:p>
          <a:p>
            <a:pPr marL="342900" marR="0" lvl="0" indent="-342900">
              <a:lnSpc>
                <a:spcPct val="115000"/>
              </a:lnSpc>
              <a:spcAft>
                <a:spcPts val="1000"/>
              </a:spcAft>
              <a:buSzPts val="1000"/>
              <a:buFont typeface="Symbol" pitchFamily="2" charset="2"/>
              <a:buChar char=""/>
              <a:tabLst>
                <a:tab pos="457200" algn="l"/>
              </a:tabLst>
            </a:pPr>
            <a:r>
              <a:rPr lang="en-US" sz="2800" dirty="0">
                <a:effectLst/>
                <a:latin typeface="Calibri" panose="020F0502020204030204" pitchFamily="34" charset="0"/>
                <a:ea typeface="MS Mincho" panose="02020609040205080304" pitchFamily="49" charset="-128"/>
                <a:cs typeface="Calibri" panose="020F0502020204030204" pitchFamily="34" charset="0"/>
              </a:rPr>
              <a:t>Their infrastructure is mission-critical, making them resilient even as new rails emerge.</a:t>
            </a:r>
          </a:p>
          <a:p>
            <a:pPr marL="0" indent="0">
              <a:buNone/>
            </a:pPr>
            <a:endParaRPr lang="en-US" dirty="0"/>
          </a:p>
        </p:txBody>
      </p:sp>
    </p:spTree>
    <p:extLst>
      <p:ext uri="{BB962C8B-B14F-4D97-AF65-F5344CB8AC3E}">
        <p14:creationId xmlns:p14="http://schemas.microsoft.com/office/powerpoint/2010/main" val="1720042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AEA40-0F45-572A-B1FD-9BD679D708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0B2327-E208-701F-F6A8-3AF9615957A7}"/>
              </a:ext>
            </a:extLst>
          </p:cNvPr>
          <p:cNvSpPr>
            <a:spLocks noGrp="1"/>
          </p:cNvSpPr>
          <p:nvPr>
            <p:ph idx="1"/>
          </p:nvPr>
        </p:nvSpPr>
        <p:spPr>
          <a:xfrm>
            <a:off x="531627" y="446566"/>
            <a:ext cx="11291777" cy="5996763"/>
          </a:xfrm>
        </p:spPr>
        <p:txBody>
          <a:bodyPr>
            <a:normAutofit/>
          </a:bodyPr>
          <a:lstStyle/>
          <a:p>
            <a:pPr>
              <a:buFont typeface="Wingdings" pitchFamily="2" charset="2"/>
              <a:buChar char="v"/>
            </a:pPr>
            <a:r>
              <a:rPr lang="en-US" sz="1800" b="1" dirty="0">
                <a:solidFill>
                  <a:srgbClr val="4E95D9"/>
                </a:solidFill>
                <a:latin typeface="Calibri" panose="020F0502020204030204" pitchFamily="34" charset="0"/>
                <a:cs typeface="Calibri" panose="020F0502020204030204" pitchFamily="34" charset="0"/>
              </a:rPr>
              <a:t> High Switching Cost</a:t>
            </a:r>
          </a:p>
          <a:p>
            <a:r>
              <a:rPr lang="en-US" sz="1800" b="0" i="0" dirty="0">
                <a:effectLst/>
                <a:latin typeface="Calibri" panose="020F0502020204030204" pitchFamily="34" charset="0"/>
                <a:cs typeface="Calibri" panose="020F0502020204030204" pitchFamily="34" charset="0"/>
              </a:rPr>
              <a:t>Customers and merchants face high switching costs due to the hassle of changing payment processors, re-       establishing merchant services, and the ubiquity of </a:t>
            </a:r>
            <a:r>
              <a:rPr lang="en-US" sz="1800" dirty="0">
                <a:latin typeface="Calibri" panose="020F0502020204030204" pitchFamily="34" charset="0"/>
                <a:cs typeface="Calibri" panose="020F0502020204030204" pitchFamily="34" charset="0"/>
              </a:rPr>
              <a:t>Mastercard</a:t>
            </a:r>
            <a:r>
              <a:rPr lang="en-US" sz="1800" b="0" i="0" dirty="0">
                <a:effectLst/>
                <a:latin typeface="Calibri" panose="020F0502020204030204" pitchFamily="34" charset="0"/>
                <a:cs typeface="Calibri" panose="020F0502020204030204" pitchFamily="34" charset="0"/>
              </a:rPr>
              <a:t>’s acceptance.</a:t>
            </a:r>
          </a:p>
          <a:p>
            <a:pPr>
              <a:buFont typeface="Wingdings" pitchFamily="2" charset="2"/>
              <a:buChar char="v"/>
            </a:pPr>
            <a:r>
              <a:rPr lang="en-US" sz="1800" b="1" i="0" dirty="0">
                <a:solidFill>
                  <a:srgbClr val="4E95D9"/>
                </a:solidFill>
                <a:effectLst/>
                <a:latin typeface="Calibri" panose="020F0502020204030204" pitchFamily="34" charset="0"/>
                <a:cs typeface="Calibri" panose="020F0502020204030204" pitchFamily="34" charset="0"/>
              </a:rPr>
              <a:t> Brand Identity</a:t>
            </a:r>
          </a:p>
          <a:p>
            <a:r>
              <a:rPr lang="en-US" sz="1800" dirty="0">
                <a:latin typeface="Calibri" panose="020F0502020204030204" pitchFamily="34" charset="0"/>
                <a:cs typeface="Calibri" panose="020F0502020204030204" pitchFamily="34" charset="0"/>
              </a:rPr>
              <a:t>Mastercard</a:t>
            </a:r>
            <a:r>
              <a:rPr lang="en-US" sz="1800" b="0" i="0" dirty="0">
                <a:effectLst/>
                <a:latin typeface="Calibri" panose="020F0502020204030204" pitchFamily="34" charset="0"/>
                <a:cs typeface="Calibri" panose="020F0502020204030204" pitchFamily="34" charset="0"/>
              </a:rPr>
              <a:t>'s brand is synonymous with credit and debit card payments, symbolizing trust and reliability. Its brand strength is a competitive advantage, encouraging card issuance and merchant acceptance.</a:t>
            </a:r>
          </a:p>
          <a:p>
            <a:pPr>
              <a:buFont typeface="Wingdings" pitchFamily="2" charset="2"/>
              <a:buChar char="v"/>
            </a:pPr>
            <a:r>
              <a:rPr lang="en-US" sz="1800" b="1" i="0" dirty="0">
                <a:solidFill>
                  <a:srgbClr val="4E95D9"/>
                </a:solidFill>
                <a:effectLst/>
                <a:latin typeface="Calibri" panose="020F0502020204030204" pitchFamily="34" charset="0"/>
                <a:cs typeface="Calibri" panose="020F0502020204030204" pitchFamily="34" charset="0"/>
              </a:rPr>
              <a:t> Intangible Assets</a:t>
            </a:r>
          </a:p>
          <a:p>
            <a:r>
              <a:rPr lang="en-US" sz="1800" dirty="0">
                <a:latin typeface="Calibri" panose="020F0502020204030204" pitchFamily="34" charset="0"/>
                <a:cs typeface="Calibri" panose="020F0502020204030204" pitchFamily="34" charset="0"/>
              </a:rPr>
              <a:t>Mastercard</a:t>
            </a:r>
            <a:r>
              <a:rPr lang="en-US" sz="1800" b="0" i="0" dirty="0">
                <a:effectLst/>
                <a:latin typeface="Calibri" panose="020F0502020204030204" pitchFamily="34" charset="0"/>
                <a:cs typeface="Calibri" panose="020F0502020204030204" pitchFamily="34" charset="0"/>
              </a:rPr>
              <a:t> holds numerous patents and licenses critical for payment processing. These assets protect its technology and services, maintaining a competitive edge in the payments industry. </a:t>
            </a:r>
          </a:p>
          <a:p>
            <a:pPr>
              <a:buFont typeface="Wingdings" pitchFamily="2" charset="2"/>
              <a:buChar char="v"/>
            </a:pPr>
            <a:r>
              <a:rPr lang="en-US" sz="1800" b="1" i="0" dirty="0">
                <a:solidFill>
                  <a:srgbClr val="4E95D9"/>
                </a:solidFill>
                <a:effectLst/>
                <a:latin typeface="Calibri" panose="020F0502020204030204" pitchFamily="34" charset="0"/>
                <a:cs typeface="Calibri" panose="020F0502020204030204" pitchFamily="34" charset="0"/>
              </a:rPr>
              <a:t> Efficient Scale</a:t>
            </a:r>
          </a:p>
          <a:p>
            <a:r>
              <a:rPr lang="en-US" sz="1800" dirty="0">
                <a:latin typeface="Calibri" panose="020F0502020204030204" pitchFamily="34" charset="0"/>
                <a:cs typeface="Calibri" panose="020F0502020204030204" pitchFamily="34" charset="0"/>
              </a:rPr>
              <a:t>Mastercard</a:t>
            </a:r>
            <a:r>
              <a:rPr lang="en-US" sz="1800" b="0" i="0" dirty="0">
                <a:effectLst/>
                <a:latin typeface="Calibri" panose="020F0502020204030204" pitchFamily="34" charset="0"/>
                <a:cs typeface="Calibri" panose="020F0502020204030204" pitchFamily="34" charset="0"/>
              </a:rPr>
              <a:t>'s efficient scale is evident as it handles billions of transactions with minimal incremental cost. Its infrastructure supports massive volumes, deterring potential competitors due to the high entry costs.</a:t>
            </a:r>
          </a:p>
          <a:p>
            <a:pPr>
              <a:buFont typeface="Wingdings" pitchFamily="2" charset="2"/>
              <a:buChar char="v"/>
            </a:pPr>
            <a:r>
              <a:rPr lang="en-US" sz="1800" b="1" dirty="0">
                <a:solidFill>
                  <a:srgbClr val="4E95D9"/>
                </a:solidFill>
                <a:latin typeface="Calibri" panose="020F0502020204030204" pitchFamily="34" charset="0"/>
                <a:cs typeface="Calibri" panose="020F0502020204030204" pitchFamily="34" charset="0"/>
              </a:rPr>
              <a:t>The 2</a:t>
            </a:r>
            <a:r>
              <a:rPr lang="en-US" sz="1800" b="1" baseline="30000" dirty="0">
                <a:solidFill>
                  <a:srgbClr val="4E95D9"/>
                </a:solidFill>
                <a:latin typeface="Calibri" panose="020F0502020204030204" pitchFamily="34" charset="0"/>
                <a:cs typeface="Calibri" panose="020F0502020204030204" pitchFamily="34" charset="0"/>
              </a:rPr>
              <a:t>nd</a:t>
            </a:r>
            <a:r>
              <a:rPr lang="en-US" sz="1800" b="1" dirty="0">
                <a:solidFill>
                  <a:srgbClr val="4E95D9"/>
                </a:solidFill>
                <a:latin typeface="Calibri" panose="020F0502020204030204" pitchFamily="34" charset="0"/>
                <a:cs typeface="Calibri" panose="020F0502020204030204" pitchFamily="34" charset="0"/>
              </a:rPr>
              <a:t> Widest Moat </a:t>
            </a:r>
          </a:p>
          <a:p>
            <a:r>
              <a:rPr lang="en-US" sz="1800" dirty="0">
                <a:latin typeface="Calibri" panose="020F0502020204030204" pitchFamily="34" charset="0"/>
                <a:cs typeface="Calibri" panose="020F0502020204030204" pitchFamily="34" charset="0"/>
              </a:rPr>
              <a:t>Mastercard has the 2</a:t>
            </a:r>
            <a:r>
              <a:rPr lang="en-US" sz="1800" baseline="30000" dirty="0">
                <a:latin typeface="Calibri" panose="020F0502020204030204" pitchFamily="34" charset="0"/>
                <a:cs typeface="Calibri" panose="020F0502020204030204" pitchFamily="34" charset="0"/>
              </a:rPr>
              <a:t>nd</a:t>
            </a:r>
            <a:r>
              <a:rPr lang="en-US" sz="1800" dirty="0">
                <a:latin typeface="Calibri" panose="020F0502020204030204" pitchFamily="34" charset="0"/>
                <a:cs typeface="Calibri" panose="020F0502020204030204" pitchFamily="34" charset="0"/>
              </a:rPr>
              <a:t> biggest network and the 2</a:t>
            </a:r>
            <a:r>
              <a:rPr lang="en-US" sz="1800" baseline="30000" dirty="0">
                <a:latin typeface="Calibri" panose="020F0502020204030204" pitchFamily="34" charset="0"/>
                <a:cs typeface="Calibri" panose="020F0502020204030204" pitchFamily="34" charset="0"/>
              </a:rPr>
              <a:t>nd</a:t>
            </a:r>
            <a:r>
              <a:rPr lang="en-US" sz="1800" dirty="0">
                <a:latin typeface="Calibri" panose="020F0502020204030204" pitchFamily="34" charset="0"/>
                <a:cs typeface="Calibri" panose="020F0502020204030204" pitchFamily="34" charset="0"/>
              </a:rPr>
              <a:t> widest moat in the payment processing industry. </a:t>
            </a:r>
          </a:p>
          <a:p>
            <a:pPr>
              <a:buFont typeface="Wingdings" pitchFamily="2" charset="2"/>
              <a:buChar char="v"/>
            </a:pPr>
            <a:r>
              <a:rPr lang="en-US" sz="1800" b="1" i="0" dirty="0">
                <a:solidFill>
                  <a:srgbClr val="4E95D9"/>
                </a:solidFill>
                <a:effectLst/>
                <a:latin typeface="Calibri" panose="020F0502020204030204" pitchFamily="34" charset="0"/>
                <a:cs typeface="Calibri" panose="020F0502020204030204" pitchFamily="34" charset="0"/>
              </a:rPr>
              <a:t>The 2</a:t>
            </a:r>
            <a:r>
              <a:rPr lang="en-US" sz="1800" b="1" i="0" baseline="30000" dirty="0">
                <a:solidFill>
                  <a:srgbClr val="4E95D9"/>
                </a:solidFill>
                <a:effectLst/>
                <a:latin typeface="Calibri" panose="020F0502020204030204" pitchFamily="34" charset="0"/>
                <a:cs typeface="Calibri" panose="020F0502020204030204" pitchFamily="34" charset="0"/>
              </a:rPr>
              <a:t>nd</a:t>
            </a:r>
            <a:r>
              <a:rPr lang="en-US" sz="1800" b="1" i="0" dirty="0">
                <a:solidFill>
                  <a:srgbClr val="4E95D9"/>
                </a:solidFill>
                <a:effectLst/>
                <a:latin typeface="Calibri" panose="020F0502020204030204" pitchFamily="34" charset="0"/>
                <a:cs typeface="Calibri" panose="020F0502020204030204" pitchFamily="34" charset="0"/>
              </a:rPr>
              <a:t> Most Dominant Player </a:t>
            </a:r>
          </a:p>
          <a:p>
            <a:r>
              <a:rPr lang="en-US" sz="1800" dirty="0">
                <a:latin typeface="Calibri" panose="020F0502020204030204" pitchFamily="34" charset="0"/>
                <a:cs typeface="Calibri" panose="020F0502020204030204" pitchFamily="34" charset="0"/>
              </a:rPr>
              <a:t>Mastercard</a:t>
            </a:r>
            <a:r>
              <a:rPr lang="en-US" sz="1800" i="0" dirty="0">
                <a:effectLst/>
                <a:latin typeface="Calibri" panose="020F0502020204030204" pitchFamily="34" charset="0"/>
                <a:cs typeface="Calibri" panose="020F0502020204030204" pitchFamily="34" charset="0"/>
              </a:rPr>
              <a:t> is the 2</a:t>
            </a:r>
            <a:r>
              <a:rPr lang="en-US" sz="1800" i="0" baseline="30000" dirty="0">
                <a:effectLst/>
                <a:latin typeface="Calibri" panose="020F0502020204030204" pitchFamily="34" charset="0"/>
                <a:cs typeface="Calibri" panose="020F0502020204030204" pitchFamily="34" charset="0"/>
              </a:rPr>
              <a:t>nd</a:t>
            </a:r>
            <a:r>
              <a:rPr lang="en-US" sz="1800" i="0" dirty="0">
                <a:effectLst/>
                <a:latin typeface="Calibri" panose="020F0502020204030204" pitchFamily="34" charset="0"/>
                <a:cs typeface="Calibri" panose="020F0502020204030204" pitchFamily="34" charset="0"/>
              </a:rPr>
              <a:t> most dominant player in the Global Payment Processing industry.</a:t>
            </a:r>
          </a:p>
          <a:p>
            <a:pPr marL="0" indent="0">
              <a:buNone/>
            </a:pPr>
            <a:endParaRPr lang="en-US" sz="1800" b="0" i="0" dirty="0">
              <a:effectLst/>
              <a:latin typeface="Calibri" panose="020F0502020204030204" pitchFamily="34" charset="0"/>
              <a:cs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1069491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D9A6A-E2F5-0A84-89E3-8578AC23CC17}"/>
              </a:ext>
            </a:extLst>
          </p:cNvPr>
          <p:cNvSpPr>
            <a:spLocks noGrp="1"/>
          </p:cNvSpPr>
          <p:nvPr>
            <p:ph type="title"/>
          </p:nvPr>
        </p:nvSpPr>
        <p:spPr>
          <a:xfrm>
            <a:off x="838200" y="365126"/>
            <a:ext cx="10251558" cy="676865"/>
          </a:xfrm>
        </p:spPr>
        <p:txBody>
          <a:bodyPr>
            <a:normAutofit/>
          </a:bodyPr>
          <a:lstStyle/>
          <a:p>
            <a:r>
              <a:rPr lang="en-US" sz="2800" b="1" dirty="0">
                <a:solidFill>
                  <a:schemeClr val="tx2">
                    <a:lumMod val="90000"/>
                    <a:lumOff val="10000"/>
                  </a:schemeClr>
                </a:solidFill>
                <a:latin typeface="Calibri" panose="020F0502020204030204" pitchFamily="34" charset="0"/>
                <a:cs typeface="Calibri" panose="020F0502020204030204" pitchFamily="34" charset="0"/>
              </a:rPr>
              <a:t>Business Description</a:t>
            </a:r>
          </a:p>
        </p:txBody>
      </p:sp>
      <p:sp>
        <p:nvSpPr>
          <p:cNvPr id="3" name="Content Placeholder 2">
            <a:extLst>
              <a:ext uri="{FF2B5EF4-FFF2-40B4-BE49-F238E27FC236}">
                <a16:creationId xmlns:a16="http://schemas.microsoft.com/office/drawing/2014/main" id="{5246AF44-CD47-F122-68A5-87C6BE034101}"/>
              </a:ext>
            </a:extLst>
          </p:cNvPr>
          <p:cNvSpPr>
            <a:spLocks noGrp="1"/>
          </p:cNvSpPr>
          <p:nvPr>
            <p:ph idx="1"/>
          </p:nvPr>
        </p:nvSpPr>
        <p:spPr>
          <a:xfrm>
            <a:off x="723015" y="1041991"/>
            <a:ext cx="11100390" cy="5450883"/>
          </a:xfrm>
        </p:spPr>
        <p:txBody>
          <a:bodyPr>
            <a:normAutofit/>
          </a:bodyPr>
          <a:lstStyle/>
          <a:p>
            <a:r>
              <a:rPr lang="en-US" sz="2200" b="1" i="0" dirty="0">
                <a:effectLst/>
                <a:latin typeface="Calibri" panose="020F0502020204030204" pitchFamily="34" charset="0"/>
                <a:cs typeface="Calibri" panose="020F0502020204030204" pitchFamily="34" charset="0"/>
              </a:rPr>
              <a:t>Mastercard Inc. (NYSE:MA) </a:t>
            </a:r>
            <a:r>
              <a:rPr lang="en-US" sz="2200" b="0" i="0" dirty="0">
                <a:effectLst/>
                <a:latin typeface="Calibri" panose="020F0502020204030204" pitchFamily="34" charset="0"/>
                <a:cs typeface="Calibri" panose="020F0502020204030204" pitchFamily="34" charset="0"/>
              </a:rPr>
              <a:t>is a leading global payment solutions company that provides an array of services in support of credit, debit, mobile, web-based and contactless payments, and other related electronic payment programs to financial institutions and other entities.</a:t>
            </a:r>
          </a:p>
          <a:p>
            <a:r>
              <a:rPr lang="en-US" sz="2200" b="0" i="0" dirty="0">
                <a:effectLst/>
                <a:latin typeface="Calibri" panose="020F0502020204030204" pitchFamily="34" charset="0"/>
                <a:cs typeface="Calibri" panose="020F0502020204030204" pitchFamily="34" charset="0"/>
              </a:rPr>
              <a:t>The company's payment solutions include payment programs, marketing, product development, technology, processing, consulting and information services. It also provides worldwide transaction processing and other payment-related services, which include facilitating the authorization, clearing and settlement process of transactions, as well as processing cross-border and currency conversion transactions.</a:t>
            </a:r>
          </a:p>
          <a:p>
            <a:r>
              <a:rPr lang="en-US" sz="2200" b="0" i="0" dirty="0">
                <a:effectLst/>
                <a:latin typeface="Calibri" panose="020F0502020204030204" pitchFamily="34" charset="0"/>
                <a:cs typeface="Calibri" panose="020F0502020204030204" pitchFamily="34" charset="0"/>
              </a:rPr>
              <a:t>Mastercard has one reportable operating segment, </a:t>
            </a:r>
            <a:r>
              <a:rPr lang="en-US" sz="2200" b="1" i="0" dirty="0">
                <a:effectLst/>
                <a:latin typeface="Calibri" panose="020F0502020204030204" pitchFamily="34" charset="0"/>
                <a:cs typeface="Calibri" panose="020F0502020204030204" pitchFamily="34" charset="0"/>
              </a:rPr>
              <a:t>Payment Solutions</a:t>
            </a:r>
            <a:r>
              <a:rPr lang="en-US" sz="2200" b="0" i="0" dirty="0">
                <a:effectLst/>
                <a:latin typeface="Calibri" panose="020F0502020204030204" pitchFamily="34" charset="0"/>
                <a:cs typeface="Calibri" panose="020F0502020204030204" pitchFamily="34" charset="0"/>
              </a:rPr>
              <a:t>. The company manages and licenses payment card brands including MasterCard, Maestro and Cirrus.</a:t>
            </a:r>
          </a:p>
          <a:p>
            <a:r>
              <a:rPr lang="en-US" sz="2200" b="0" i="0" dirty="0">
                <a:effectLst/>
                <a:latin typeface="Calibri" panose="020F0502020204030204" pitchFamily="34" charset="0"/>
                <a:cs typeface="Calibri" panose="020F0502020204030204" pitchFamily="34" charset="0"/>
              </a:rPr>
              <a:t>The company was founded in November 1966 and is headquartered in Purchase, NY.</a:t>
            </a:r>
          </a:p>
          <a:p>
            <a:r>
              <a:rPr lang="en-US" sz="2200" dirty="0">
                <a:latin typeface="Calibri" panose="020F0502020204030204" pitchFamily="34" charset="0"/>
                <a:cs typeface="Calibri" panose="020F0502020204030204" pitchFamily="34" charset="0"/>
              </a:rPr>
              <a:t>Mastercard went public through an IPO in 2006.</a:t>
            </a:r>
          </a:p>
          <a:p>
            <a:r>
              <a:rPr lang="en-US" sz="2200" dirty="0">
                <a:latin typeface="Calibri" panose="020F0502020204030204" pitchFamily="34" charset="0"/>
                <a:cs typeface="Calibri" panose="020F0502020204030204" pitchFamily="34" charset="0"/>
              </a:rPr>
              <a:t>The company has a market cap of $510.001 billion and 35,300 employees.</a:t>
            </a:r>
          </a:p>
        </p:txBody>
      </p:sp>
    </p:spTree>
    <p:extLst>
      <p:ext uri="{BB962C8B-B14F-4D97-AF65-F5344CB8AC3E}">
        <p14:creationId xmlns:p14="http://schemas.microsoft.com/office/powerpoint/2010/main" val="469637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62CD98-2B7F-B580-9FE6-B9838DAEBAD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Mastercard 2024 Snapshot</a:t>
            </a:r>
          </a:p>
        </p:txBody>
      </p:sp>
      <p:pic>
        <p:nvPicPr>
          <p:cNvPr id="5" name="Content Placeholder 4" descr="A screenshot of a screen&#10;&#10;AI-generated content may be incorrect.">
            <a:extLst>
              <a:ext uri="{FF2B5EF4-FFF2-40B4-BE49-F238E27FC236}">
                <a16:creationId xmlns:a16="http://schemas.microsoft.com/office/drawing/2014/main" id="{E6D823B3-F141-E3EE-3B33-F2DCEC7FF8D2}"/>
              </a:ext>
            </a:extLst>
          </p:cNvPr>
          <p:cNvPicPr>
            <a:picLocks noGrp="1" noChangeAspect="1"/>
          </p:cNvPicPr>
          <p:nvPr>
            <p:ph idx="1"/>
          </p:nvPr>
        </p:nvPicPr>
        <p:blipFill>
          <a:blip r:embed="rId2"/>
          <a:stretch>
            <a:fillRect/>
          </a:stretch>
        </p:blipFill>
        <p:spPr>
          <a:xfrm>
            <a:off x="1950528" y="1675227"/>
            <a:ext cx="8290944" cy="4394199"/>
          </a:xfrm>
          <a:prstGeom prst="rect">
            <a:avLst/>
          </a:prstGeom>
        </p:spPr>
      </p:pic>
    </p:spTree>
    <p:extLst>
      <p:ext uri="{BB962C8B-B14F-4D97-AF65-F5344CB8AC3E}">
        <p14:creationId xmlns:p14="http://schemas.microsoft.com/office/powerpoint/2010/main" val="1317318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financial chart&#10;&#10;AI-generated content may be incorrect.">
            <a:extLst>
              <a:ext uri="{FF2B5EF4-FFF2-40B4-BE49-F238E27FC236}">
                <a16:creationId xmlns:a16="http://schemas.microsoft.com/office/drawing/2014/main" id="{B3E3C7C6-814A-BF9B-BE9F-104B25E46EAD}"/>
              </a:ext>
            </a:extLst>
          </p:cNvPr>
          <p:cNvPicPr>
            <a:picLocks noGrp="1" noChangeAspect="1"/>
          </p:cNvPicPr>
          <p:nvPr>
            <p:ph idx="1"/>
          </p:nvPr>
        </p:nvPicPr>
        <p:blipFill>
          <a:blip r:embed="rId2"/>
          <a:stretch>
            <a:fillRect/>
          </a:stretch>
        </p:blipFill>
        <p:spPr>
          <a:xfrm>
            <a:off x="797442" y="210578"/>
            <a:ext cx="10324214" cy="6316973"/>
          </a:xfrm>
        </p:spPr>
      </p:pic>
    </p:spTree>
    <p:extLst>
      <p:ext uri="{BB962C8B-B14F-4D97-AF65-F5344CB8AC3E}">
        <p14:creationId xmlns:p14="http://schemas.microsoft.com/office/powerpoint/2010/main" val="1113310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8F3D966C-ABDC-E2C1-79B5-126FAC0FCA9B}"/>
              </a:ext>
            </a:extLst>
          </p:cNvPr>
          <p:cNvPicPr>
            <a:picLocks noGrp="1" noChangeAspect="1"/>
          </p:cNvPicPr>
          <p:nvPr>
            <p:ph idx="1"/>
          </p:nvPr>
        </p:nvPicPr>
        <p:blipFill>
          <a:blip r:embed="rId2"/>
          <a:stretch>
            <a:fillRect/>
          </a:stretch>
        </p:blipFill>
        <p:spPr>
          <a:xfrm>
            <a:off x="1891419" y="643466"/>
            <a:ext cx="8409161" cy="5571067"/>
          </a:xfrm>
          <a:prstGeom prst="rect">
            <a:avLst/>
          </a:prstGeom>
        </p:spPr>
      </p:pic>
    </p:spTree>
    <p:extLst>
      <p:ext uri="{BB962C8B-B14F-4D97-AF65-F5344CB8AC3E}">
        <p14:creationId xmlns:p14="http://schemas.microsoft.com/office/powerpoint/2010/main" val="287279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58FDE50E-72E5-8DB2-9A29-9B6AA8412A91}"/>
              </a:ext>
            </a:extLst>
          </p:cNvPr>
          <p:cNvPicPr>
            <a:picLocks noGrp="1" noChangeAspect="1"/>
          </p:cNvPicPr>
          <p:nvPr>
            <p:ph idx="1"/>
          </p:nvPr>
        </p:nvPicPr>
        <p:blipFill>
          <a:blip r:embed="rId2"/>
          <a:stretch>
            <a:fillRect/>
          </a:stretch>
        </p:blipFill>
        <p:spPr>
          <a:xfrm>
            <a:off x="2186479" y="643466"/>
            <a:ext cx="7819042" cy="5571067"/>
          </a:xfrm>
          <a:prstGeom prst="rect">
            <a:avLst/>
          </a:prstGeom>
        </p:spPr>
      </p:pic>
    </p:spTree>
    <p:extLst>
      <p:ext uri="{BB962C8B-B14F-4D97-AF65-F5344CB8AC3E}">
        <p14:creationId xmlns:p14="http://schemas.microsoft.com/office/powerpoint/2010/main" val="1653650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A0FF20B-F562-B0B8-FD12-1647FA38155A}"/>
              </a:ext>
            </a:extLst>
          </p:cNvPr>
          <p:cNvGraphicFramePr>
            <a:graphicFrameLocks noGrp="1"/>
          </p:cNvGraphicFramePr>
          <p:nvPr>
            <p:ph idx="1"/>
            <p:extLst>
              <p:ext uri="{D42A27DB-BD31-4B8C-83A1-F6EECF244321}">
                <p14:modId xmlns:p14="http://schemas.microsoft.com/office/powerpoint/2010/main" val="1706216898"/>
              </p:ext>
            </p:extLst>
          </p:nvPr>
        </p:nvGraphicFramePr>
        <p:xfrm>
          <a:off x="584791" y="574158"/>
          <a:ext cx="11025962" cy="585854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68254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E529531B-918D-48AD-23BD-550C46E43E5C}"/>
              </a:ext>
            </a:extLst>
          </p:cNvPr>
          <p:cNvGraphicFramePr>
            <a:graphicFrameLocks noGrp="1"/>
          </p:cNvGraphicFramePr>
          <p:nvPr>
            <p:ph idx="1"/>
            <p:extLst>
              <p:ext uri="{D42A27DB-BD31-4B8C-83A1-F6EECF244321}">
                <p14:modId xmlns:p14="http://schemas.microsoft.com/office/powerpoint/2010/main" val="498082800"/>
              </p:ext>
            </p:extLst>
          </p:nvPr>
        </p:nvGraphicFramePr>
        <p:xfrm>
          <a:off x="500063" y="382588"/>
          <a:ext cx="11015662" cy="59118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96328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een line graph with numbers and a blue and white background&#10;&#10;AI-generated content may be incorrect.">
            <a:extLst>
              <a:ext uri="{FF2B5EF4-FFF2-40B4-BE49-F238E27FC236}">
                <a16:creationId xmlns:a16="http://schemas.microsoft.com/office/drawing/2014/main" id="{8483B754-E4C2-39AE-8C1D-0EAFAACA9C38}"/>
              </a:ext>
            </a:extLst>
          </p:cNvPr>
          <p:cNvPicPr>
            <a:picLocks noGrp="1" noChangeAspect="1"/>
          </p:cNvPicPr>
          <p:nvPr>
            <p:ph idx="1"/>
          </p:nvPr>
        </p:nvPicPr>
        <p:blipFill>
          <a:blip r:embed="rId2"/>
          <a:stretch>
            <a:fillRect/>
          </a:stretch>
        </p:blipFill>
        <p:spPr>
          <a:xfrm>
            <a:off x="643467" y="784522"/>
            <a:ext cx="10905066" cy="5288954"/>
          </a:xfrm>
          <a:prstGeom prst="rect">
            <a:avLst/>
          </a:prstGeom>
        </p:spPr>
      </p:pic>
    </p:spTree>
    <p:extLst>
      <p:ext uri="{BB962C8B-B14F-4D97-AF65-F5344CB8AC3E}">
        <p14:creationId xmlns:p14="http://schemas.microsoft.com/office/powerpoint/2010/main" val="1962107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green line&#10;&#10;AI-generated content may be incorrect.">
            <a:extLst>
              <a:ext uri="{FF2B5EF4-FFF2-40B4-BE49-F238E27FC236}">
                <a16:creationId xmlns:a16="http://schemas.microsoft.com/office/drawing/2014/main" id="{FE2BCDE0-BEFC-DAAF-9458-4079D524A5F5}"/>
              </a:ext>
            </a:extLst>
          </p:cNvPr>
          <p:cNvPicPr>
            <a:picLocks noGrp="1" noChangeAspect="1"/>
          </p:cNvPicPr>
          <p:nvPr>
            <p:ph idx="1"/>
          </p:nvPr>
        </p:nvPicPr>
        <p:blipFill>
          <a:blip r:embed="rId2"/>
          <a:stretch>
            <a:fillRect/>
          </a:stretch>
        </p:blipFill>
        <p:spPr>
          <a:xfrm>
            <a:off x="643467" y="784522"/>
            <a:ext cx="10905066" cy="5288954"/>
          </a:xfrm>
          <a:prstGeom prst="rect">
            <a:avLst/>
          </a:prstGeom>
        </p:spPr>
      </p:pic>
    </p:spTree>
    <p:extLst>
      <p:ext uri="{BB962C8B-B14F-4D97-AF65-F5344CB8AC3E}">
        <p14:creationId xmlns:p14="http://schemas.microsoft.com/office/powerpoint/2010/main" val="1687397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green line&#10;&#10;AI-generated content may be incorrect.">
            <a:extLst>
              <a:ext uri="{FF2B5EF4-FFF2-40B4-BE49-F238E27FC236}">
                <a16:creationId xmlns:a16="http://schemas.microsoft.com/office/drawing/2014/main" id="{741222DC-2ED0-79BE-81D3-87DE9987DA9E}"/>
              </a:ext>
            </a:extLst>
          </p:cNvPr>
          <p:cNvPicPr>
            <a:picLocks noGrp="1" noChangeAspect="1"/>
          </p:cNvPicPr>
          <p:nvPr>
            <p:ph idx="1"/>
          </p:nvPr>
        </p:nvPicPr>
        <p:blipFill>
          <a:blip r:embed="rId2"/>
          <a:stretch>
            <a:fillRect/>
          </a:stretch>
        </p:blipFill>
        <p:spPr>
          <a:xfrm>
            <a:off x="643467" y="784522"/>
            <a:ext cx="10905066" cy="5288954"/>
          </a:xfrm>
          <a:prstGeom prst="rect">
            <a:avLst/>
          </a:prstGeom>
        </p:spPr>
      </p:pic>
    </p:spTree>
    <p:extLst>
      <p:ext uri="{BB962C8B-B14F-4D97-AF65-F5344CB8AC3E}">
        <p14:creationId xmlns:p14="http://schemas.microsoft.com/office/powerpoint/2010/main" val="2946741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8D31A6A-3E06-2ED9-9D8F-35A9EEA2024B}"/>
              </a:ext>
            </a:extLst>
          </p:cNvPr>
          <p:cNvGraphicFramePr>
            <a:graphicFrameLocks noGrp="1"/>
          </p:cNvGraphicFramePr>
          <p:nvPr>
            <p:ph idx="1"/>
            <p:extLst>
              <p:ext uri="{D42A27DB-BD31-4B8C-83A1-F6EECF244321}">
                <p14:modId xmlns:p14="http://schemas.microsoft.com/office/powerpoint/2010/main" val="2290523666"/>
              </p:ext>
            </p:extLst>
          </p:nvPr>
        </p:nvGraphicFramePr>
        <p:xfrm>
          <a:off x="574675" y="468313"/>
          <a:ext cx="10779125" cy="57086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40637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9B3ABE4-AA3A-C672-7AC2-251500A6F450}"/>
              </a:ext>
            </a:extLst>
          </p:cNvPr>
          <p:cNvGraphicFramePr>
            <a:graphicFrameLocks noGrp="1"/>
          </p:cNvGraphicFramePr>
          <p:nvPr>
            <p:ph idx="1"/>
          </p:nvPr>
        </p:nvGraphicFramePr>
        <p:xfrm>
          <a:off x="595313" y="595313"/>
          <a:ext cx="11047412" cy="57197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18604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blue squares&#10;&#10;AI-generated content may be incorrect.">
            <a:extLst>
              <a:ext uri="{FF2B5EF4-FFF2-40B4-BE49-F238E27FC236}">
                <a16:creationId xmlns:a16="http://schemas.microsoft.com/office/drawing/2014/main" id="{63344797-5B57-AE59-49FC-A637EC8A9780}"/>
              </a:ext>
            </a:extLst>
          </p:cNvPr>
          <p:cNvPicPr>
            <a:picLocks noGrp="1" noChangeAspect="1"/>
          </p:cNvPicPr>
          <p:nvPr>
            <p:ph idx="1"/>
          </p:nvPr>
        </p:nvPicPr>
        <p:blipFill>
          <a:blip r:embed="rId2"/>
          <a:stretch>
            <a:fillRect/>
          </a:stretch>
        </p:blipFill>
        <p:spPr>
          <a:xfrm>
            <a:off x="643467" y="1084411"/>
            <a:ext cx="10905066" cy="4689176"/>
          </a:xfrm>
          <a:prstGeom prst="rect">
            <a:avLst/>
          </a:prstGeom>
        </p:spPr>
      </p:pic>
      <p:sp>
        <p:nvSpPr>
          <p:cNvPr id="6" name="TextBox 5">
            <a:extLst>
              <a:ext uri="{FF2B5EF4-FFF2-40B4-BE49-F238E27FC236}">
                <a16:creationId xmlns:a16="http://schemas.microsoft.com/office/drawing/2014/main" id="{885041D8-47DB-CFA8-F0D3-ABEFB312A032}"/>
              </a:ext>
            </a:extLst>
          </p:cNvPr>
          <p:cNvSpPr txBox="1"/>
          <p:nvPr/>
        </p:nvSpPr>
        <p:spPr>
          <a:xfrm>
            <a:off x="8431619" y="3561907"/>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12.08%</a:t>
            </a:r>
          </a:p>
        </p:txBody>
      </p:sp>
      <p:sp>
        <p:nvSpPr>
          <p:cNvPr id="7" name="TextBox 6">
            <a:extLst>
              <a:ext uri="{FF2B5EF4-FFF2-40B4-BE49-F238E27FC236}">
                <a16:creationId xmlns:a16="http://schemas.microsoft.com/office/drawing/2014/main" id="{3A66FCFE-15B4-FBB5-F50E-7F9A255963B5}"/>
              </a:ext>
            </a:extLst>
          </p:cNvPr>
          <p:cNvSpPr txBox="1"/>
          <p:nvPr/>
        </p:nvSpPr>
        <p:spPr>
          <a:xfrm>
            <a:off x="6698511" y="3751605"/>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11.82%</a:t>
            </a:r>
          </a:p>
        </p:txBody>
      </p:sp>
      <p:sp>
        <p:nvSpPr>
          <p:cNvPr id="8" name="TextBox 7">
            <a:extLst>
              <a:ext uri="{FF2B5EF4-FFF2-40B4-BE49-F238E27FC236}">
                <a16:creationId xmlns:a16="http://schemas.microsoft.com/office/drawing/2014/main" id="{FC7865F7-2306-9E34-508F-686D4EFA3F17}"/>
              </a:ext>
            </a:extLst>
          </p:cNvPr>
          <p:cNvSpPr txBox="1"/>
          <p:nvPr/>
        </p:nvSpPr>
        <p:spPr>
          <a:xfrm>
            <a:off x="5071730" y="4182477"/>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11.32%</a:t>
            </a:r>
          </a:p>
        </p:txBody>
      </p:sp>
      <p:sp>
        <p:nvSpPr>
          <p:cNvPr id="9" name="TextBox 8">
            <a:extLst>
              <a:ext uri="{FF2B5EF4-FFF2-40B4-BE49-F238E27FC236}">
                <a16:creationId xmlns:a16="http://schemas.microsoft.com/office/drawing/2014/main" id="{1F240A94-64EF-8DFA-0E81-AAA10C4DA72B}"/>
              </a:ext>
            </a:extLst>
          </p:cNvPr>
          <p:cNvSpPr txBox="1"/>
          <p:nvPr/>
        </p:nvSpPr>
        <p:spPr>
          <a:xfrm>
            <a:off x="10090298" y="3582328"/>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12.01%</a:t>
            </a:r>
          </a:p>
        </p:txBody>
      </p:sp>
      <p:sp>
        <p:nvSpPr>
          <p:cNvPr id="10" name="TextBox 9">
            <a:extLst>
              <a:ext uri="{FF2B5EF4-FFF2-40B4-BE49-F238E27FC236}">
                <a16:creationId xmlns:a16="http://schemas.microsoft.com/office/drawing/2014/main" id="{4E7B86BF-9AD4-3B60-EC69-286ED04FD524}"/>
              </a:ext>
            </a:extLst>
          </p:cNvPr>
          <p:cNvSpPr txBox="1"/>
          <p:nvPr/>
        </p:nvSpPr>
        <p:spPr>
          <a:xfrm>
            <a:off x="3327991" y="2445489"/>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13.46%</a:t>
            </a:r>
          </a:p>
        </p:txBody>
      </p:sp>
    </p:spTree>
    <p:extLst>
      <p:ext uri="{BB962C8B-B14F-4D97-AF65-F5344CB8AC3E}">
        <p14:creationId xmlns:p14="http://schemas.microsoft.com/office/powerpoint/2010/main" val="1058311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B199E7C-941C-2641-4EB9-069A13557F9C}"/>
              </a:ext>
            </a:extLst>
          </p:cNvPr>
          <p:cNvGraphicFramePr>
            <a:graphicFrameLocks noGrp="1"/>
          </p:cNvGraphicFramePr>
          <p:nvPr>
            <p:ph idx="1"/>
            <p:extLst>
              <p:ext uri="{D42A27DB-BD31-4B8C-83A1-F6EECF244321}">
                <p14:modId xmlns:p14="http://schemas.microsoft.com/office/powerpoint/2010/main" val="2552090053"/>
              </p:ext>
            </p:extLst>
          </p:nvPr>
        </p:nvGraphicFramePr>
        <p:xfrm>
          <a:off x="574675" y="436563"/>
          <a:ext cx="10779125" cy="574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22157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E2FD4CB-FDB9-4998-A427-BBBB393D92F5}"/>
              </a:ext>
            </a:extLst>
          </p:cNvPr>
          <p:cNvGraphicFramePr>
            <a:graphicFrameLocks noGrp="1"/>
          </p:cNvGraphicFramePr>
          <p:nvPr>
            <p:ph idx="1"/>
            <p:extLst>
              <p:ext uri="{D42A27DB-BD31-4B8C-83A1-F6EECF244321}">
                <p14:modId xmlns:p14="http://schemas.microsoft.com/office/powerpoint/2010/main" val="1791116215"/>
              </p:ext>
            </p:extLst>
          </p:nvPr>
        </p:nvGraphicFramePr>
        <p:xfrm>
          <a:off x="393700" y="457200"/>
          <a:ext cx="11206163" cy="59007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84513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with blue squares&#10;&#10;AI-generated content may be incorrect.">
            <a:extLst>
              <a:ext uri="{FF2B5EF4-FFF2-40B4-BE49-F238E27FC236}">
                <a16:creationId xmlns:a16="http://schemas.microsoft.com/office/drawing/2014/main" id="{F3F41B59-C459-86A9-6CD6-69E3C3C96F7E}"/>
              </a:ext>
            </a:extLst>
          </p:cNvPr>
          <p:cNvPicPr>
            <a:picLocks noGrp="1" noChangeAspect="1"/>
          </p:cNvPicPr>
          <p:nvPr>
            <p:ph idx="1"/>
          </p:nvPr>
        </p:nvPicPr>
        <p:blipFill>
          <a:blip r:embed="rId2"/>
          <a:stretch>
            <a:fillRect/>
          </a:stretch>
        </p:blipFill>
        <p:spPr>
          <a:xfrm>
            <a:off x="643467" y="1084411"/>
            <a:ext cx="10905066" cy="4689176"/>
          </a:xfrm>
          <a:prstGeom prst="rect">
            <a:avLst/>
          </a:prstGeom>
        </p:spPr>
      </p:pic>
      <p:sp>
        <p:nvSpPr>
          <p:cNvPr id="6" name="TextBox 5">
            <a:extLst>
              <a:ext uri="{FF2B5EF4-FFF2-40B4-BE49-F238E27FC236}">
                <a16:creationId xmlns:a16="http://schemas.microsoft.com/office/drawing/2014/main" id="{78346F6F-5DDE-EC3B-F47A-E14DD8AA9680}"/>
              </a:ext>
            </a:extLst>
          </p:cNvPr>
          <p:cNvSpPr txBox="1"/>
          <p:nvPr/>
        </p:nvSpPr>
        <p:spPr>
          <a:xfrm>
            <a:off x="10058400" y="2456121"/>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18.22%</a:t>
            </a:r>
          </a:p>
        </p:txBody>
      </p:sp>
      <p:sp>
        <p:nvSpPr>
          <p:cNvPr id="7" name="TextBox 6">
            <a:extLst>
              <a:ext uri="{FF2B5EF4-FFF2-40B4-BE49-F238E27FC236}">
                <a16:creationId xmlns:a16="http://schemas.microsoft.com/office/drawing/2014/main" id="{9BD031AA-ADE3-8E0D-0ACF-B23E3516F125}"/>
              </a:ext>
            </a:extLst>
          </p:cNvPr>
          <p:cNvSpPr txBox="1"/>
          <p:nvPr/>
        </p:nvSpPr>
        <p:spPr>
          <a:xfrm>
            <a:off x="8410354" y="3179134"/>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15.30%</a:t>
            </a:r>
          </a:p>
        </p:txBody>
      </p:sp>
      <p:sp>
        <p:nvSpPr>
          <p:cNvPr id="8" name="TextBox 7">
            <a:extLst>
              <a:ext uri="{FF2B5EF4-FFF2-40B4-BE49-F238E27FC236}">
                <a16:creationId xmlns:a16="http://schemas.microsoft.com/office/drawing/2014/main" id="{DD5AC896-DAFA-9EBF-A473-41E1895A796F}"/>
              </a:ext>
            </a:extLst>
          </p:cNvPr>
          <p:cNvSpPr txBox="1"/>
          <p:nvPr/>
        </p:nvSpPr>
        <p:spPr>
          <a:xfrm>
            <a:off x="6815470" y="3668233"/>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13.30%</a:t>
            </a:r>
          </a:p>
        </p:txBody>
      </p:sp>
      <p:sp>
        <p:nvSpPr>
          <p:cNvPr id="9" name="TextBox 8">
            <a:extLst>
              <a:ext uri="{FF2B5EF4-FFF2-40B4-BE49-F238E27FC236}">
                <a16:creationId xmlns:a16="http://schemas.microsoft.com/office/drawing/2014/main" id="{C4FD4E3E-CD88-026B-E771-A06385800E1D}"/>
              </a:ext>
            </a:extLst>
          </p:cNvPr>
          <p:cNvSpPr txBox="1"/>
          <p:nvPr/>
        </p:nvSpPr>
        <p:spPr>
          <a:xfrm>
            <a:off x="5114261" y="4316818"/>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10.57%</a:t>
            </a:r>
          </a:p>
        </p:txBody>
      </p:sp>
      <p:sp>
        <p:nvSpPr>
          <p:cNvPr id="10" name="TextBox 9">
            <a:extLst>
              <a:ext uri="{FF2B5EF4-FFF2-40B4-BE49-F238E27FC236}">
                <a16:creationId xmlns:a16="http://schemas.microsoft.com/office/drawing/2014/main" id="{ECA26191-3965-4CC6-9B18-50DF78A9B076}"/>
              </a:ext>
            </a:extLst>
          </p:cNvPr>
          <p:cNvSpPr txBox="1"/>
          <p:nvPr/>
        </p:nvSpPr>
        <p:spPr>
          <a:xfrm>
            <a:off x="3402418" y="4147541"/>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11.47%</a:t>
            </a:r>
          </a:p>
        </p:txBody>
      </p:sp>
    </p:spTree>
    <p:extLst>
      <p:ext uri="{BB962C8B-B14F-4D97-AF65-F5344CB8AC3E}">
        <p14:creationId xmlns:p14="http://schemas.microsoft.com/office/powerpoint/2010/main" val="3726928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7A38218-A0DE-3FD1-8BE3-7B914FDA797F}"/>
              </a:ext>
            </a:extLst>
          </p:cNvPr>
          <p:cNvGraphicFramePr>
            <a:graphicFrameLocks noGrp="1"/>
          </p:cNvGraphicFramePr>
          <p:nvPr>
            <p:ph idx="1"/>
          </p:nvPr>
        </p:nvGraphicFramePr>
        <p:xfrm>
          <a:off x="542925" y="404813"/>
          <a:ext cx="10810875" cy="57721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59559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18621E9-D48B-EB1E-7A11-47E1ED533174}"/>
              </a:ext>
            </a:extLst>
          </p:cNvPr>
          <p:cNvGraphicFramePr>
            <a:graphicFrameLocks noGrp="1"/>
          </p:cNvGraphicFramePr>
          <p:nvPr>
            <p:ph idx="1"/>
            <p:extLst>
              <p:ext uri="{D42A27DB-BD31-4B8C-83A1-F6EECF244321}">
                <p14:modId xmlns:p14="http://schemas.microsoft.com/office/powerpoint/2010/main" val="2583018802"/>
              </p:ext>
            </p:extLst>
          </p:nvPr>
        </p:nvGraphicFramePr>
        <p:xfrm>
          <a:off x="371475" y="371475"/>
          <a:ext cx="10982325" cy="58054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09545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blue squares&#10;&#10;AI-generated content may be incorrect.">
            <a:extLst>
              <a:ext uri="{FF2B5EF4-FFF2-40B4-BE49-F238E27FC236}">
                <a16:creationId xmlns:a16="http://schemas.microsoft.com/office/drawing/2014/main" id="{B56819F9-7A93-5CA9-E3E7-CE73A1062296}"/>
              </a:ext>
            </a:extLst>
          </p:cNvPr>
          <p:cNvPicPr>
            <a:picLocks noGrp="1" noChangeAspect="1"/>
          </p:cNvPicPr>
          <p:nvPr>
            <p:ph idx="1"/>
          </p:nvPr>
        </p:nvPicPr>
        <p:blipFill>
          <a:blip r:embed="rId2"/>
          <a:stretch>
            <a:fillRect/>
          </a:stretch>
        </p:blipFill>
        <p:spPr>
          <a:xfrm>
            <a:off x="542925" y="999246"/>
            <a:ext cx="10810875" cy="4549946"/>
          </a:xfrm>
        </p:spPr>
      </p:pic>
      <p:sp>
        <p:nvSpPr>
          <p:cNvPr id="6" name="TextBox 5">
            <a:extLst>
              <a:ext uri="{FF2B5EF4-FFF2-40B4-BE49-F238E27FC236}">
                <a16:creationId xmlns:a16="http://schemas.microsoft.com/office/drawing/2014/main" id="{3572FFE2-6EE9-6EA0-FE7E-D66605E57D01}"/>
              </a:ext>
            </a:extLst>
          </p:cNvPr>
          <p:cNvSpPr txBox="1"/>
          <p:nvPr/>
        </p:nvSpPr>
        <p:spPr>
          <a:xfrm>
            <a:off x="9920177" y="3827722"/>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16.07%</a:t>
            </a:r>
          </a:p>
        </p:txBody>
      </p:sp>
      <p:sp>
        <p:nvSpPr>
          <p:cNvPr id="7" name="TextBox 6">
            <a:extLst>
              <a:ext uri="{FF2B5EF4-FFF2-40B4-BE49-F238E27FC236}">
                <a16:creationId xmlns:a16="http://schemas.microsoft.com/office/drawing/2014/main" id="{9FBEFBF9-A43E-DDF3-1D62-051BD23FE4B4}"/>
              </a:ext>
            </a:extLst>
          </p:cNvPr>
          <p:cNvSpPr txBox="1"/>
          <p:nvPr/>
        </p:nvSpPr>
        <p:spPr>
          <a:xfrm>
            <a:off x="8261498" y="3489168"/>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20.01%</a:t>
            </a:r>
          </a:p>
        </p:txBody>
      </p:sp>
      <p:sp>
        <p:nvSpPr>
          <p:cNvPr id="8" name="TextBox 7">
            <a:extLst>
              <a:ext uri="{FF2B5EF4-FFF2-40B4-BE49-F238E27FC236}">
                <a16:creationId xmlns:a16="http://schemas.microsoft.com/office/drawing/2014/main" id="{1913BC91-C9DE-C906-BF38-F32524B8F2EF}"/>
              </a:ext>
            </a:extLst>
          </p:cNvPr>
          <p:cNvSpPr txBox="1"/>
          <p:nvPr/>
        </p:nvSpPr>
        <p:spPr>
          <a:xfrm>
            <a:off x="6602819" y="3827722"/>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15.42%</a:t>
            </a:r>
          </a:p>
        </p:txBody>
      </p:sp>
      <p:sp>
        <p:nvSpPr>
          <p:cNvPr id="9" name="TextBox 8">
            <a:extLst>
              <a:ext uri="{FF2B5EF4-FFF2-40B4-BE49-F238E27FC236}">
                <a16:creationId xmlns:a16="http://schemas.microsoft.com/office/drawing/2014/main" id="{F0E57CF8-3A39-95CE-F259-0C60B135E98C}"/>
              </a:ext>
            </a:extLst>
          </p:cNvPr>
          <p:cNvSpPr txBox="1"/>
          <p:nvPr/>
        </p:nvSpPr>
        <p:spPr>
          <a:xfrm>
            <a:off x="4954772" y="4082902"/>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12.52%</a:t>
            </a:r>
          </a:p>
        </p:txBody>
      </p:sp>
      <p:sp>
        <p:nvSpPr>
          <p:cNvPr id="10" name="TextBox 9">
            <a:extLst>
              <a:ext uri="{FF2B5EF4-FFF2-40B4-BE49-F238E27FC236}">
                <a16:creationId xmlns:a16="http://schemas.microsoft.com/office/drawing/2014/main" id="{3B471484-F453-E604-AFD9-134700ECA8AC}"/>
              </a:ext>
            </a:extLst>
          </p:cNvPr>
          <p:cNvSpPr txBox="1"/>
          <p:nvPr/>
        </p:nvSpPr>
        <p:spPr>
          <a:xfrm>
            <a:off x="3253563" y="3658445"/>
            <a:ext cx="800219" cy="338554"/>
          </a:xfrm>
          <a:prstGeom prst="rect">
            <a:avLst/>
          </a:prstGeom>
          <a:noFill/>
        </p:spPr>
        <p:txBody>
          <a:bodyPr wrap="none" rtlCol="0">
            <a:spAutoFit/>
          </a:bodyPr>
          <a:lstStyle/>
          <a:p>
            <a:r>
              <a:rPr lang="en-US" sz="1600" dirty="0">
                <a:solidFill>
                  <a:srgbClr val="4E95D9"/>
                </a:solidFill>
                <a:latin typeface="Calibri" panose="020F0502020204030204" pitchFamily="34" charset="0"/>
                <a:cs typeface="Calibri" panose="020F0502020204030204" pitchFamily="34" charset="0"/>
              </a:rPr>
              <a:t>17.51%</a:t>
            </a:r>
          </a:p>
        </p:txBody>
      </p:sp>
    </p:spTree>
    <p:extLst>
      <p:ext uri="{BB962C8B-B14F-4D97-AF65-F5344CB8AC3E}">
        <p14:creationId xmlns:p14="http://schemas.microsoft.com/office/powerpoint/2010/main" val="30921436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different colored bars&#10;&#10;AI-generated content may be incorrect.">
            <a:extLst>
              <a:ext uri="{FF2B5EF4-FFF2-40B4-BE49-F238E27FC236}">
                <a16:creationId xmlns:a16="http://schemas.microsoft.com/office/drawing/2014/main" id="{0A393310-E2C0-95D4-2FBF-101103335893}"/>
              </a:ext>
            </a:extLst>
          </p:cNvPr>
          <p:cNvPicPr>
            <a:picLocks noGrp="1" noChangeAspect="1"/>
          </p:cNvPicPr>
          <p:nvPr>
            <p:ph idx="1"/>
          </p:nvPr>
        </p:nvPicPr>
        <p:blipFill>
          <a:blip r:embed="rId2"/>
          <a:stretch>
            <a:fillRect/>
          </a:stretch>
        </p:blipFill>
        <p:spPr>
          <a:xfrm>
            <a:off x="1275907" y="573021"/>
            <a:ext cx="9707526" cy="5800910"/>
          </a:xfrm>
          <a:prstGeom prst="rect">
            <a:avLst/>
          </a:prstGeom>
        </p:spPr>
      </p:pic>
    </p:spTree>
    <p:extLst>
      <p:ext uri="{BB962C8B-B14F-4D97-AF65-F5344CB8AC3E}">
        <p14:creationId xmlns:p14="http://schemas.microsoft.com/office/powerpoint/2010/main" val="2273610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stock market&#10;&#10;AI-generated content may be incorrect.">
            <a:extLst>
              <a:ext uri="{FF2B5EF4-FFF2-40B4-BE49-F238E27FC236}">
                <a16:creationId xmlns:a16="http://schemas.microsoft.com/office/drawing/2014/main" id="{9BD7957A-F46A-5E69-524C-BB0AE8D10D3B}"/>
              </a:ext>
            </a:extLst>
          </p:cNvPr>
          <p:cNvPicPr>
            <a:picLocks noGrp="1" noChangeAspect="1"/>
          </p:cNvPicPr>
          <p:nvPr>
            <p:ph idx="1"/>
          </p:nvPr>
        </p:nvPicPr>
        <p:blipFill>
          <a:blip r:embed="rId2"/>
          <a:stretch>
            <a:fillRect/>
          </a:stretch>
        </p:blipFill>
        <p:spPr>
          <a:xfrm>
            <a:off x="1222744" y="643466"/>
            <a:ext cx="9601200" cy="5742524"/>
          </a:xfrm>
          <a:prstGeom prst="rect">
            <a:avLst/>
          </a:prstGeom>
        </p:spPr>
      </p:pic>
    </p:spTree>
    <p:extLst>
      <p:ext uri="{BB962C8B-B14F-4D97-AF65-F5344CB8AC3E}">
        <p14:creationId xmlns:p14="http://schemas.microsoft.com/office/powerpoint/2010/main" val="1315338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CB8D2710-D6C7-117D-4CD2-F13BAA5FB693}"/>
              </a:ext>
            </a:extLst>
          </p:cNvPr>
          <p:cNvPicPr>
            <a:picLocks noGrp="1" noChangeAspect="1"/>
          </p:cNvPicPr>
          <p:nvPr>
            <p:ph idx="1"/>
          </p:nvPr>
        </p:nvPicPr>
        <p:blipFill>
          <a:blip r:embed="rId2"/>
          <a:stretch>
            <a:fillRect/>
          </a:stretch>
        </p:blipFill>
        <p:spPr>
          <a:xfrm>
            <a:off x="1121832" y="643466"/>
            <a:ext cx="9948336" cy="5571067"/>
          </a:xfrm>
          <a:prstGeom prst="rect">
            <a:avLst/>
          </a:prstGeom>
        </p:spPr>
      </p:pic>
    </p:spTree>
    <p:extLst>
      <p:ext uri="{BB962C8B-B14F-4D97-AF65-F5344CB8AC3E}">
        <p14:creationId xmlns:p14="http://schemas.microsoft.com/office/powerpoint/2010/main" val="24918200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phone&#10;&#10;AI-generated content may be incorrect.">
            <a:extLst>
              <a:ext uri="{FF2B5EF4-FFF2-40B4-BE49-F238E27FC236}">
                <a16:creationId xmlns:a16="http://schemas.microsoft.com/office/drawing/2014/main" id="{5FB5F718-9F1B-3544-7A39-050CC5FB3E8B}"/>
              </a:ext>
            </a:extLst>
          </p:cNvPr>
          <p:cNvPicPr>
            <a:picLocks noGrp="1" noChangeAspect="1"/>
          </p:cNvPicPr>
          <p:nvPr>
            <p:ph idx="1"/>
          </p:nvPr>
        </p:nvPicPr>
        <p:blipFill>
          <a:blip r:embed="rId2"/>
          <a:stretch>
            <a:fillRect/>
          </a:stretch>
        </p:blipFill>
        <p:spPr>
          <a:xfrm>
            <a:off x="643467" y="661840"/>
            <a:ext cx="10905066" cy="5534318"/>
          </a:xfrm>
          <a:prstGeom prst="rect">
            <a:avLst/>
          </a:prstGeom>
        </p:spPr>
      </p:pic>
    </p:spTree>
    <p:extLst>
      <p:ext uri="{BB962C8B-B14F-4D97-AF65-F5344CB8AC3E}">
        <p14:creationId xmlns:p14="http://schemas.microsoft.com/office/powerpoint/2010/main" val="41392331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number of bars&#10;&#10;AI-generated content may be incorrect.">
            <a:extLst>
              <a:ext uri="{FF2B5EF4-FFF2-40B4-BE49-F238E27FC236}">
                <a16:creationId xmlns:a16="http://schemas.microsoft.com/office/drawing/2014/main" id="{4B1597D3-E053-0EF7-E2F5-BE6C868369B7}"/>
              </a:ext>
            </a:extLst>
          </p:cNvPr>
          <p:cNvPicPr>
            <a:picLocks noGrp="1" noChangeAspect="1"/>
          </p:cNvPicPr>
          <p:nvPr>
            <p:ph idx="1"/>
          </p:nvPr>
        </p:nvPicPr>
        <p:blipFill>
          <a:blip r:embed="rId2"/>
          <a:stretch>
            <a:fillRect/>
          </a:stretch>
        </p:blipFill>
        <p:spPr>
          <a:xfrm>
            <a:off x="2014631" y="643466"/>
            <a:ext cx="8162737" cy="5571067"/>
          </a:xfrm>
          <a:prstGeom prst="rect">
            <a:avLst/>
          </a:prstGeom>
        </p:spPr>
      </p:pic>
    </p:spTree>
    <p:extLst>
      <p:ext uri="{BB962C8B-B14F-4D97-AF65-F5344CB8AC3E}">
        <p14:creationId xmlns:p14="http://schemas.microsoft.com/office/powerpoint/2010/main" val="5751683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Content Placeholder 8" descr="A graph of growth in blue&#10;&#10;AI-generated content may be incorrect.">
            <a:extLst>
              <a:ext uri="{FF2B5EF4-FFF2-40B4-BE49-F238E27FC236}">
                <a16:creationId xmlns:a16="http://schemas.microsoft.com/office/drawing/2014/main" id="{05F41594-50A2-AF90-3A3D-7D9A88B8E14C}"/>
              </a:ext>
            </a:extLst>
          </p:cNvPr>
          <p:cNvPicPr>
            <a:picLocks noGrp="1" noChangeAspect="1"/>
          </p:cNvPicPr>
          <p:nvPr>
            <p:ph idx="1"/>
          </p:nvPr>
        </p:nvPicPr>
        <p:blipFill>
          <a:blip r:embed="rId2"/>
          <a:stretch>
            <a:fillRect/>
          </a:stretch>
        </p:blipFill>
        <p:spPr>
          <a:xfrm>
            <a:off x="643467" y="661840"/>
            <a:ext cx="10905066" cy="5534318"/>
          </a:xfrm>
          <a:prstGeom prst="rect">
            <a:avLst/>
          </a:prstGeom>
        </p:spPr>
      </p:pic>
    </p:spTree>
    <p:extLst>
      <p:ext uri="{BB962C8B-B14F-4D97-AF65-F5344CB8AC3E}">
        <p14:creationId xmlns:p14="http://schemas.microsoft.com/office/powerpoint/2010/main" val="3811633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growing graph&#10;&#10;AI-generated content may be incorrect.">
            <a:extLst>
              <a:ext uri="{FF2B5EF4-FFF2-40B4-BE49-F238E27FC236}">
                <a16:creationId xmlns:a16="http://schemas.microsoft.com/office/drawing/2014/main" id="{B3D679E9-2B10-F7D2-2685-812D5BF011D5}"/>
              </a:ext>
            </a:extLst>
          </p:cNvPr>
          <p:cNvPicPr>
            <a:picLocks noGrp="1" noChangeAspect="1"/>
          </p:cNvPicPr>
          <p:nvPr>
            <p:ph idx="1"/>
          </p:nvPr>
        </p:nvPicPr>
        <p:blipFill>
          <a:blip r:embed="rId2"/>
          <a:stretch>
            <a:fillRect/>
          </a:stretch>
        </p:blipFill>
        <p:spPr>
          <a:xfrm>
            <a:off x="643467" y="648207"/>
            <a:ext cx="10905066" cy="5561584"/>
          </a:xfrm>
          <a:prstGeom prst="rect">
            <a:avLst/>
          </a:prstGeom>
        </p:spPr>
      </p:pic>
    </p:spTree>
    <p:extLst>
      <p:ext uri="{BB962C8B-B14F-4D97-AF65-F5344CB8AC3E}">
        <p14:creationId xmlns:p14="http://schemas.microsoft.com/office/powerpoint/2010/main" val="3950195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n a white background&#10;&#10;AI-generated content may be incorrect.">
            <a:extLst>
              <a:ext uri="{FF2B5EF4-FFF2-40B4-BE49-F238E27FC236}">
                <a16:creationId xmlns:a16="http://schemas.microsoft.com/office/drawing/2014/main" id="{8F0F000B-CE44-4D13-C1A7-47F4A92E8E1B}"/>
              </a:ext>
            </a:extLst>
          </p:cNvPr>
          <p:cNvPicPr>
            <a:picLocks noGrp="1" noChangeAspect="1"/>
          </p:cNvPicPr>
          <p:nvPr>
            <p:ph idx="1"/>
          </p:nvPr>
        </p:nvPicPr>
        <p:blipFill>
          <a:blip r:embed="rId2"/>
          <a:stretch>
            <a:fillRect/>
          </a:stretch>
        </p:blipFill>
        <p:spPr>
          <a:xfrm>
            <a:off x="643467" y="661840"/>
            <a:ext cx="10905066" cy="5534318"/>
          </a:xfrm>
          <a:prstGeom prst="rect">
            <a:avLst/>
          </a:prstGeom>
        </p:spPr>
      </p:pic>
    </p:spTree>
    <p:extLst>
      <p:ext uri="{BB962C8B-B14F-4D97-AF65-F5344CB8AC3E}">
        <p14:creationId xmlns:p14="http://schemas.microsoft.com/office/powerpoint/2010/main" val="35458667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showing a line&#10;&#10;AI-generated content may be incorrect.">
            <a:extLst>
              <a:ext uri="{FF2B5EF4-FFF2-40B4-BE49-F238E27FC236}">
                <a16:creationId xmlns:a16="http://schemas.microsoft.com/office/drawing/2014/main" id="{0EDBD331-E163-2FA0-F427-17219496EF7C}"/>
              </a:ext>
            </a:extLst>
          </p:cNvPr>
          <p:cNvPicPr>
            <a:picLocks noGrp="1" noChangeAspect="1"/>
          </p:cNvPicPr>
          <p:nvPr>
            <p:ph idx="1"/>
          </p:nvPr>
        </p:nvPicPr>
        <p:blipFill>
          <a:blip r:embed="rId2"/>
          <a:stretch>
            <a:fillRect/>
          </a:stretch>
        </p:blipFill>
        <p:spPr>
          <a:xfrm>
            <a:off x="643467" y="661840"/>
            <a:ext cx="10905066" cy="5534318"/>
          </a:xfrm>
          <a:prstGeom prst="rect">
            <a:avLst/>
          </a:prstGeom>
        </p:spPr>
      </p:pic>
    </p:spTree>
    <p:extLst>
      <p:ext uri="{BB962C8B-B14F-4D97-AF65-F5344CB8AC3E}">
        <p14:creationId xmlns:p14="http://schemas.microsoft.com/office/powerpoint/2010/main" val="2132027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graph&#10;&#10;AI-generated content may be incorrect.">
            <a:extLst>
              <a:ext uri="{FF2B5EF4-FFF2-40B4-BE49-F238E27FC236}">
                <a16:creationId xmlns:a16="http://schemas.microsoft.com/office/drawing/2014/main" id="{2468890E-DA66-F347-9C36-578AB2A31FD0}"/>
              </a:ext>
            </a:extLst>
          </p:cNvPr>
          <p:cNvPicPr>
            <a:picLocks noGrp="1" noChangeAspect="1"/>
          </p:cNvPicPr>
          <p:nvPr>
            <p:ph idx="1"/>
          </p:nvPr>
        </p:nvPicPr>
        <p:blipFill>
          <a:blip r:embed="rId2"/>
          <a:stretch>
            <a:fillRect/>
          </a:stretch>
        </p:blipFill>
        <p:spPr>
          <a:xfrm>
            <a:off x="2688619" y="643466"/>
            <a:ext cx="6814761" cy="5571067"/>
          </a:xfrm>
          <a:prstGeom prst="rect">
            <a:avLst/>
          </a:prstGeom>
        </p:spPr>
      </p:pic>
    </p:spTree>
    <p:extLst>
      <p:ext uri="{BB962C8B-B14F-4D97-AF65-F5344CB8AC3E}">
        <p14:creationId xmlns:p14="http://schemas.microsoft.com/office/powerpoint/2010/main" val="41439771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1D4D5-4726-F29E-CBD1-39A4207DCF82}"/>
              </a:ext>
            </a:extLst>
          </p:cNvPr>
          <p:cNvSpPr>
            <a:spLocks noGrp="1"/>
          </p:cNvSpPr>
          <p:nvPr>
            <p:ph type="title"/>
          </p:nvPr>
        </p:nvSpPr>
        <p:spPr>
          <a:xfrm>
            <a:off x="838200" y="365127"/>
            <a:ext cx="10634330" cy="857618"/>
          </a:xfrm>
        </p:spPr>
        <p:txBody>
          <a:bodyPr>
            <a:normAutofit/>
          </a:bodyPr>
          <a:lstStyle/>
          <a:p>
            <a:r>
              <a:rPr lang="en-US" sz="2400" b="1" dirty="0">
                <a:solidFill>
                  <a:srgbClr val="4E95D9"/>
                </a:solidFill>
                <a:latin typeface="Calibri" panose="020F0502020204030204" pitchFamily="34" charset="0"/>
                <a:cs typeface="Calibri" panose="020F0502020204030204" pitchFamily="34" charset="0"/>
              </a:rPr>
              <a:t>Mastercard Management Team</a:t>
            </a:r>
          </a:p>
        </p:txBody>
      </p:sp>
      <p:sp>
        <p:nvSpPr>
          <p:cNvPr id="3" name="Content Placeholder 2">
            <a:extLst>
              <a:ext uri="{FF2B5EF4-FFF2-40B4-BE49-F238E27FC236}">
                <a16:creationId xmlns:a16="http://schemas.microsoft.com/office/drawing/2014/main" id="{329F72A7-4D30-0B49-17ED-C6F5B3B27F00}"/>
              </a:ext>
            </a:extLst>
          </p:cNvPr>
          <p:cNvSpPr>
            <a:spLocks noGrp="1"/>
          </p:cNvSpPr>
          <p:nvPr>
            <p:ph idx="1"/>
          </p:nvPr>
        </p:nvSpPr>
        <p:spPr>
          <a:xfrm>
            <a:off x="699090" y="1222745"/>
            <a:ext cx="10793819" cy="5110640"/>
          </a:xfrm>
        </p:spPr>
        <p:txBody>
          <a:bodyPr>
            <a:normAutofit/>
          </a:bodyPr>
          <a:lstStyle/>
          <a:p>
            <a:r>
              <a:rPr lang="en-US" sz="2000" b="1" dirty="0">
                <a:solidFill>
                  <a:srgbClr val="4E95D9"/>
                </a:solidFill>
                <a:latin typeface="Calibri" panose="020F0502020204030204" pitchFamily="34" charset="0"/>
                <a:cs typeface="Calibri" panose="020F0502020204030204" pitchFamily="34" charset="0"/>
              </a:rPr>
              <a:t>President and</a:t>
            </a:r>
            <a:r>
              <a:rPr lang="en-US" sz="2000" b="0" i="0" dirty="0">
                <a:solidFill>
                  <a:srgbClr val="4E95D9"/>
                </a:solidFill>
                <a:effectLst/>
                <a:latin typeface="Calibri" panose="020F0502020204030204" pitchFamily="34" charset="0"/>
                <a:cs typeface="Calibri" panose="020F0502020204030204" pitchFamily="34" charset="0"/>
              </a:rPr>
              <a:t> </a:t>
            </a:r>
            <a:r>
              <a:rPr lang="en-US" sz="2000" b="1" dirty="0">
                <a:solidFill>
                  <a:srgbClr val="4E95D9"/>
                </a:solidFill>
                <a:latin typeface="Calibri" panose="020F0502020204030204" pitchFamily="34" charset="0"/>
                <a:cs typeface="Calibri" panose="020F0502020204030204" pitchFamily="34" charset="0"/>
              </a:rPr>
              <a:t>C</a:t>
            </a:r>
            <a:r>
              <a:rPr lang="en-US" sz="2000" b="1" i="0" dirty="0">
                <a:solidFill>
                  <a:srgbClr val="4E95D9"/>
                </a:solidFill>
                <a:effectLst/>
                <a:latin typeface="Calibri" panose="020F0502020204030204" pitchFamily="34" charset="0"/>
                <a:cs typeface="Calibri" panose="020F0502020204030204" pitchFamily="34" charset="0"/>
              </a:rPr>
              <a:t>hief Executive </a:t>
            </a:r>
            <a:r>
              <a:rPr lang="en-US" sz="2000" b="1" dirty="0">
                <a:solidFill>
                  <a:srgbClr val="4E95D9"/>
                </a:solidFill>
                <a:latin typeface="Calibri" panose="020F0502020204030204" pitchFamily="34" charset="0"/>
                <a:cs typeface="Calibri" panose="020F0502020204030204" pitchFamily="34" charset="0"/>
              </a:rPr>
              <a:t>O</a:t>
            </a:r>
            <a:r>
              <a:rPr lang="en-US" sz="2000" b="1" i="0" dirty="0">
                <a:solidFill>
                  <a:srgbClr val="4E95D9"/>
                </a:solidFill>
                <a:effectLst/>
                <a:latin typeface="Calibri" panose="020F0502020204030204" pitchFamily="34" charset="0"/>
                <a:cs typeface="Calibri" panose="020F0502020204030204" pitchFamily="34" charset="0"/>
              </a:rPr>
              <a:t>fficer: </a:t>
            </a:r>
            <a:r>
              <a:rPr lang="en-US" sz="2000" b="1" i="0" dirty="0">
                <a:effectLst/>
                <a:latin typeface="Calibri" panose="020F0502020204030204" pitchFamily="34" charset="0"/>
                <a:cs typeface="Calibri" panose="020F0502020204030204" pitchFamily="34" charset="0"/>
              </a:rPr>
              <a:t>Michael </a:t>
            </a:r>
            <a:r>
              <a:rPr lang="en-US" sz="2000" b="1" i="0" dirty="0" err="1">
                <a:effectLst/>
                <a:latin typeface="Calibri" panose="020F0502020204030204" pitchFamily="34" charset="0"/>
                <a:cs typeface="Calibri" panose="020F0502020204030204" pitchFamily="34" charset="0"/>
              </a:rPr>
              <a:t>Miebach</a:t>
            </a:r>
            <a:r>
              <a:rPr lang="en-US" sz="2000" b="1" i="0" dirty="0">
                <a:effectLst/>
                <a:latin typeface="Calibri" panose="020F0502020204030204" pitchFamily="34" charset="0"/>
                <a:cs typeface="Calibri" panose="020F0502020204030204" pitchFamily="34" charset="0"/>
              </a:rPr>
              <a:t> </a:t>
            </a:r>
            <a:r>
              <a:rPr lang="en-US" sz="2000" i="0" dirty="0">
                <a:effectLst/>
                <a:latin typeface="Calibri" panose="020F0502020204030204" pitchFamily="34" charset="0"/>
                <a:cs typeface="Calibri" panose="020F0502020204030204" pitchFamily="34" charset="0"/>
              </a:rPr>
              <a:t>is the president and CEO of of Mastercard since 2021. He was previously Chief Product Officer of Mastercard from 2016 to 2020. </a:t>
            </a:r>
            <a:r>
              <a:rPr lang="en-US" sz="2000" dirty="0">
                <a:latin typeface="Calibri" panose="020F0502020204030204" pitchFamily="34" charset="0"/>
                <a:cs typeface="Calibri" panose="020F0502020204030204" pitchFamily="34" charset="0"/>
              </a:rPr>
              <a:t>From 2010 to 2015</a:t>
            </a:r>
            <a:r>
              <a:rPr lang="en-US" sz="2000" i="0" dirty="0">
                <a:effectLst/>
                <a:latin typeface="Calibri" panose="020F0502020204030204" pitchFamily="34" charset="0"/>
                <a:cs typeface="Calibri" panose="020F0502020204030204" pitchFamily="34" charset="0"/>
              </a:rPr>
              <a:t>, he was president of middle east and north Africa division at Mastercard. He held various executive positions at Barclays bank and Citigroup prior to joining Mastercard. </a:t>
            </a:r>
          </a:p>
          <a:p>
            <a:r>
              <a:rPr lang="en-US" sz="2000" b="1" dirty="0">
                <a:solidFill>
                  <a:srgbClr val="4E95D9"/>
                </a:solidFill>
                <a:latin typeface="Calibri" panose="020F0502020204030204" pitchFamily="34" charset="0"/>
                <a:cs typeface="Calibri" panose="020F0502020204030204" pitchFamily="34" charset="0"/>
              </a:rPr>
              <a:t>Chief Financial Officer: </a:t>
            </a:r>
            <a:r>
              <a:rPr lang="en-US" sz="2000" b="1" dirty="0">
                <a:latin typeface="Calibri" panose="020F0502020204030204" pitchFamily="34" charset="0"/>
                <a:cs typeface="Calibri" panose="020F0502020204030204" pitchFamily="34" charset="0"/>
              </a:rPr>
              <a:t>Sachin Mehra </a:t>
            </a:r>
            <a:r>
              <a:rPr lang="en-US" sz="2000" dirty="0">
                <a:latin typeface="Calibri" panose="020F0502020204030204" pitchFamily="34" charset="0"/>
                <a:cs typeface="Calibri" panose="020F0502020204030204" pitchFamily="34" charset="0"/>
              </a:rPr>
              <a:t>is CFO of Mastercard since April 2019. Prior to that he was chief financial operations officer from 2018 to 2019. He joined Mastercard in 2010 as corporate treasurer and remained in that role until 2013. He held various senior treasury and finance role at General Motors corporation prior to joining Mastercard. </a:t>
            </a:r>
          </a:p>
          <a:p>
            <a:r>
              <a:rPr lang="en-US" sz="2000" b="1" dirty="0">
                <a:solidFill>
                  <a:srgbClr val="4E95D9"/>
                </a:solidFill>
                <a:latin typeface="Calibri" panose="020F0502020204030204" pitchFamily="34" charset="0"/>
                <a:cs typeface="Calibri" panose="020F0502020204030204" pitchFamily="34" charset="0"/>
              </a:rPr>
              <a:t>President, Chief Technology Officer</a:t>
            </a:r>
            <a:r>
              <a:rPr lang="en-US" sz="2000" dirty="0">
                <a:latin typeface="Calibri" panose="020F0502020204030204" pitchFamily="34" charset="0"/>
                <a:cs typeface="Calibri" panose="020F0502020204030204" pitchFamily="34" charset="0"/>
              </a:rPr>
              <a:t>, Mastercard Technology: </a:t>
            </a:r>
            <a:r>
              <a:rPr lang="en-US" sz="2000" b="1" dirty="0">
                <a:latin typeface="Calibri" panose="020F0502020204030204" pitchFamily="34" charset="0"/>
                <a:cs typeface="Calibri" panose="020F0502020204030204" pitchFamily="34" charset="0"/>
              </a:rPr>
              <a:t>Edward McLaughlin </a:t>
            </a:r>
            <a:r>
              <a:rPr lang="en-US" sz="2000" dirty="0">
                <a:latin typeface="Calibri" panose="020F0502020204030204" pitchFamily="34" charset="0"/>
                <a:cs typeface="Calibri" panose="020F0502020204030204" pitchFamily="34" charset="0"/>
              </a:rPr>
              <a:t>has been CTO of Mastercard technology since May 2017. Prior to that he was Chief Information Officer from 2016 to 2017. Before that he was Chief Emerging Payments Officer from 2010 to 2015. </a:t>
            </a:r>
          </a:p>
          <a:p>
            <a:r>
              <a:rPr lang="en-US" sz="2000" b="1" dirty="0">
                <a:solidFill>
                  <a:srgbClr val="4E95D9"/>
                </a:solidFill>
                <a:latin typeface="Calibri" panose="020F0502020204030204" pitchFamily="34" charset="0"/>
                <a:cs typeface="Calibri" panose="020F0502020204030204" pitchFamily="34" charset="0"/>
              </a:rPr>
              <a:t>Chief Product Officer: </a:t>
            </a:r>
            <a:r>
              <a:rPr lang="en-US" sz="2000" b="1" dirty="0">
                <a:latin typeface="Calibri" panose="020F0502020204030204" pitchFamily="34" charset="0"/>
                <a:cs typeface="Calibri" panose="020F0502020204030204" pitchFamily="34" charset="0"/>
              </a:rPr>
              <a:t>John Lambert </a:t>
            </a:r>
            <a:r>
              <a:rPr lang="en-US" sz="2000" dirty="0">
                <a:latin typeface="Calibri" panose="020F0502020204030204" pitchFamily="34" charset="0"/>
                <a:cs typeface="Calibri" panose="020F0502020204030204" pitchFamily="34" charset="0"/>
              </a:rPr>
              <a:t>has been the Chief Product Officer since May 2024. Prior to that he was Chief Digital Officer from 2020 to 2024. He joined Mastercard in 2002 and was the Group Head, emerging payments Europe from 2002 to 2013.  </a:t>
            </a:r>
          </a:p>
        </p:txBody>
      </p:sp>
    </p:spTree>
    <p:extLst>
      <p:ext uri="{BB962C8B-B14F-4D97-AF65-F5344CB8AC3E}">
        <p14:creationId xmlns:p14="http://schemas.microsoft.com/office/powerpoint/2010/main" val="13040640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2016E-CBFB-574A-FF41-07E6F3067AA8}"/>
              </a:ext>
            </a:extLst>
          </p:cNvPr>
          <p:cNvSpPr>
            <a:spLocks noGrp="1"/>
          </p:cNvSpPr>
          <p:nvPr>
            <p:ph type="title"/>
          </p:nvPr>
        </p:nvSpPr>
        <p:spPr>
          <a:xfrm>
            <a:off x="838200" y="365125"/>
            <a:ext cx="10515600" cy="900149"/>
          </a:xfrm>
        </p:spPr>
        <p:txBody>
          <a:bodyPr>
            <a:normAutofit/>
          </a:bodyPr>
          <a:lstStyle/>
          <a:p>
            <a:r>
              <a:rPr lang="en-US" sz="2400" b="1" dirty="0">
                <a:solidFill>
                  <a:srgbClr val="4E95D9"/>
                </a:solidFill>
                <a:latin typeface="Calibri" panose="020F0502020204030204" pitchFamily="34" charset="0"/>
                <a:cs typeface="Calibri" panose="020F0502020204030204" pitchFamily="34" charset="0"/>
              </a:rPr>
              <a:t>Mastercard Mergers &amp; Acquisitions </a:t>
            </a:r>
          </a:p>
        </p:txBody>
      </p:sp>
      <p:sp>
        <p:nvSpPr>
          <p:cNvPr id="3" name="Content Placeholder 2">
            <a:extLst>
              <a:ext uri="{FF2B5EF4-FFF2-40B4-BE49-F238E27FC236}">
                <a16:creationId xmlns:a16="http://schemas.microsoft.com/office/drawing/2014/main" id="{5D23F860-2675-A6F1-28E9-0278F92316A1}"/>
              </a:ext>
            </a:extLst>
          </p:cNvPr>
          <p:cNvSpPr>
            <a:spLocks noGrp="1"/>
          </p:cNvSpPr>
          <p:nvPr>
            <p:ph idx="1"/>
          </p:nvPr>
        </p:nvSpPr>
        <p:spPr>
          <a:xfrm>
            <a:off x="838200" y="1190846"/>
            <a:ext cx="10932042" cy="5227601"/>
          </a:xfrm>
        </p:spPr>
        <p:txBody>
          <a:bodyPr/>
          <a:lstStyle/>
          <a:p>
            <a:pPr>
              <a:buFont typeface="Wingdings" pitchFamily="2" charset="2"/>
              <a:buChar char="ü"/>
            </a:pPr>
            <a:r>
              <a:rPr lang="en-US" sz="1800" b="1" dirty="0">
                <a:solidFill>
                  <a:srgbClr val="4E95D9"/>
                </a:solidFill>
                <a:latin typeface="Calibri" panose="020F0502020204030204" pitchFamily="34" charset="0"/>
                <a:cs typeface="Calibri" panose="020F0502020204030204" pitchFamily="34" charset="0"/>
              </a:rPr>
              <a:t>Recorded Future (December 2024)</a:t>
            </a:r>
            <a:endParaRPr lang="en-US" sz="18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Deal Value:</a:t>
            </a:r>
            <a:r>
              <a:rPr lang="en-US" sz="1800" dirty="0">
                <a:latin typeface="Calibri" panose="020F0502020204030204" pitchFamily="34" charset="0"/>
                <a:cs typeface="Calibri" panose="020F0502020204030204" pitchFamily="34" charset="0"/>
              </a:rPr>
              <a:t> $2.65 billion</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Description:</a:t>
            </a:r>
            <a:r>
              <a:rPr lang="en-US" sz="1800" dirty="0">
                <a:latin typeface="Calibri" panose="020F0502020204030204" pitchFamily="34" charset="0"/>
                <a:cs typeface="Calibri" panose="020F0502020204030204" pitchFamily="34" charset="0"/>
              </a:rPr>
              <a:t> A Massachusetts-based cybersecurity firm specializing in AI-driven threat intelligence. Recorded Future provides real-time visibility into potential threats by analyzing a broad set of data sources. This acquisition enhances Mastercard's cybersecurity services, identity solutions, and real-time fraud scoring capabilities.</a:t>
            </a:r>
          </a:p>
          <a:p>
            <a:pPr>
              <a:buFont typeface="Wingdings" pitchFamily="2" charset="2"/>
              <a:buChar char="ü"/>
            </a:pPr>
            <a:r>
              <a:rPr lang="en-US" sz="1800" b="1" dirty="0">
                <a:solidFill>
                  <a:srgbClr val="4E95D9"/>
                </a:solidFill>
                <a:latin typeface="Calibri" panose="020F0502020204030204" pitchFamily="34" charset="0"/>
                <a:cs typeface="Calibri" panose="020F0502020204030204" pitchFamily="34" charset="0"/>
              </a:rPr>
              <a:t>Minna Technologies (October 2024)</a:t>
            </a:r>
            <a:endParaRPr lang="en-US" sz="18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Deal Value:</a:t>
            </a:r>
            <a:r>
              <a:rPr lang="en-US" sz="1800" dirty="0">
                <a:latin typeface="Calibri" panose="020F0502020204030204" pitchFamily="34" charset="0"/>
                <a:cs typeface="Calibri" panose="020F0502020204030204" pitchFamily="34" charset="0"/>
              </a:rPr>
              <a:t> Undisclosed</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Description:</a:t>
            </a:r>
            <a:r>
              <a:rPr lang="en-US" sz="1800" dirty="0">
                <a:latin typeface="Calibri" panose="020F0502020204030204" pitchFamily="34" charset="0"/>
                <a:cs typeface="Calibri" panose="020F0502020204030204" pitchFamily="34" charset="0"/>
              </a:rPr>
              <a:t> A Swedish company that allows users to manage subscription services within their banking applications. This acquisition supports Mastercard's efforts to provide consumers with more control over their financial lives.</a:t>
            </a:r>
          </a:p>
          <a:p>
            <a:pPr>
              <a:buFont typeface="Wingdings" pitchFamily="2" charset="2"/>
              <a:buChar char="ü"/>
            </a:pPr>
            <a:r>
              <a:rPr lang="en-US" sz="1800" b="1" dirty="0">
                <a:solidFill>
                  <a:srgbClr val="4E95D9"/>
                </a:solidFill>
                <a:latin typeface="Calibri" panose="020F0502020204030204" pitchFamily="34" charset="0"/>
                <a:cs typeface="Calibri" panose="020F0502020204030204" pitchFamily="34" charset="0"/>
              </a:rPr>
              <a:t>Baffin Bay Networks (March 2023)</a:t>
            </a:r>
            <a:endParaRPr lang="en-US" sz="18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Deal Value:</a:t>
            </a:r>
            <a:r>
              <a:rPr lang="en-US" sz="1800" dirty="0">
                <a:latin typeface="Calibri" panose="020F0502020204030204" pitchFamily="34" charset="0"/>
                <a:cs typeface="Calibri" panose="020F0502020204030204" pitchFamily="34" charset="0"/>
              </a:rPr>
              <a:t> Undisclosed</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Description:</a:t>
            </a:r>
            <a:r>
              <a:rPr lang="en-US" sz="1800" dirty="0">
                <a:latin typeface="Calibri" panose="020F0502020204030204" pitchFamily="34" charset="0"/>
                <a:cs typeface="Calibri" panose="020F0502020204030204" pitchFamily="34" charset="0"/>
              </a:rPr>
              <a:t> A Sweden-based cybersecurity platform offering cloud-based solutions such as threat intelligence and intrusion prevention. This acquisition bolsters Mastercard's cybersecurity infrastructure. </a:t>
            </a:r>
          </a:p>
          <a:p>
            <a:pPr marL="0" indent="0">
              <a:buNone/>
            </a:pPr>
            <a:endParaRPr lang="en-US" sz="1800" dirty="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4221952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A471E4A-390D-40ED-85AD-9EBC8CCAE43B}"/>
              </a:ext>
            </a:extLst>
          </p:cNvPr>
          <p:cNvSpPr>
            <a:spLocks noGrp="1"/>
          </p:cNvSpPr>
          <p:nvPr>
            <p:ph idx="1"/>
          </p:nvPr>
        </p:nvSpPr>
        <p:spPr>
          <a:xfrm>
            <a:off x="563526" y="457200"/>
            <a:ext cx="10790274" cy="5719763"/>
          </a:xfrm>
        </p:spPr>
        <p:txBody>
          <a:bodyPr>
            <a:normAutofit/>
          </a:bodyPr>
          <a:lstStyle/>
          <a:p>
            <a:pPr>
              <a:buFont typeface="Wingdings" pitchFamily="2" charset="2"/>
              <a:buChar char="ü"/>
            </a:pPr>
            <a:r>
              <a:rPr lang="en-US" sz="1800" b="1" dirty="0">
                <a:solidFill>
                  <a:srgbClr val="4E95D9"/>
                </a:solidFill>
                <a:latin typeface="Calibri" panose="020F0502020204030204" pitchFamily="34" charset="0"/>
                <a:cs typeface="Calibri" panose="020F0502020204030204" pitchFamily="34" charset="0"/>
              </a:rPr>
              <a:t>Dynamic Yield (December 2021)</a:t>
            </a:r>
            <a:endParaRPr lang="en-US" sz="18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Deal Value:</a:t>
            </a:r>
            <a:r>
              <a:rPr lang="en-US" sz="1800" dirty="0">
                <a:latin typeface="Calibri" panose="020F0502020204030204" pitchFamily="34" charset="0"/>
                <a:cs typeface="Calibri" panose="020F0502020204030204" pitchFamily="34" charset="0"/>
              </a:rPr>
              <a:t> Undisclosed</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Description:</a:t>
            </a:r>
            <a:r>
              <a:rPr lang="en-US" sz="1800" dirty="0">
                <a:latin typeface="Calibri" panose="020F0502020204030204" pitchFamily="34" charset="0"/>
                <a:cs typeface="Calibri" panose="020F0502020204030204" pitchFamily="34" charset="0"/>
              </a:rPr>
              <a:t> A New York-based AI-powered platform that offers solutions such as customer data management and A/B testing. This acquisition enhances Mastercard's personalization capabilities for its clients.</a:t>
            </a:r>
          </a:p>
          <a:p>
            <a:pPr>
              <a:buFont typeface="Wingdings" pitchFamily="2" charset="2"/>
              <a:buChar char="ü"/>
            </a:pPr>
            <a:r>
              <a:rPr lang="en-US" sz="1800" b="1" dirty="0">
                <a:solidFill>
                  <a:srgbClr val="4E95D9"/>
                </a:solidFill>
                <a:latin typeface="Calibri" panose="020F0502020204030204" pitchFamily="34" charset="0"/>
                <a:cs typeface="Calibri" panose="020F0502020204030204" pitchFamily="34" charset="0"/>
              </a:rPr>
              <a:t>Arcus Financial Intelligence (November 2021)</a:t>
            </a:r>
            <a:endParaRPr lang="en-US" sz="1800" dirty="0">
              <a:solidFill>
                <a:srgbClr val="4E95D9"/>
              </a:solidFill>
              <a:latin typeface="Calibri" panose="020F0502020204030204" pitchFamily="34" charset="0"/>
              <a:cs typeface="Calibri" panose="020F0502020204030204" pitchFamily="34" charset="0"/>
            </a:endParaRP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Deal Value:</a:t>
            </a:r>
            <a:r>
              <a:rPr lang="en-US" sz="1800" dirty="0">
                <a:latin typeface="Calibri" panose="020F0502020204030204" pitchFamily="34" charset="0"/>
                <a:cs typeface="Calibri" panose="020F0502020204030204" pitchFamily="34" charset="0"/>
              </a:rPr>
              <a:t> Undisclosed</a:t>
            </a:r>
          </a:p>
          <a:p>
            <a:pPr>
              <a:buFont typeface="Arial" panose="020B0604020202020204" pitchFamily="34" charset="0"/>
              <a:buChar char="•"/>
            </a:pPr>
            <a:r>
              <a:rPr lang="en-US" sz="1800" b="1" dirty="0">
                <a:latin typeface="Calibri" panose="020F0502020204030204" pitchFamily="34" charset="0"/>
                <a:cs typeface="Calibri" panose="020F0502020204030204" pitchFamily="34" charset="0"/>
              </a:rPr>
              <a:t>Description:</a:t>
            </a:r>
            <a:r>
              <a:rPr lang="en-US" sz="1800" dirty="0">
                <a:latin typeface="Calibri" panose="020F0502020204030204" pitchFamily="34" charset="0"/>
                <a:cs typeface="Calibri" panose="020F0502020204030204" pitchFamily="34" charset="0"/>
              </a:rPr>
              <a:t> A New York-based fintech platform that provides solutions such as payment processing and financial data management. This acquisition supports Mastercard's efforts to expand its payment services in Latin America.</a:t>
            </a:r>
          </a:p>
          <a:p>
            <a:pPr marL="0" indent="0">
              <a:buNone/>
            </a:pPr>
            <a:endParaRPr lang="en-US" sz="1800" dirty="0">
              <a:latin typeface="Calibri" panose="020F0502020204030204" pitchFamily="34" charset="0"/>
              <a:cs typeface="Calibri" panose="020F0502020204030204" pitchFamily="34" charset="0"/>
            </a:endParaRPr>
          </a:p>
          <a:p>
            <a:pPr marL="0" indent="0">
              <a:buNone/>
            </a:pPr>
            <a:r>
              <a:rPr lang="en-US" sz="1800" dirty="0">
                <a:latin typeface="Calibri" panose="020F0502020204030204" pitchFamily="34" charset="0"/>
                <a:cs typeface="Calibri" panose="020F0502020204030204" pitchFamily="34" charset="0"/>
              </a:rPr>
              <a:t>These acquisitions reflect Mastercard's strategic focus on enhancing its cybersecurity infrastructure, expanding digital services, and providing consumers with more control over their financial lives.</a:t>
            </a:r>
          </a:p>
        </p:txBody>
      </p:sp>
    </p:spTree>
    <p:extLst>
      <p:ext uri="{BB962C8B-B14F-4D97-AF65-F5344CB8AC3E}">
        <p14:creationId xmlns:p14="http://schemas.microsoft.com/office/powerpoint/2010/main" val="30130280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2091F-44EA-C8D4-9418-BF2DC5EB58D6}"/>
              </a:ext>
            </a:extLst>
          </p:cNvPr>
          <p:cNvSpPr>
            <a:spLocks noGrp="1"/>
          </p:cNvSpPr>
          <p:nvPr>
            <p:ph type="title"/>
          </p:nvPr>
        </p:nvSpPr>
        <p:spPr>
          <a:xfrm>
            <a:off x="838200" y="365126"/>
            <a:ext cx="10357884" cy="676866"/>
          </a:xfrm>
        </p:spPr>
        <p:txBody>
          <a:bodyPr>
            <a:normAutofit/>
          </a:bodyPr>
          <a:lstStyle/>
          <a:p>
            <a:r>
              <a:rPr lang="en-US" sz="2400" b="1" dirty="0">
                <a:solidFill>
                  <a:srgbClr val="4E95D9"/>
                </a:solidFill>
                <a:latin typeface="Calibri" panose="020F0502020204030204" pitchFamily="34" charset="0"/>
                <a:cs typeface="Calibri" panose="020F0502020204030204" pitchFamily="34" charset="0"/>
              </a:rPr>
              <a:t>COMPETITION</a:t>
            </a:r>
            <a:endParaRPr lang="en-US" sz="2400" dirty="0">
              <a:solidFill>
                <a:srgbClr val="4E95D9"/>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42C4DEA9-7210-DA05-C3F3-47B98EB6DC19}"/>
              </a:ext>
            </a:extLst>
          </p:cNvPr>
          <p:cNvSpPr>
            <a:spLocks noGrp="1"/>
          </p:cNvSpPr>
          <p:nvPr>
            <p:ph idx="1"/>
          </p:nvPr>
        </p:nvSpPr>
        <p:spPr>
          <a:xfrm>
            <a:off x="744279" y="1041992"/>
            <a:ext cx="11004698" cy="5348175"/>
          </a:xfrm>
        </p:spPr>
        <p:txBody>
          <a:bodyPr/>
          <a:lstStyle/>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The global payments industry continues to undergo dynamic and rapid change. Existing and emerging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competitors compete with Visa’s network and payment solutions for consumers and for participation by financial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institutions and merchants. Technology and innovation are shifting consumer habits and driving growth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opportunities in ecommerce, mobile payments, blockchain technology and digital currencies. These advances are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enabling new entrants, many of which depart from traditional network payment models. </a:t>
            </a:r>
          </a:p>
          <a:p>
            <a:pPr algn="just">
              <a:lnSpc>
                <a:spcPts val="877"/>
              </a:lnSpc>
            </a:pPr>
            <a:r>
              <a:rPr lang="en-US" sz="1800" b="1" dirty="0">
                <a:solidFill>
                  <a:srgbClr val="4E95D9"/>
                </a:solidFill>
                <a:effectLst/>
                <a:latin typeface="Calibri" panose="020F0502020204030204" pitchFamily="34" charset="0"/>
                <a:cs typeface="Calibri" panose="020F0502020204030204" pitchFamily="34" charset="0"/>
              </a:rPr>
              <a:t>Global or Multi-regional Networks</a:t>
            </a:r>
            <a:r>
              <a:rPr lang="en-US" sz="1800" b="1" dirty="0">
                <a:effectLst/>
                <a:latin typeface="Calibri" panose="020F0502020204030204" pitchFamily="34" charset="0"/>
                <a:cs typeface="Calibri" panose="020F0502020204030204" pitchFamily="34" charset="0"/>
              </a:rPr>
              <a:t>: </a:t>
            </a:r>
            <a:r>
              <a:rPr lang="en-US" sz="1800" dirty="0">
                <a:effectLst/>
                <a:latin typeface="Calibri" panose="020F0502020204030204" pitchFamily="34" charset="0"/>
                <a:cs typeface="Calibri" panose="020F0502020204030204" pitchFamily="34" charset="0"/>
              </a:rPr>
              <a:t>These networks typically offer a range of branded, general-purpose card </a:t>
            </a:r>
          </a:p>
          <a:p>
            <a:pPr marL="0" indent="0" algn="just">
              <a:lnSpc>
                <a:spcPts val="877"/>
              </a:lnSpc>
              <a:buNone/>
            </a:pPr>
            <a:r>
              <a:rPr lang="en-US" sz="1800" dirty="0">
                <a:effectLst/>
                <a:latin typeface="Calibri" panose="020F0502020204030204" pitchFamily="34" charset="0"/>
                <a:cs typeface="Calibri" panose="020F0502020204030204" pitchFamily="34" charset="0"/>
              </a:rPr>
              <a:t>payment products that consumers can use at millions of merchant locations around the world. Examples include </a:t>
            </a:r>
          </a:p>
          <a:p>
            <a:pPr marL="0" indent="0" algn="just">
              <a:lnSpc>
                <a:spcPts val="877"/>
              </a:lnSpc>
              <a:buNone/>
            </a:pPr>
            <a:r>
              <a:rPr lang="en-US" sz="1800" b="1" dirty="0">
                <a:effectLst/>
                <a:latin typeface="Calibri" panose="020F0502020204030204" pitchFamily="34" charset="0"/>
                <a:cs typeface="Calibri" panose="020F0502020204030204" pitchFamily="34" charset="0"/>
              </a:rPr>
              <a:t>American Express, Diners Club/Discover, JCB, Mastercard and UnionPay</a:t>
            </a:r>
            <a:r>
              <a:rPr lang="en-US" sz="1800" dirty="0">
                <a:effectLst/>
                <a:latin typeface="Calibri" panose="020F0502020204030204" pitchFamily="34" charset="0"/>
                <a:cs typeface="Calibri" panose="020F0502020204030204" pitchFamily="34" charset="0"/>
              </a:rPr>
              <a:t>. These competitors may be more </a:t>
            </a:r>
          </a:p>
          <a:p>
            <a:pPr marL="0" indent="0" algn="just">
              <a:lnSpc>
                <a:spcPts val="877"/>
              </a:lnSpc>
              <a:buNone/>
            </a:pPr>
            <a:r>
              <a:rPr lang="en-US" sz="1800" dirty="0">
                <a:effectLst/>
                <a:latin typeface="Calibri" panose="020F0502020204030204" pitchFamily="34" charset="0"/>
                <a:cs typeface="Calibri" panose="020F0502020204030204" pitchFamily="34" charset="0"/>
              </a:rPr>
              <a:t>concentrated in specific geographic regions, such as Discover in the U.S.,JCB in Japan and UnionPay in China.</a:t>
            </a:r>
          </a:p>
          <a:p>
            <a:pPr marL="0" indent="0">
              <a:buNone/>
            </a:pPr>
            <a:endParaRPr lang="en-US" dirty="0"/>
          </a:p>
        </p:txBody>
      </p:sp>
      <p:pic>
        <p:nvPicPr>
          <p:cNvPr id="4" name="Picture 3">
            <a:extLst>
              <a:ext uri="{FF2B5EF4-FFF2-40B4-BE49-F238E27FC236}">
                <a16:creationId xmlns:a16="http://schemas.microsoft.com/office/drawing/2014/main" id="{98521D0D-7C7A-D1B9-FC1A-4FD16A910FFF}"/>
              </a:ext>
            </a:extLst>
          </p:cNvPr>
          <p:cNvPicPr>
            <a:picLocks noChangeAspect="1"/>
          </p:cNvPicPr>
          <p:nvPr/>
        </p:nvPicPr>
        <p:blipFill>
          <a:blip r:embed="rId2"/>
          <a:stretch>
            <a:fillRect/>
          </a:stretch>
        </p:blipFill>
        <p:spPr>
          <a:xfrm>
            <a:off x="1063256" y="3841692"/>
            <a:ext cx="7772400" cy="2378354"/>
          </a:xfrm>
          <a:prstGeom prst="rect">
            <a:avLst/>
          </a:prstGeom>
        </p:spPr>
      </p:pic>
    </p:spTree>
    <p:extLst>
      <p:ext uri="{BB962C8B-B14F-4D97-AF65-F5344CB8AC3E}">
        <p14:creationId xmlns:p14="http://schemas.microsoft.com/office/powerpoint/2010/main" val="2649410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3894F73-3552-FEA0-343E-A501429BF1F1}"/>
              </a:ext>
            </a:extLst>
          </p:cNvPr>
          <p:cNvSpPr>
            <a:spLocks noGrp="1"/>
          </p:cNvSpPr>
          <p:nvPr>
            <p:ph idx="1"/>
          </p:nvPr>
        </p:nvSpPr>
        <p:spPr>
          <a:xfrm>
            <a:off x="457200" y="330200"/>
            <a:ext cx="10896600" cy="5846763"/>
          </a:xfrm>
        </p:spPr>
        <p:txBody>
          <a:bodyPr>
            <a:normAutofit/>
          </a:bodyPr>
          <a:lstStyle/>
          <a:p>
            <a:pPr algn="just">
              <a:lnSpc>
                <a:spcPts val="877"/>
              </a:lnSpc>
              <a:spcAft>
                <a:spcPts val="735"/>
              </a:spcAft>
            </a:pPr>
            <a:r>
              <a:rPr lang="en-US" sz="1800" b="1" dirty="0">
                <a:solidFill>
                  <a:srgbClr val="4E95D9"/>
                </a:solidFill>
                <a:effectLst/>
                <a:latin typeface="Calibri" panose="020F0502020204030204" pitchFamily="34" charset="0"/>
                <a:cs typeface="Calibri" panose="020F0502020204030204" pitchFamily="34" charset="0"/>
              </a:rPr>
              <a:t>RTP Networks</a:t>
            </a:r>
            <a:r>
              <a:rPr lang="en-US" sz="1800" b="1" dirty="0">
                <a:solidFill>
                  <a:srgbClr val="4E95D9"/>
                </a:solidFill>
                <a:latin typeface="Calibri" panose="020F0502020204030204" pitchFamily="34" charset="0"/>
                <a:cs typeface="Calibri" panose="020F0502020204030204" pitchFamily="34" charset="0"/>
              </a:rPr>
              <a:t>:</a:t>
            </a:r>
            <a:r>
              <a:rPr lang="en-US" sz="1800" b="1" i="1" dirty="0">
                <a:solidFill>
                  <a:srgbClr val="4E95D9"/>
                </a:solidFill>
                <a:effectLst/>
                <a:latin typeface="Calibri" panose="020F0502020204030204" pitchFamily="34" charset="0"/>
                <a:cs typeface="Calibri" panose="020F0502020204030204" pitchFamily="34" charset="0"/>
              </a:rPr>
              <a:t> </a:t>
            </a:r>
            <a:r>
              <a:rPr lang="en-US" sz="1800" dirty="0">
                <a:effectLst/>
                <a:latin typeface="Calibri" panose="020F0502020204030204" pitchFamily="34" charset="0"/>
                <a:cs typeface="Calibri" panose="020F0502020204030204" pitchFamily="34" charset="0"/>
              </a:rPr>
              <a:t>RTP networks have launched in at least 80 countries and continue to be driven by strong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government sponsorship and regulatory initiatives to enable and drive adoption (e.g., </a:t>
            </a:r>
            <a:r>
              <a:rPr lang="en-US" sz="1800" dirty="0" err="1">
                <a:effectLst/>
                <a:latin typeface="Calibri" panose="020F0502020204030204" pitchFamily="34" charset="0"/>
                <a:cs typeface="Calibri" panose="020F0502020204030204" pitchFamily="34" charset="0"/>
              </a:rPr>
              <a:t>FedNow</a:t>
            </a:r>
            <a:r>
              <a:rPr lang="en-US" sz="1800" dirty="0">
                <a:effectLst/>
                <a:latin typeface="Calibri" panose="020F0502020204030204" pitchFamily="34" charset="0"/>
                <a:cs typeface="Calibri" panose="020F0502020204030204" pitchFamily="34" charset="0"/>
              </a:rPr>
              <a:t> in the U.S., PIX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in Brazil and United Payments Interface (UPI) in India), increasing their position as an alternative to payment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card schemes. These networks primarily focus on domestic transactions, with adoption varying by use cases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and geographies. However, with linkages such as </a:t>
            </a:r>
            <a:r>
              <a:rPr lang="en-US" sz="1800" dirty="0" err="1">
                <a:effectLst/>
                <a:latin typeface="Calibri" panose="020F0502020204030204" pitchFamily="34" charset="0"/>
                <a:cs typeface="Calibri" panose="020F0502020204030204" pitchFamily="34" charset="0"/>
              </a:rPr>
              <a:t>PayNow</a:t>
            </a:r>
            <a:r>
              <a:rPr lang="en-US" sz="1800" dirty="0">
                <a:effectLst/>
                <a:latin typeface="Calibri" panose="020F0502020204030204" pitchFamily="34" charset="0"/>
                <a:cs typeface="Calibri" panose="020F0502020204030204" pitchFamily="34" charset="0"/>
              </a:rPr>
              <a:t> in Singapore and UPI in India, cross-border RTP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networks are advancing and will compete with our cross-border business. RTP networks can compete with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Mastercard on consumer payments and other payment flows (e.g., B2B and P2P) but can also be customers for </a:t>
            </a:r>
          </a:p>
          <a:p>
            <a:pPr marL="0" indent="0" algn="just">
              <a:lnSpc>
                <a:spcPts val="877"/>
              </a:lnSpc>
              <a:spcAft>
                <a:spcPts val="735"/>
              </a:spcAft>
              <a:buNone/>
            </a:pPr>
            <a:r>
              <a:rPr lang="en-US" sz="1800" dirty="0">
                <a:effectLst/>
                <a:latin typeface="Calibri" panose="020F0502020204030204" pitchFamily="34" charset="0"/>
                <a:cs typeface="Calibri" panose="020F0502020204030204" pitchFamily="34" charset="0"/>
              </a:rPr>
              <a:t>value-added services, such as risk management.</a:t>
            </a:r>
          </a:p>
          <a:p>
            <a:pPr algn="just">
              <a:lnSpc>
                <a:spcPts val="877"/>
              </a:lnSpc>
              <a:spcAft>
                <a:spcPts val="660"/>
              </a:spcAft>
            </a:pPr>
            <a:r>
              <a:rPr lang="en-US" sz="1800" b="1" dirty="0">
                <a:solidFill>
                  <a:srgbClr val="4E95D9"/>
                </a:solidFill>
                <a:effectLst/>
                <a:latin typeface="Calibri" panose="020F0502020204030204" pitchFamily="34" charset="0"/>
                <a:cs typeface="Calibri" panose="020F0502020204030204" pitchFamily="34" charset="0"/>
              </a:rPr>
              <a:t>Alternative Payments Providers:</a:t>
            </a:r>
            <a:r>
              <a:rPr lang="en-US" sz="1800" b="1" i="1" dirty="0">
                <a:effectLst/>
                <a:latin typeface="Calibri" panose="020F0502020204030204" pitchFamily="34" charset="0"/>
                <a:cs typeface="Calibri" panose="020F0502020204030204" pitchFamily="34" charset="0"/>
              </a:rPr>
              <a:t> </a:t>
            </a:r>
            <a:r>
              <a:rPr lang="en-US" sz="1800" dirty="0">
                <a:effectLst/>
                <a:latin typeface="Calibri" panose="020F0502020204030204" pitchFamily="34" charset="0"/>
                <a:cs typeface="Calibri" panose="020F0502020204030204" pitchFamily="34" charset="0"/>
              </a:rPr>
              <a:t>These providers, such as closed commerce ecosystems, BNPL solutions and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cryptocurrency platforms, often have a primary focus of enabling payments through ecommerce and mobile </a:t>
            </a:r>
          </a:p>
          <a:p>
            <a:pPr marL="0" indent="0" algn="just">
              <a:lnSpc>
                <a:spcPts val="877"/>
              </a:lnSpc>
              <a:spcAft>
                <a:spcPts val="660"/>
              </a:spcAft>
              <a:buNone/>
            </a:pPr>
            <a:r>
              <a:rPr lang="en-US" sz="1800" dirty="0">
                <a:effectLst/>
                <a:latin typeface="Calibri" panose="020F0502020204030204" pitchFamily="34" charset="0"/>
                <a:cs typeface="Calibri" panose="020F0502020204030204" pitchFamily="34" charset="0"/>
              </a:rPr>
              <a:t>Channels.</a:t>
            </a:r>
          </a:p>
          <a:p>
            <a:pPr algn="just">
              <a:lnSpc>
                <a:spcPts val="877"/>
              </a:lnSpc>
              <a:spcAft>
                <a:spcPts val="660"/>
              </a:spcAft>
            </a:pPr>
            <a:r>
              <a:rPr lang="en-US" sz="1800" b="1" dirty="0">
                <a:solidFill>
                  <a:srgbClr val="4E95D9"/>
                </a:solidFill>
                <a:latin typeface="Calibri" panose="020F0502020204030204" pitchFamily="34" charset="0"/>
                <a:cs typeface="Calibri" panose="020F0502020204030204" pitchFamily="34" charset="0"/>
              </a:rPr>
              <a:t>Central Bank Digital Currencies:</a:t>
            </a:r>
            <a:r>
              <a:rPr lang="en-US" sz="1800" b="0" i="0" dirty="0">
                <a:solidFill>
                  <a:srgbClr val="000000"/>
                </a:solidFill>
                <a:effectLst/>
                <a:latin typeface="Calibri" panose="020F0502020204030204" pitchFamily="34" charset="0"/>
                <a:cs typeface="Calibri" panose="020F0502020204030204" pitchFamily="34" charset="0"/>
              </a:rPr>
              <a:t>. The Bahamas was the first country to launch a nationwide Central Bank Digital </a:t>
            </a:r>
          </a:p>
          <a:p>
            <a:pPr marL="0" indent="0" algn="just">
              <a:lnSpc>
                <a:spcPts val="877"/>
              </a:lnSpc>
              <a:spcAft>
                <a:spcPts val="660"/>
              </a:spcAft>
              <a:buNone/>
            </a:pPr>
            <a:r>
              <a:rPr lang="en-US" sz="1800" b="0" i="0" dirty="0">
                <a:solidFill>
                  <a:srgbClr val="000000"/>
                </a:solidFill>
                <a:effectLst/>
                <a:latin typeface="Calibri" panose="020F0502020204030204" pitchFamily="34" charset="0"/>
                <a:cs typeface="Calibri" panose="020F0502020204030204" pitchFamily="34" charset="0"/>
              </a:rPr>
              <a:t>Currency (CBDC), named the Sand Dollar, in 2020. Following this, Nigeria also rolled out its </a:t>
            </a:r>
            <a:r>
              <a:rPr lang="en-US" sz="1800" b="0" i="0" dirty="0" err="1">
                <a:solidFill>
                  <a:srgbClr val="000000"/>
                </a:solidFill>
                <a:effectLst/>
                <a:latin typeface="Calibri" panose="020F0502020204030204" pitchFamily="34" charset="0"/>
                <a:cs typeface="Calibri" panose="020F0502020204030204" pitchFamily="34" charset="0"/>
              </a:rPr>
              <a:t>eNaira</a:t>
            </a:r>
            <a:r>
              <a:rPr lang="en-US" sz="1800" b="0" i="0" dirty="0">
                <a:solidFill>
                  <a:srgbClr val="000000"/>
                </a:solidFill>
                <a:effectLst/>
                <a:latin typeface="Calibri" panose="020F0502020204030204" pitchFamily="34" charset="0"/>
                <a:cs typeface="Calibri" panose="020F0502020204030204" pitchFamily="34" charset="0"/>
              </a:rPr>
              <a:t> in the same year. </a:t>
            </a:r>
          </a:p>
          <a:p>
            <a:pPr marL="0" indent="0" algn="just">
              <a:lnSpc>
                <a:spcPts val="877"/>
              </a:lnSpc>
              <a:spcAft>
                <a:spcPts val="660"/>
              </a:spcAft>
              <a:buNone/>
            </a:pPr>
            <a:r>
              <a:rPr lang="en-US" sz="1800" b="0" i="0" dirty="0">
                <a:solidFill>
                  <a:srgbClr val="000000"/>
                </a:solidFill>
                <a:effectLst/>
                <a:latin typeface="Calibri" panose="020F0502020204030204" pitchFamily="34" charset="0"/>
                <a:cs typeface="Calibri" panose="020F0502020204030204" pitchFamily="34" charset="0"/>
              </a:rPr>
              <a:t>In April 2020, China became the first major economy to pilot its digital currency, the e-CNY or Digital Yuan. India </a:t>
            </a:r>
          </a:p>
          <a:p>
            <a:pPr marL="0" indent="0" algn="just">
              <a:lnSpc>
                <a:spcPts val="877"/>
              </a:lnSpc>
              <a:spcAft>
                <a:spcPts val="660"/>
              </a:spcAft>
              <a:buNone/>
            </a:pPr>
            <a:r>
              <a:rPr lang="en-US" sz="1800" b="0" i="0" dirty="0">
                <a:solidFill>
                  <a:srgbClr val="000000"/>
                </a:solidFill>
                <a:effectLst/>
                <a:latin typeface="Calibri" panose="020F0502020204030204" pitchFamily="34" charset="0"/>
                <a:cs typeface="Calibri" panose="020F0502020204030204" pitchFamily="34" charset="0"/>
              </a:rPr>
              <a:t>has introduced the e-Rupee. The digital currency was initially rolled out in phases, with pilot projects for wholesale </a:t>
            </a:r>
          </a:p>
          <a:p>
            <a:pPr marL="0" indent="0" algn="just">
              <a:lnSpc>
                <a:spcPts val="877"/>
              </a:lnSpc>
              <a:spcAft>
                <a:spcPts val="660"/>
              </a:spcAft>
              <a:buNone/>
            </a:pPr>
            <a:r>
              <a:rPr lang="en-US" sz="1800" b="0" i="0" dirty="0">
                <a:solidFill>
                  <a:srgbClr val="000000"/>
                </a:solidFill>
                <a:effectLst/>
                <a:latin typeface="Calibri" panose="020F0502020204030204" pitchFamily="34" charset="0"/>
                <a:cs typeface="Calibri" panose="020F0502020204030204" pitchFamily="34" charset="0"/>
              </a:rPr>
              <a:t>and retail use in 2022 and 2023.</a:t>
            </a:r>
            <a:endParaRPr lang="en-US" sz="1800" dirty="0">
              <a:effectLst/>
              <a:latin typeface="Calibri" panose="020F0502020204030204" pitchFamily="34" charset="0"/>
              <a:cs typeface="Calibri" panose="020F0502020204030204" pitchFamily="34" charset="0"/>
            </a:endParaRPr>
          </a:p>
          <a:p>
            <a:pPr marL="0" indent="0" algn="just">
              <a:lnSpc>
                <a:spcPts val="877"/>
              </a:lnSpc>
              <a:spcAft>
                <a:spcPts val="660"/>
              </a:spcAft>
              <a:buNone/>
            </a:pPr>
            <a:endParaRPr lang="en-US" sz="1800" dirty="0">
              <a:effectLst/>
              <a:latin typeface="Calibri" panose="020F0502020204030204" pitchFamily="34" charset="0"/>
              <a:cs typeface="Calibri" panose="020F0502020204030204" pitchFamily="34" charset="0"/>
            </a:endParaRPr>
          </a:p>
          <a:p>
            <a:pPr marL="0" indent="0" algn="just">
              <a:lnSpc>
                <a:spcPts val="877"/>
              </a:lnSpc>
              <a:spcAft>
                <a:spcPts val="660"/>
              </a:spcAft>
              <a:buNone/>
            </a:pPr>
            <a:endParaRPr lang="en-US" sz="1800" dirty="0">
              <a:effectLst/>
              <a:latin typeface="Calibri" panose="020F0502020204030204" pitchFamily="34" charset="0"/>
              <a:cs typeface="Calibri" panose="020F0502020204030204" pitchFamily="34" charset="0"/>
            </a:endParaRPr>
          </a:p>
          <a:p>
            <a:pPr marL="0" indent="0" algn="just">
              <a:lnSpc>
                <a:spcPts val="877"/>
              </a:lnSpc>
              <a:spcAft>
                <a:spcPts val="735"/>
              </a:spcAft>
              <a:buNone/>
            </a:pPr>
            <a:endParaRPr lang="en-US" sz="1800" dirty="0"/>
          </a:p>
        </p:txBody>
      </p:sp>
    </p:spTree>
    <p:extLst>
      <p:ext uri="{BB962C8B-B14F-4D97-AF65-F5344CB8AC3E}">
        <p14:creationId xmlns:p14="http://schemas.microsoft.com/office/powerpoint/2010/main" val="26258697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line&#10;&#10;AI-generated content may be incorrect.">
            <a:extLst>
              <a:ext uri="{FF2B5EF4-FFF2-40B4-BE49-F238E27FC236}">
                <a16:creationId xmlns:a16="http://schemas.microsoft.com/office/drawing/2014/main" id="{7962F096-AAD9-AECE-AC8B-1D7D2517E3A1}"/>
              </a:ext>
            </a:extLst>
          </p:cNvPr>
          <p:cNvPicPr>
            <a:picLocks noGrp="1" noChangeAspect="1"/>
          </p:cNvPicPr>
          <p:nvPr>
            <p:ph idx="1"/>
          </p:nvPr>
        </p:nvPicPr>
        <p:blipFill>
          <a:blip r:embed="rId2"/>
          <a:stretch>
            <a:fillRect/>
          </a:stretch>
        </p:blipFill>
        <p:spPr>
          <a:xfrm>
            <a:off x="1374246" y="434268"/>
            <a:ext cx="3973931" cy="5780265"/>
          </a:xfrm>
          <a:prstGeom prst="rect">
            <a:avLst/>
          </a:prstGeom>
        </p:spPr>
      </p:pic>
      <p:pic>
        <p:nvPicPr>
          <p:cNvPr id="6" name="Content Placeholder 4" descr="A graph of a number of people&#10;&#10;AI-generated content may be incorrect.">
            <a:extLst>
              <a:ext uri="{FF2B5EF4-FFF2-40B4-BE49-F238E27FC236}">
                <a16:creationId xmlns:a16="http://schemas.microsoft.com/office/drawing/2014/main" id="{6396D238-8BE4-BE7E-7824-8F7BE2CC8EE4}"/>
              </a:ext>
            </a:extLst>
          </p:cNvPr>
          <p:cNvPicPr>
            <a:picLocks noChangeAspect="1"/>
          </p:cNvPicPr>
          <p:nvPr/>
        </p:nvPicPr>
        <p:blipFill>
          <a:blip r:embed="rId3"/>
          <a:stretch>
            <a:fillRect/>
          </a:stretch>
        </p:blipFill>
        <p:spPr>
          <a:xfrm>
            <a:off x="6980681" y="643467"/>
            <a:ext cx="3844034" cy="5571066"/>
          </a:xfrm>
          <a:prstGeom prst="rect">
            <a:avLst/>
          </a:prstGeom>
        </p:spPr>
      </p:pic>
    </p:spTree>
    <p:extLst>
      <p:ext uri="{BB962C8B-B14F-4D97-AF65-F5344CB8AC3E}">
        <p14:creationId xmlns:p14="http://schemas.microsoft.com/office/powerpoint/2010/main" val="20021343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5B0548-DF30-2A52-E0DA-176540C75748}"/>
              </a:ext>
            </a:extLst>
          </p:cNvPr>
          <p:cNvSpPr>
            <a:spLocks noGrp="1"/>
          </p:cNvSpPr>
          <p:nvPr>
            <p:ph idx="1"/>
          </p:nvPr>
        </p:nvSpPr>
        <p:spPr>
          <a:xfrm>
            <a:off x="265113" y="244475"/>
            <a:ext cx="11088687" cy="5932488"/>
          </a:xfrm>
        </p:spPr>
        <p:txBody>
          <a:bodyPr>
            <a:normAutofit/>
          </a:bodyPr>
          <a:lstStyle/>
          <a:p>
            <a:pPr marL="0" indent="0">
              <a:buNone/>
            </a:pPr>
            <a:r>
              <a:rPr lang="en-US" sz="2200" b="1" i="0" dirty="0">
                <a:solidFill>
                  <a:srgbClr val="4E95D9"/>
                </a:solidFill>
                <a:effectLst/>
                <a:latin typeface="Calibri" panose="020F0502020204030204" pitchFamily="34" charset="0"/>
                <a:cs typeface="Calibri" panose="020F0502020204030204" pitchFamily="34" charset="0"/>
              </a:rPr>
              <a:t>The Payment </a:t>
            </a:r>
            <a:r>
              <a:rPr lang="en-US" sz="2200" b="1" dirty="0">
                <a:solidFill>
                  <a:srgbClr val="4E95D9"/>
                </a:solidFill>
                <a:latin typeface="Calibri" panose="020F0502020204030204" pitchFamily="34" charset="0"/>
                <a:cs typeface="Calibri" panose="020F0502020204030204" pitchFamily="34" charset="0"/>
              </a:rPr>
              <a:t>C</a:t>
            </a:r>
            <a:r>
              <a:rPr lang="en-US" sz="2200" b="1" i="0" dirty="0">
                <a:solidFill>
                  <a:srgbClr val="4E95D9"/>
                </a:solidFill>
                <a:effectLst/>
                <a:latin typeface="Calibri" panose="020F0502020204030204" pitchFamily="34" charset="0"/>
                <a:cs typeface="Calibri" panose="020F0502020204030204" pitchFamily="34" charset="0"/>
              </a:rPr>
              <a:t>ard </a:t>
            </a:r>
            <a:r>
              <a:rPr lang="en-US" sz="2200" b="1" dirty="0">
                <a:solidFill>
                  <a:srgbClr val="4E95D9"/>
                </a:solidFill>
                <a:latin typeface="Calibri" panose="020F0502020204030204" pitchFamily="34" charset="0"/>
                <a:cs typeface="Calibri" panose="020F0502020204030204" pitchFamily="34" charset="0"/>
              </a:rPr>
              <a:t>L</a:t>
            </a:r>
            <a:r>
              <a:rPr lang="en-US" sz="2200" b="1" i="0" dirty="0">
                <a:solidFill>
                  <a:srgbClr val="4E95D9"/>
                </a:solidFill>
                <a:effectLst/>
                <a:latin typeface="Calibri" panose="020F0502020204030204" pitchFamily="34" charset="0"/>
                <a:cs typeface="Calibri" panose="020F0502020204030204" pitchFamily="34" charset="0"/>
              </a:rPr>
              <a:t>andscape</a:t>
            </a:r>
          </a:p>
          <a:p>
            <a:pPr algn="l"/>
            <a:r>
              <a:rPr lang="en-US" sz="2200" b="0" i="0" dirty="0">
                <a:solidFill>
                  <a:srgbClr val="1C1D20"/>
                </a:solidFill>
                <a:effectLst/>
                <a:latin typeface="Calibri" panose="020F0502020204030204" pitchFamily="34" charset="0"/>
                <a:cs typeface="Calibri" panose="020F0502020204030204" pitchFamily="34" charset="0"/>
              </a:rPr>
              <a:t>There were 17.45 billion credit, debit, and prepaid cards in circulation worldwide as of the end of 2023. </a:t>
            </a:r>
          </a:p>
          <a:p>
            <a:pPr algn="l"/>
            <a:r>
              <a:rPr lang="en-US" sz="2200" b="0" i="0" dirty="0">
                <a:solidFill>
                  <a:srgbClr val="1C1D20"/>
                </a:solidFill>
                <a:effectLst/>
                <a:latin typeface="Calibri" panose="020F0502020204030204" pitchFamily="34" charset="0"/>
                <a:cs typeface="Calibri" panose="020F0502020204030204" pitchFamily="34" charset="0"/>
              </a:rPr>
              <a:t>UnionPay cards made up 56% of total cards, Visa composed 25%, Mastercard made up 17%, and American Express held slightly less than 1%. Discover comprised less than half a percent.</a:t>
            </a:r>
            <a:endParaRPr lang="en-US" sz="2200" b="1" dirty="0">
              <a:solidFill>
                <a:srgbClr val="4E95D9"/>
              </a:solidFill>
              <a:latin typeface="Calibri" panose="020F0502020204030204" pitchFamily="34" charset="0"/>
              <a:cs typeface="Calibri" panose="020F0502020204030204" pitchFamily="34" charset="0"/>
            </a:endParaRPr>
          </a:p>
          <a:p>
            <a:pPr marL="0" indent="0" algn="l">
              <a:buNone/>
            </a:pPr>
            <a:r>
              <a:rPr lang="en-US" sz="2200" b="1" dirty="0">
                <a:solidFill>
                  <a:srgbClr val="4E95D9"/>
                </a:solidFill>
                <a:latin typeface="Calibri" panose="020F0502020204030204" pitchFamily="34" charset="0"/>
                <a:cs typeface="Calibri" panose="020F0502020204030204" pitchFamily="34" charset="0"/>
              </a:rPr>
              <a:t>G</a:t>
            </a:r>
            <a:r>
              <a:rPr lang="en-US" sz="2200" b="1" i="0" dirty="0">
                <a:solidFill>
                  <a:srgbClr val="4E95D9"/>
                </a:solidFill>
                <a:effectLst/>
                <a:latin typeface="Calibri" panose="020F0502020204030204" pitchFamily="34" charset="0"/>
                <a:cs typeface="Calibri" panose="020F0502020204030204" pitchFamily="34" charset="0"/>
              </a:rPr>
              <a:t>lobal purchase volume </a:t>
            </a:r>
            <a:r>
              <a:rPr lang="en-US" sz="2200" b="0" i="0" dirty="0">
                <a:effectLst/>
                <a:latin typeface="Calibri" panose="020F0502020204030204" pitchFamily="34" charset="0"/>
                <a:cs typeface="Calibri" panose="020F0502020204030204" pitchFamily="34" charset="0"/>
              </a:rPr>
              <a:t>by </a:t>
            </a:r>
            <a:r>
              <a:rPr lang="en-US" sz="2200" b="1" i="0" dirty="0">
                <a:effectLst/>
                <a:latin typeface="Calibri" panose="020F0502020204030204" pitchFamily="34" charset="0"/>
                <a:cs typeface="Calibri" panose="020F0502020204030204" pitchFamily="34" charset="0"/>
              </a:rPr>
              <a:t>credit card brand </a:t>
            </a:r>
            <a:r>
              <a:rPr lang="en-US" sz="2200" b="0" i="0" dirty="0">
                <a:effectLst/>
                <a:latin typeface="Calibri" panose="020F0502020204030204" pitchFamily="34" charset="0"/>
                <a:cs typeface="Calibri" panose="020F0502020204030204" pitchFamily="34" charset="0"/>
              </a:rPr>
              <a:t>in 2023:</a:t>
            </a:r>
            <a:endParaRPr lang="en-US" sz="2200"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UnionPay credit: $6.9 trillion, 35%</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Visa credit: $6.3 trillion, 32%</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Mastercard credit: $4 trillion, 21%</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American Express credit: $1.7 trillion, 9%</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JCB credit: $320 billion, 2%</a:t>
            </a:r>
          </a:p>
          <a:p>
            <a:pPr algn="l">
              <a:buFont typeface="Arial" panose="020B0604020202020204" pitchFamily="34" charset="0"/>
              <a:buChar char="•"/>
            </a:pPr>
            <a:r>
              <a:rPr lang="en-US" sz="2200" b="0" i="0" dirty="0">
                <a:effectLst/>
                <a:latin typeface="Calibri" panose="020F0502020204030204" pitchFamily="34" charset="0"/>
                <a:cs typeface="Calibri" panose="020F0502020204030204" pitchFamily="34" charset="0"/>
              </a:rPr>
              <a:t>Discover credit: $256 billion, 1%</a:t>
            </a:r>
          </a:p>
          <a:p>
            <a:endParaRPr lang="en-US" dirty="0"/>
          </a:p>
        </p:txBody>
      </p:sp>
    </p:spTree>
    <p:extLst>
      <p:ext uri="{BB962C8B-B14F-4D97-AF65-F5344CB8AC3E}">
        <p14:creationId xmlns:p14="http://schemas.microsoft.com/office/powerpoint/2010/main" val="11565956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Slide Background">
            <a:extLst>
              <a:ext uri="{FF2B5EF4-FFF2-40B4-BE49-F238E27FC236}">
                <a16:creationId xmlns:a16="http://schemas.microsoft.com/office/drawing/2014/main" id="{AA857166-A416-4C5E-8AA9-5D5D1E13D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13A48C6C-3CC4-4EE5-A773-EC1EB7F59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0" y="0"/>
            <a:ext cx="4617491" cy="6858000"/>
          </a:xfrm>
          <a:prstGeom prst="rect">
            <a:avLst/>
          </a:prstGeom>
          <a:ln>
            <a:noFill/>
          </a:ln>
          <a:effectLst>
            <a:outerShdw blurRad="203200" dist="88900" dir="2154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0" y="-1"/>
            <a:ext cx="4617491" cy="5136739"/>
          </a:xfrm>
          <a:prstGeom prst="rect">
            <a:avLst/>
          </a:prstGeom>
          <a:ln>
            <a:noFill/>
          </a:ln>
          <a:effectLst>
            <a:outerShdw blurRad="177800" dist="101600" dir="5400000" sx="97000" sy="97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A6704F-5BDC-0FBA-EAFE-9C1DB8EF68C5}"/>
              </a:ext>
            </a:extLst>
          </p:cNvPr>
          <p:cNvSpPr>
            <a:spLocks noGrp="1"/>
          </p:cNvSpPr>
          <p:nvPr>
            <p:ph type="title"/>
          </p:nvPr>
        </p:nvSpPr>
        <p:spPr>
          <a:xfrm>
            <a:off x="652887" y="617921"/>
            <a:ext cx="3482041" cy="3988585"/>
          </a:xfrm>
        </p:spPr>
        <p:txBody>
          <a:bodyPr vert="horz" lIns="91440" tIns="45720" rIns="91440" bIns="45720" rtlCol="0" anchor="ctr">
            <a:normAutofit/>
          </a:bodyPr>
          <a:lstStyle/>
          <a:p>
            <a:r>
              <a:rPr lang="en-US" sz="4000" b="1" kern="1200" dirty="0">
                <a:solidFill>
                  <a:srgbClr val="4E95D9"/>
                </a:solidFill>
                <a:latin typeface="Calibri" panose="020F0502020204030204" pitchFamily="34" charset="0"/>
                <a:cs typeface="Calibri" panose="020F0502020204030204" pitchFamily="34" charset="0"/>
              </a:rPr>
              <a:t>PEER COMPETITORS</a:t>
            </a:r>
          </a:p>
        </p:txBody>
      </p:sp>
      <p:pic>
        <p:nvPicPr>
          <p:cNvPr id="5" name="Content Placeholder 4" descr="A screenshot of a company's list&#10;&#10;AI-generated content may be incorrect.">
            <a:extLst>
              <a:ext uri="{FF2B5EF4-FFF2-40B4-BE49-F238E27FC236}">
                <a16:creationId xmlns:a16="http://schemas.microsoft.com/office/drawing/2014/main" id="{47D3DA8C-E2B6-7332-0301-05362CACC565}"/>
              </a:ext>
            </a:extLst>
          </p:cNvPr>
          <p:cNvPicPr>
            <a:picLocks noGrp="1" noChangeAspect="1"/>
          </p:cNvPicPr>
          <p:nvPr>
            <p:ph idx="1"/>
          </p:nvPr>
        </p:nvPicPr>
        <p:blipFill>
          <a:blip r:embed="rId2"/>
          <a:stretch>
            <a:fillRect/>
          </a:stretch>
        </p:blipFill>
        <p:spPr>
          <a:xfrm>
            <a:off x="5633999" y="617921"/>
            <a:ext cx="5540250" cy="5711599"/>
          </a:xfrm>
          <a:prstGeom prst="rect">
            <a:avLst/>
          </a:prstGeom>
        </p:spPr>
      </p:pic>
    </p:spTree>
    <p:extLst>
      <p:ext uri="{BB962C8B-B14F-4D97-AF65-F5344CB8AC3E}">
        <p14:creationId xmlns:p14="http://schemas.microsoft.com/office/powerpoint/2010/main" val="26094892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F340C-0976-6412-A09A-2DA4A0F0A51E}"/>
              </a:ext>
            </a:extLst>
          </p:cNvPr>
          <p:cNvSpPr>
            <a:spLocks noGrp="1"/>
          </p:cNvSpPr>
          <p:nvPr>
            <p:ph type="title"/>
          </p:nvPr>
        </p:nvSpPr>
        <p:spPr>
          <a:xfrm>
            <a:off x="669852" y="265813"/>
            <a:ext cx="10175358" cy="765545"/>
          </a:xfrm>
        </p:spPr>
        <p:txBody>
          <a:bodyPr>
            <a:noAutofit/>
          </a:bodyPr>
          <a:lstStyle/>
          <a:p>
            <a:r>
              <a:rPr lang="en-US" sz="2400" b="1" dirty="0">
                <a:solidFill>
                  <a:schemeClr val="tx2">
                    <a:lumMod val="90000"/>
                    <a:lumOff val="10000"/>
                  </a:schemeClr>
                </a:solidFill>
                <a:latin typeface="Calibri" panose="020F0502020204030204" pitchFamily="34" charset="0"/>
                <a:cs typeface="Calibri" panose="020F0502020204030204" pitchFamily="34" charset="0"/>
              </a:rPr>
              <a:t>Risks</a:t>
            </a:r>
          </a:p>
        </p:txBody>
      </p:sp>
      <p:sp>
        <p:nvSpPr>
          <p:cNvPr id="3" name="Content Placeholder 2">
            <a:extLst>
              <a:ext uri="{FF2B5EF4-FFF2-40B4-BE49-F238E27FC236}">
                <a16:creationId xmlns:a16="http://schemas.microsoft.com/office/drawing/2014/main" id="{32F11A15-DA1A-8D19-09BF-E1F028DC0AE9}"/>
              </a:ext>
            </a:extLst>
          </p:cNvPr>
          <p:cNvSpPr>
            <a:spLocks noGrp="1"/>
          </p:cNvSpPr>
          <p:nvPr>
            <p:ph idx="1"/>
          </p:nvPr>
        </p:nvSpPr>
        <p:spPr>
          <a:xfrm>
            <a:off x="669851" y="1134508"/>
            <a:ext cx="11281144" cy="5383249"/>
          </a:xfrm>
        </p:spPr>
        <p:txBody>
          <a:bodyPr>
            <a:normAutofit/>
          </a:bodyPr>
          <a:lstStyle/>
          <a:p>
            <a:pPr marL="0" indent="0">
              <a:buNone/>
            </a:pPr>
            <a:r>
              <a:rPr lang="en-US" sz="1800" kern="0" dirty="0">
                <a:effectLst/>
                <a:latin typeface="Calibri" panose="020F0502020204030204" pitchFamily="34" charset="0"/>
                <a:ea typeface="Times New Roman" panose="02020603050405020304" pitchFamily="18" charset="0"/>
                <a:cs typeface="Calibri" panose="020F0502020204030204" pitchFamily="34" charset="0"/>
              </a:rPr>
              <a:t>Mastercard faces structural, competitive, and regulatory headwinds that may constrain growth, compress margins, and erode its competitive moat. As the global payment's ecosystem evolves, Mastercard’s traditional revenue model—based heavily on interchange fees and transaction volumes—faces disruption from digital wallets, real-time payment networks, and regulatory pressure. The company's high valuation amplifies downside risk if growth slows or sentiment shifts.</a:t>
            </a:r>
            <a:br>
              <a:rPr lang="en-US" sz="1800" kern="100" dirty="0">
                <a:effectLst/>
                <a:latin typeface="Calibri" panose="020F0502020204030204" pitchFamily="34" charset="0"/>
                <a:ea typeface="Aptos" panose="020B0004020202020204" pitchFamily="34" charset="0"/>
                <a:cs typeface="Calibri" panose="020F0502020204030204" pitchFamily="34" charset="0"/>
              </a:rPr>
            </a:b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57150" marR="0" indent="-285750">
              <a:lnSpc>
                <a:spcPct val="115000"/>
              </a:lnSpc>
              <a:spcAft>
                <a:spcPts val="800"/>
              </a:spcAft>
              <a:buFont typeface="Wingdings" pitchFamily="2" charset="2"/>
              <a:buChar char="Ø"/>
            </a:pPr>
            <a:r>
              <a:rPr lang="en-US" sz="1800" b="1" kern="0" dirty="0">
                <a:solidFill>
                  <a:srgbClr val="4E95D9"/>
                </a:solidFill>
                <a:effectLst/>
                <a:latin typeface="Calibri" panose="020F0502020204030204" pitchFamily="34" charset="0"/>
                <a:ea typeface="Times New Roman" panose="02020603050405020304" pitchFamily="18" charset="0"/>
                <a:cs typeface="Calibri" panose="020F0502020204030204" pitchFamily="34" charset="0"/>
              </a:rPr>
              <a:t>Disintermediation by Fintech and Big Tech</a:t>
            </a:r>
            <a:endParaRPr lang="en-US" sz="1800" kern="100" dirty="0">
              <a:solidFill>
                <a:srgbClr val="4E95D9"/>
              </a:solidFill>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Threat from real-time payments (RTP):</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Governments and central banks globally (e.g., FedNow in the U.S., UPI in India) are rolling out instant payment systems that bypass card networks, reducing Mastercard's relevance in domestic transactions.</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Digital wallets and closed-loop systems:</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Players like Apple Pay, PayPal, Square, and emerging super apps (e.g., in Asia) are creating ecosystems that can route payments outside traditional card rails.</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Direct bank-to-bank transfers</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may gain traction due to lower fees and faster settlement.</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endParaRPr lang="en-US" sz="1800" dirty="0"/>
          </a:p>
        </p:txBody>
      </p:sp>
    </p:spTree>
    <p:extLst>
      <p:ext uri="{BB962C8B-B14F-4D97-AF65-F5344CB8AC3E}">
        <p14:creationId xmlns:p14="http://schemas.microsoft.com/office/powerpoint/2010/main" val="15170730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C4023A-AD7C-BB5C-F55D-6105F892C831}"/>
              </a:ext>
            </a:extLst>
          </p:cNvPr>
          <p:cNvSpPr>
            <a:spLocks noGrp="1"/>
          </p:cNvSpPr>
          <p:nvPr>
            <p:ph idx="1"/>
          </p:nvPr>
        </p:nvSpPr>
        <p:spPr>
          <a:xfrm>
            <a:off x="265814" y="350873"/>
            <a:ext cx="11600121" cy="6251945"/>
          </a:xfrm>
        </p:spPr>
        <p:txBody>
          <a:bodyPr/>
          <a:lstStyle/>
          <a:p>
            <a:pPr marL="57150" marR="0" indent="-285750">
              <a:lnSpc>
                <a:spcPct val="115000"/>
              </a:lnSpc>
              <a:spcAft>
                <a:spcPts val="800"/>
              </a:spcAft>
              <a:buFont typeface="Wingdings" pitchFamily="2" charset="2"/>
              <a:buChar char="Ø"/>
            </a:pPr>
            <a:r>
              <a:rPr lang="en-US" sz="1800" b="1" kern="0" dirty="0">
                <a:solidFill>
                  <a:srgbClr val="4E95D9"/>
                </a:solidFill>
                <a:effectLst/>
                <a:latin typeface="Calibri" panose="020F0502020204030204" pitchFamily="34" charset="0"/>
                <a:ea typeface="Times New Roman" panose="02020603050405020304" pitchFamily="18" charset="0"/>
                <a:cs typeface="Calibri" panose="020F0502020204030204" pitchFamily="34" charset="0"/>
              </a:rPr>
              <a:t>Regulatory Risk and Interchange Fee Pressure</a:t>
            </a:r>
            <a:endParaRPr lang="en-US" sz="1800" kern="100" dirty="0">
              <a:solidFill>
                <a:srgbClr val="4E95D9"/>
              </a:solidFill>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Global scrutiny of interchange fees:</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Mastercard faces growing regulatory scrutiny, particularly in the EU and increasingly in the U.S., where legislators are targeting credit card fee structures as anti-competitive and inflationary.</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Potential caps or restructuring of fees</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could impair Mastercard’s core revenue streams.</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Legal risks:</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Ongoing and future antitrust lawsuits may result in fines, settlements, or structural business changes.</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57150" marR="0" indent="-285750">
              <a:lnSpc>
                <a:spcPct val="115000"/>
              </a:lnSpc>
              <a:spcAft>
                <a:spcPts val="800"/>
              </a:spcAft>
              <a:buFont typeface="Wingdings" pitchFamily="2" charset="2"/>
              <a:buChar char="Ø"/>
            </a:pPr>
            <a:r>
              <a:rPr lang="en-US" sz="1800" b="1" kern="0" dirty="0">
                <a:solidFill>
                  <a:srgbClr val="4E95D9"/>
                </a:solidFill>
                <a:effectLst/>
                <a:latin typeface="Calibri" panose="020F0502020204030204" pitchFamily="34" charset="0"/>
                <a:ea typeface="Times New Roman" panose="02020603050405020304" pitchFamily="18" charset="0"/>
                <a:cs typeface="Calibri" panose="020F0502020204030204" pitchFamily="34" charset="0"/>
              </a:rPr>
              <a:t>Macroeconomic Sensitivity</a:t>
            </a:r>
            <a:endParaRPr lang="en-US" sz="1800" kern="100" dirty="0">
              <a:solidFill>
                <a:srgbClr val="4E95D9"/>
              </a:solidFill>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Consumer spending exposure:</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Mastercard’s revenue is tied directly to consumer and business spending volume. A recession or economic slowdown could meaningfully hurt transaction growth.</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Currency headwinds:</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As a global company, Mastercard’s earnings are sensitive to foreign exchange fluctuations, particularly if the U.S. dollar strengthens.</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3561591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1EF1C1-0849-D6E1-C1E8-B7C140CF555F}"/>
              </a:ext>
            </a:extLst>
          </p:cNvPr>
          <p:cNvSpPr>
            <a:spLocks noGrp="1"/>
          </p:cNvSpPr>
          <p:nvPr>
            <p:ph idx="1"/>
          </p:nvPr>
        </p:nvSpPr>
        <p:spPr>
          <a:xfrm>
            <a:off x="319088" y="212725"/>
            <a:ext cx="11579225" cy="6357938"/>
          </a:xfrm>
        </p:spPr>
        <p:txBody>
          <a:bodyPr/>
          <a:lstStyle/>
          <a:p>
            <a:pPr marL="57150" marR="0" indent="-285750">
              <a:lnSpc>
                <a:spcPct val="115000"/>
              </a:lnSpc>
              <a:spcAft>
                <a:spcPts val="800"/>
              </a:spcAft>
              <a:buFont typeface="Wingdings" pitchFamily="2" charset="2"/>
              <a:buChar char="Ø"/>
            </a:pPr>
            <a:r>
              <a:rPr lang="en-US" sz="1800" b="1" kern="0" dirty="0">
                <a:solidFill>
                  <a:srgbClr val="4E95D9"/>
                </a:solidFill>
                <a:effectLst/>
                <a:latin typeface="Calibri" panose="020F0502020204030204" pitchFamily="34" charset="0"/>
                <a:ea typeface="Times New Roman" panose="02020603050405020304" pitchFamily="18" charset="0"/>
                <a:cs typeface="Calibri" panose="020F0502020204030204" pitchFamily="34" charset="0"/>
              </a:rPr>
              <a:t>Slowing Growth and Market Saturation</a:t>
            </a:r>
            <a:endParaRPr lang="en-US" sz="1800" kern="100" dirty="0">
              <a:solidFill>
                <a:srgbClr val="4E95D9"/>
              </a:solidFill>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Mature markets:</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In key markets like the U.S. and Western Europe, card penetration is already high, limiting further expansion opportunities.</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Emerging markets:</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Although promising, these markets pose geopolitical, currency, and regulatory risks that could impair Mastercard’s ability to grow reliably.</a:t>
            </a:r>
          </a:p>
          <a:p>
            <a:pPr marL="34290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Cannibalization risk:</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As Mastercard pushes into new products (e.g., buy now pay later, open banking), it may cannibalize its core high-margin businesses.</a:t>
            </a:r>
          </a:p>
          <a:p>
            <a:pPr marL="57150" marR="0" indent="-285750">
              <a:lnSpc>
                <a:spcPct val="115000"/>
              </a:lnSpc>
              <a:spcAft>
                <a:spcPts val="800"/>
              </a:spcAft>
              <a:buFont typeface="Wingdings" pitchFamily="2" charset="2"/>
              <a:buChar char="Ø"/>
            </a:pPr>
            <a:r>
              <a:rPr lang="en-US" sz="1800" b="1" kern="0" dirty="0">
                <a:solidFill>
                  <a:srgbClr val="4E95D9"/>
                </a:solidFill>
                <a:effectLst/>
                <a:latin typeface="Calibri" panose="020F0502020204030204" pitchFamily="34" charset="0"/>
                <a:ea typeface="Times New Roman" panose="02020603050405020304" pitchFamily="18" charset="0"/>
                <a:cs typeface="Calibri" panose="020F0502020204030204" pitchFamily="34" charset="0"/>
              </a:rPr>
              <a:t>High Valuation and Limited Margin for Error</a:t>
            </a:r>
            <a:endParaRPr lang="en-US" sz="1800" kern="100" dirty="0">
              <a:solidFill>
                <a:srgbClr val="4E95D9"/>
              </a:solidFill>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Premium multiple:</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Mastercard trades at a high forward P/E and EV/EBITDA multiple relative to both payment peers and the broader market.</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Growth expectations baked in:</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Any deceleration in cross-border growth, fintech partnerships, or innovation uptake could trigger multiple compression.</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r>
              <a:rPr lang="en-US" sz="1800" b="1" kern="0" dirty="0">
                <a:effectLst/>
                <a:latin typeface="Calibri" panose="020F0502020204030204" pitchFamily="34" charset="0"/>
                <a:ea typeface="Times New Roman" panose="02020603050405020304" pitchFamily="18" charset="0"/>
                <a:cs typeface="Calibri" panose="020F0502020204030204" pitchFamily="34" charset="0"/>
              </a:rPr>
              <a:t>Buybacks as a crutch:</a:t>
            </a:r>
            <a:r>
              <a:rPr lang="en-US" sz="1800" kern="0" dirty="0">
                <a:effectLst/>
                <a:latin typeface="Calibri" panose="020F0502020204030204" pitchFamily="34" charset="0"/>
                <a:ea typeface="Times New Roman" panose="02020603050405020304" pitchFamily="18" charset="0"/>
                <a:cs typeface="Calibri" panose="020F0502020204030204" pitchFamily="34" charset="0"/>
              </a:rPr>
              <a:t> The company has relied on share repurchases to support EPS growth—unsustainable if revenue slows.</a:t>
            </a: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0" indent="0">
              <a:lnSpc>
                <a:spcPct val="115000"/>
              </a:lnSpc>
              <a:spcAft>
                <a:spcPts val="800"/>
              </a:spcAft>
              <a:buSzPts val="1000"/>
              <a:buNone/>
              <a:tabLst>
                <a:tab pos="457200" algn="l"/>
              </a:tabLst>
            </a:pP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nSpc>
                <a:spcPct val="115000"/>
              </a:lnSpc>
              <a:spcAft>
                <a:spcPts val="800"/>
              </a:spcAft>
              <a:buSzPts val="1000"/>
              <a:buFont typeface="Symbol" pitchFamily="2" charset="2"/>
              <a:buChar char=""/>
              <a:tabLst>
                <a:tab pos="457200" algn="l"/>
              </a:tabLst>
            </a:pPr>
            <a:endParaRPr lang="en-US" sz="1800" kern="100" dirty="0">
              <a:effectLst/>
              <a:latin typeface="Calibri" panose="020F0502020204030204" pitchFamily="34" charset="0"/>
              <a:ea typeface="Aptos" panose="020B000402020202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10271479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2B66D-A73D-4CA1-6C4E-A9095A38396D}"/>
            </a:ext>
          </a:extLst>
        </p:cNvPr>
        <p:cNvGrpSpPr/>
        <p:nvPr/>
      </p:nvGrpSpPr>
      <p:grpSpPr>
        <a:xfrm>
          <a:off x="0" y="0"/>
          <a:ext cx="0" cy="0"/>
          <a:chOff x="0" y="0"/>
          <a:chExt cx="0" cy="0"/>
        </a:xfrm>
      </p:grpSpPr>
      <p:pic>
        <p:nvPicPr>
          <p:cNvPr id="5" name="Content Placeholder 4" descr="A green circle with red dots and a green line with a red dot&#10;&#10;AI-generated content may be incorrect.">
            <a:extLst>
              <a:ext uri="{FF2B5EF4-FFF2-40B4-BE49-F238E27FC236}">
                <a16:creationId xmlns:a16="http://schemas.microsoft.com/office/drawing/2014/main" id="{A1EEBDB3-374D-E2B9-EF4E-C85019E60C86}"/>
              </a:ext>
            </a:extLst>
          </p:cNvPr>
          <p:cNvPicPr>
            <a:picLocks noGrp="1" noChangeAspect="1"/>
          </p:cNvPicPr>
          <p:nvPr>
            <p:ph idx="1"/>
          </p:nvPr>
        </p:nvPicPr>
        <p:blipFill>
          <a:blip r:embed="rId2"/>
          <a:stretch>
            <a:fillRect/>
          </a:stretch>
        </p:blipFill>
        <p:spPr>
          <a:xfrm>
            <a:off x="1008265" y="643466"/>
            <a:ext cx="10175470" cy="5571067"/>
          </a:xfrm>
          <a:prstGeom prst="rect">
            <a:avLst/>
          </a:prstGeom>
        </p:spPr>
      </p:pic>
    </p:spTree>
    <p:extLst>
      <p:ext uri="{BB962C8B-B14F-4D97-AF65-F5344CB8AC3E}">
        <p14:creationId xmlns:p14="http://schemas.microsoft.com/office/powerpoint/2010/main" val="27313374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stock market&#10;&#10;AI-generated content may be incorrect.">
            <a:extLst>
              <a:ext uri="{FF2B5EF4-FFF2-40B4-BE49-F238E27FC236}">
                <a16:creationId xmlns:a16="http://schemas.microsoft.com/office/drawing/2014/main" id="{82A9A70D-806A-0ED0-7542-22B4C805EA35}"/>
              </a:ext>
            </a:extLst>
          </p:cNvPr>
          <p:cNvPicPr>
            <a:picLocks noGrp="1" noChangeAspect="1"/>
          </p:cNvPicPr>
          <p:nvPr>
            <p:ph idx="1"/>
          </p:nvPr>
        </p:nvPicPr>
        <p:blipFill>
          <a:blip r:embed="rId2"/>
          <a:stretch>
            <a:fillRect/>
          </a:stretch>
        </p:blipFill>
        <p:spPr>
          <a:xfrm>
            <a:off x="643467" y="661840"/>
            <a:ext cx="10905066" cy="5534318"/>
          </a:xfrm>
          <a:prstGeom prst="rect">
            <a:avLst/>
          </a:prstGeom>
        </p:spPr>
      </p:pic>
    </p:spTree>
    <p:extLst>
      <p:ext uri="{BB962C8B-B14F-4D97-AF65-F5344CB8AC3E}">
        <p14:creationId xmlns:p14="http://schemas.microsoft.com/office/powerpoint/2010/main" val="7229742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graph&#10;&#10;AI-generated content may be incorrect.">
            <a:extLst>
              <a:ext uri="{FF2B5EF4-FFF2-40B4-BE49-F238E27FC236}">
                <a16:creationId xmlns:a16="http://schemas.microsoft.com/office/drawing/2014/main" id="{A35A16C5-4D05-9506-AF4F-A7CBF2E013B8}"/>
              </a:ext>
            </a:extLst>
          </p:cNvPr>
          <p:cNvPicPr>
            <a:picLocks noGrp="1" noChangeAspect="1"/>
          </p:cNvPicPr>
          <p:nvPr>
            <p:ph idx="1"/>
          </p:nvPr>
        </p:nvPicPr>
        <p:blipFill>
          <a:blip r:embed="rId2"/>
          <a:stretch>
            <a:fillRect/>
          </a:stretch>
        </p:blipFill>
        <p:spPr>
          <a:xfrm>
            <a:off x="2127206" y="425450"/>
            <a:ext cx="7651837" cy="5751513"/>
          </a:xfrm>
        </p:spPr>
      </p:pic>
    </p:spTree>
    <p:extLst>
      <p:ext uri="{BB962C8B-B14F-4D97-AF65-F5344CB8AC3E}">
        <p14:creationId xmlns:p14="http://schemas.microsoft.com/office/powerpoint/2010/main" val="40576592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D97CE3-3D9C-4DFD-D466-281D16FDC62A}"/>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Calibri" panose="020F0502020204030204" pitchFamily="34" charset="0"/>
                <a:cs typeface="Calibri" panose="020F0502020204030204" pitchFamily="34" charset="0"/>
              </a:rPr>
              <a:t>Mastercard Growth Drivers</a:t>
            </a:r>
          </a:p>
        </p:txBody>
      </p:sp>
      <p:pic>
        <p:nvPicPr>
          <p:cNvPr id="5" name="Content Placeholder 4" descr="A screenshot of a computer&#10;&#10;AI-generated content may be incorrect.">
            <a:extLst>
              <a:ext uri="{FF2B5EF4-FFF2-40B4-BE49-F238E27FC236}">
                <a16:creationId xmlns:a16="http://schemas.microsoft.com/office/drawing/2014/main" id="{4112D25A-43BF-3C48-0785-0B8D24EF7A02}"/>
              </a:ext>
            </a:extLst>
          </p:cNvPr>
          <p:cNvPicPr>
            <a:picLocks noGrp="1" noChangeAspect="1"/>
          </p:cNvPicPr>
          <p:nvPr>
            <p:ph idx="1"/>
          </p:nvPr>
        </p:nvPicPr>
        <p:blipFill>
          <a:blip r:embed="rId2"/>
          <a:stretch>
            <a:fillRect/>
          </a:stretch>
        </p:blipFill>
        <p:spPr>
          <a:xfrm>
            <a:off x="1074057" y="1675227"/>
            <a:ext cx="10043886" cy="4394199"/>
          </a:xfrm>
          <a:prstGeom prst="rect">
            <a:avLst/>
          </a:prstGeom>
        </p:spPr>
      </p:pic>
    </p:spTree>
    <p:extLst>
      <p:ext uri="{BB962C8B-B14F-4D97-AF65-F5344CB8AC3E}">
        <p14:creationId xmlns:p14="http://schemas.microsoft.com/office/powerpoint/2010/main" val="4291673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lose-up of a white paper&#10;&#10;AI-generated content may be incorrect.">
            <a:extLst>
              <a:ext uri="{FF2B5EF4-FFF2-40B4-BE49-F238E27FC236}">
                <a16:creationId xmlns:a16="http://schemas.microsoft.com/office/drawing/2014/main" id="{51A88E91-A666-1BD0-BBE5-BC064C592895}"/>
              </a:ext>
            </a:extLst>
          </p:cNvPr>
          <p:cNvPicPr>
            <a:picLocks noGrp="1" noChangeAspect="1"/>
          </p:cNvPicPr>
          <p:nvPr>
            <p:ph idx="1"/>
          </p:nvPr>
        </p:nvPicPr>
        <p:blipFill>
          <a:blip r:embed="rId2"/>
          <a:stretch>
            <a:fillRect/>
          </a:stretch>
        </p:blipFill>
        <p:spPr>
          <a:xfrm>
            <a:off x="462713" y="650654"/>
            <a:ext cx="11190571" cy="4196464"/>
          </a:xfrm>
          <a:prstGeom prst="rect">
            <a:avLst/>
          </a:prstGeom>
        </p:spPr>
      </p:pic>
    </p:spTree>
    <p:extLst>
      <p:ext uri="{BB962C8B-B14F-4D97-AF65-F5344CB8AC3E}">
        <p14:creationId xmlns:p14="http://schemas.microsoft.com/office/powerpoint/2010/main" val="3765058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AI-generated content may be incorrect.">
            <a:extLst>
              <a:ext uri="{FF2B5EF4-FFF2-40B4-BE49-F238E27FC236}">
                <a16:creationId xmlns:a16="http://schemas.microsoft.com/office/drawing/2014/main" id="{9677E6F9-E56F-D29A-E25F-C80EA88F2E2E}"/>
              </a:ext>
            </a:extLst>
          </p:cNvPr>
          <p:cNvPicPr>
            <a:picLocks noGrp="1" noChangeAspect="1"/>
          </p:cNvPicPr>
          <p:nvPr>
            <p:ph idx="1"/>
          </p:nvPr>
        </p:nvPicPr>
        <p:blipFill>
          <a:blip r:embed="rId2"/>
          <a:stretch>
            <a:fillRect/>
          </a:stretch>
        </p:blipFill>
        <p:spPr>
          <a:xfrm>
            <a:off x="570234" y="819623"/>
            <a:ext cx="10160000" cy="2273300"/>
          </a:xfrm>
        </p:spPr>
      </p:pic>
      <p:pic>
        <p:nvPicPr>
          <p:cNvPr id="7" name="Picture 6" descr="A close up of text&#10;&#10;AI-generated content may be incorrect.">
            <a:extLst>
              <a:ext uri="{FF2B5EF4-FFF2-40B4-BE49-F238E27FC236}">
                <a16:creationId xmlns:a16="http://schemas.microsoft.com/office/drawing/2014/main" id="{0F94887F-6DDE-3009-9313-59ED63A7E9CD}"/>
              </a:ext>
            </a:extLst>
          </p:cNvPr>
          <p:cNvPicPr>
            <a:picLocks noChangeAspect="1"/>
          </p:cNvPicPr>
          <p:nvPr/>
        </p:nvPicPr>
        <p:blipFill>
          <a:blip r:embed="rId3"/>
          <a:stretch>
            <a:fillRect/>
          </a:stretch>
        </p:blipFill>
        <p:spPr>
          <a:xfrm>
            <a:off x="570233" y="3117377"/>
            <a:ext cx="10159999" cy="1693333"/>
          </a:xfrm>
          <a:prstGeom prst="rect">
            <a:avLst/>
          </a:prstGeom>
        </p:spPr>
      </p:pic>
    </p:spTree>
    <p:extLst>
      <p:ext uri="{BB962C8B-B14F-4D97-AF65-F5344CB8AC3E}">
        <p14:creationId xmlns:p14="http://schemas.microsoft.com/office/powerpoint/2010/main" val="20549291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7E76-1AF5-9B25-5DC4-BB9A7470052C}"/>
              </a:ext>
            </a:extLst>
          </p:cNvPr>
          <p:cNvSpPr>
            <a:spLocks noGrp="1"/>
          </p:cNvSpPr>
          <p:nvPr>
            <p:ph type="title"/>
          </p:nvPr>
        </p:nvSpPr>
        <p:spPr>
          <a:xfrm>
            <a:off x="838200" y="365125"/>
            <a:ext cx="10379149" cy="900149"/>
          </a:xfrm>
        </p:spPr>
        <p:txBody>
          <a:bodyPr>
            <a:normAutofit/>
          </a:bodyPr>
          <a:lstStyle/>
          <a:p>
            <a:r>
              <a:rPr lang="en-US" sz="2800" b="1" dirty="0">
                <a:solidFill>
                  <a:schemeClr val="tx2">
                    <a:lumMod val="90000"/>
                    <a:lumOff val="10000"/>
                  </a:schemeClr>
                </a:solidFill>
                <a:latin typeface="Calibri" panose="020F0502020204030204" pitchFamily="34" charset="0"/>
                <a:cs typeface="Calibri" panose="020F0502020204030204" pitchFamily="34" charset="0"/>
              </a:rPr>
              <a:t>THESIS SUMMARY</a:t>
            </a:r>
          </a:p>
        </p:txBody>
      </p:sp>
      <p:sp>
        <p:nvSpPr>
          <p:cNvPr id="3" name="Content Placeholder 2">
            <a:extLst>
              <a:ext uri="{FF2B5EF4-FFF2-40B4-BE49-F238E27FC236}">
                <a16:creationId xmlns:a16="http://schemas.microsoft.com/office/drawing/2014/main" id="{A086211A-C16A-BFCB-FA00-3F0E8CDEF031}"/>
              </a:ext>
            </a:extLst>
          </p:cNvPr>
          <p:cNvSpPr>
            <a:spLocks noGrp="1"/>
          </p:cNvSpPr>
          <p:nvPr>
            <p:ph idx="1"/>
          </p:nvPr>
        </p:nvSpPr>
        <p:spPr>
          <a:xfrm>
            <a:off x="838199" y="1265273"/>
            <a:ext cx="10995837" cy="5124893"/>
          </a:xfrm>
        </p:spPr>
        <p:txBody>
          <a:bodyPr>
            <a:normAutofit/>
          </a:bodyPr>
          <a:lstStyle/>
          <a:p>
            <a:r>
              <a:rPr lang="en-US" sz="1800" b="1" dirty="0">
                <a:solidFill>
                  <a:srgbClr val="4E95D9"/>
                </a:solidFill>
                <a:latin typeface="Calibri" panose="020F0502020204030204" pitchFamily="34" charset="0"/>
                <a:cs typeface="Calibri" panose="020F0502020204030204" pitchFamily="34" charset="0"/>
              </a:rPr>
              <a:t>Dominant Market Position in Global Payments</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Mastercard is one of the two largest global payment networks (alongside Visa), operating a duopoly with massive scale and brand recognition. Its secure, fast, and reliable infrastructure underpins trillions of dollars in annual transaction volume, creating a powerful network effect that is difficult to replicate.</a:t>
            </a:r>
          </a:p>
          <a:p>
            <a:r>
              <a:rPr lang="en-US" sz="1800" b="1" dirty="0">
                <a:solidFill>
                  <a:srgbClr val="4E95D9"/>
                </a:solidFill>
                <a:latin typeface="Calibri" panose="020F0502020204030204" pitchFamily="34" charset="0"/>
                <a:cs typeface="Calibri" panose="020F0502020204030204" pitchFamily="34" charset="0"/>
              </a:rPr>
              <a:t>Secular Tailwinds in Digital Payments</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The global transition from cash to digital payments continues to accelerate, driven by e-commerce, contactless payments, fintech adoption, and financial inclusion initiatives. Mastercard is a key enabler of this trend, positioning it to benefit from sustained, long-term volume growth globally—especially in emerging markets.</a:t>
            </a:r>
          </a:p>
          <a:p>
            <a:r>
              <a:rPr lang="en-US" sz="1800" b="1" dirty="0">
                <a:solidFill>
                  <a:srgbClr val="4E95D9"/>
                </a:solidFill>
                <a:latin typeface="Calibri" panose="020F0502020204030204" pitchFamily="34" charset="0"/>
                <a:cs typeface="Calibri" panose="020F0502020204030204" pitchFamily="34" charset="0"/>
              </a:rPr>
              <a:t>High Operating Leverage &amp; Strong Margins</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Mastercard’s business model—charging fees on volume rather than bearing credit risk—produces robust profit margins and free cash flow. As volume grows, the company scales efficiently, turning incremental revenue into substantial operating profit.</a:t>
            </a:r>
          </a:p>
          <a:p>
            <a:r>
              <a:rPr lang="en-US" sz="1800" b="1" dirty="0">
                <a:solidFill>
                  <a:srgbClr val="4E95D9"/>
                </a:solidFill>
                <a:latin typeface="Calibri" panose="020F0502020204030204" pitchFamily="34" charset="0"/>
                <a:cs typeface="Calibri" panose="020F0502020204030204" pitchFamily="34" charset="0"/>
              </a:rPr>
              <a:t>Strategic Expansion into High-Growth Adjacent Markets</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Mastercard is investing in value-added services, open banking, cybersecurity, real-time payments and B2B transactions. These initiatives diversify revenue streams and expand its total addressable market beyond traditional card payments.</a:t>
            </a:r>
          </a:p>
        </p:txBody>
      </p:sp>
    </p:spTree>
    <p:extLst>
      <p:ext uri="{BB962C8B-B14F-4D97-AF65-F5344CB8AC3E}">
        <p14:creationId xmlns:p14="http://schemas.microsoft.com/office/powerpoint/2010/main" val="479665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514046-6F80-FFF4-4E6B-378A865A946E}"/>
              </a:ext>
            </a:extLst>
          </p:cNvPr>
          <p:cNvSpPr>
            <a:spLocks noGrp="1"/>
          </p:cNvSpPr>
          <p:nvPr>
            <p:ph idx="1"/>
          </p:nvPr>
        </p:nvSpPr>
        <p:spPr>
          <a:xfrm>
            <a:off x="563526" y="520995"/>
            <a:ext cx="10790274" cy="5655968"/>
          </a:xfrm>
        </p:spPr>
        <p:txBody>
          <a:bodyPr/>
          <a:lstStyle/>
          <a:p>
            <a:r>
              <a:rPr lang="en-US" sz="1800" b="1" dirty="0">
                <a:solidFill>
                  <a:srgbClr val="4E95D9"/>
                </a:solidFill>
                <a:latin typeface="Calibri" panose="020F0502020204030204" pitchFamily="34" charset="0"/>
                <a:cs typeface="Calibri" panose="020F0502020204030204" pitchFamily="34" charset="0"/>
              </a:rPr>
              <a:t>Shareholder-Friendly Capital Allocation</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The company has a consistent track record of returning capital via share buybacks and dividends while maintaining investment in innovation and growth. Its strong balance sheet and cash flow generation support this balanced approach.</a:t>
            </a:r>
          </a:p>
          <a:p>
            <a:r>
              <a:rPr lang="en-US" sz="1800" b="1" dirty="0">
                <a:solidFill>
                  <a:srgbClr val="4E95D9"/>
                </a:solidFill>
                <a:latin typeface="Calibri" panose="020F0502020204030204" pitchFamily="34" charset="0"/>
                <a:cs typeface="Calibri" panose="020F0502020204030204" pitchFamily="34" charset="0"/>
              </a:rPr>
              <a:t>Resilience and Pricing Power</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Mastercard’s entrenched role in the financial system provides pricing power and resilience against macroeconomic volatility. Even during economic downturns, transaction volumes tied to everyday spending remain relatively stable.</a:t>
            </a:r>
          </a:p>
          <a:p>
            <a:r>
              <a:rPr lang="en-US" sz="1800" b="1" dirty="0">
                <a:solidFill>
                  <a:srgbClr val="4E95D9"/>
                </a:solidFill>
                <a:latin typeface="Calibri" panose="020F0502020204030204" pitchFamily="34" charset="0"/>
                <a:cs typeface="Calibri" panose="020F0502020204030204" pitchFamily="34" charset="0"/>
              </a:rPr>
              <a:t>Exposure to Global Economic Growth and Inflation Hedge</a:t>
            </a:r>
            <a:br>
              <a:rPr lang="en-US"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As a toll-taker on global commerce, Mastercard benefits from GDP growth, consumption trends, and inflation (since its fees are tied to transaction value). This makes it a potential inflation hedge in investor portfolios.</a:t>
            </a:r>
          </a:p>
          <a:p>
            <a:r>
              <a:rPr lang="en-US" sz="1800" dirty="0">
                <a:latin typeface="Calibri" panose="020F0502020204030204" pitchFamily="34" charset="0"/>
                <a:cs typeface="Calibri" panose="020F0502020204030204" pitchFamily="34" charset="0"/>
              </a:rPr>
              <a:t>Mastercard has shown excellent performance over the last 17 years with an average annual return of ~21% outperforming most peer competitors and both S&amp;P500 and NASDAQ100 Index.</a:t>
            </a:r>
          </a:p>
          <a:p>
            <a:r>
              <a:rPr lang="en-US" sz="1800" dirty="0">
                <a:latin typeface="Calibri" panose="020F0502020204030204" pitchFamily="34" charset="0"/>
                <a:cs typeface="Calibri" panose="020F0502020204030204" pitchFamily="34" charset="0"/>
              </a:rPr>
              <a:t>Mastercard also possess vast amounts of payment transaction data placing it in an ideal position to integrate AI models easily.</a:t>
            </a:r>
          </a:p>
          <a:p>
            <a:endParaRPr lang="en-US" sz="1800" dirty="0">
              <a:latin typeface="Calibri" panose="020F0502020204030204" pitchFamily="34" charset="0"/>
              <a:cs typeface="Calibri" panose="020F0502020204030204" pitchFamily="34" charset="0"/>
            </a:endParaRPr>
          </a:p>
          <a:p>
            <a:endParaRPr lang="en-US" sz="1800" dirty="0">
              <a:latin typeface="Calibri" panose="020F0502020204030204" pitchFamily="34" charset="0"/>
              <a:cs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val="3141612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2890</TotalTime>
  <Words>2945</Words>
  <Application>Microsoft Macintosh PowerPoint</Application>
  <PresentationFormat>Widescreen</PresentationFormat>
  <Paragraphs>189</Paragraphs>
  <Slides>55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Aptos</vt:lpstr>
      <vt:lpstr>Aptos Display</vt:lpstr>
      <vt:lpstr>Arial</vt:lpstr>
      <vt:lpstr>Calibri</vt:lpstr>
      <vt:lpstr>Courier New</vt:lpstr>
      <vt:lpstr>Symbol</vt:lpstr>
      <vt:lpstr>Wingdings</vt:lpstr>
      <vt:lpstr>Office Theme</vt:lpstr>
      <vt:lpstr>A Bullish Case for </vt:lpstr>
      <vt:lpstr>PowerPoint Presentation</vt:lpstr>
      <vt:lpstr>PowerPoint Presentation</vt:lpstr>
      <vt:lpstr>PowerPoint Presentation</vt:lpstr>
      <vt:lpstr>PowerPoint Presentation</vt:lpstr>
      <vt:lpstr>PowerPoint Presentation</vt:lpstr>
      <vt:lpstr>PowerPoint Presentation</vt:lpstr>
      <vt:lpstr>Business Description</vt:lpstr>
      <vt:lpstr>Mastercard 2024 Snapshot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Mastercard Management Team</vt:lpstr>
      <vt:lpstr>Mastercard Mergers &amp; Acquisitions </vt:lpstr>
      <vt:lpstr>PowerPoint Presentation</vt:lpstr>
      <vt:lpstr>COMPETITION</vt:lpstr>
      <vt:lpstr>PowerPoint Presentation</vt:lpstr>
      <vt:lpstr>PowerPoint Presentation</vt:lpstr>
      <vt:lpstr>PowerPoint Presentation</vt:lpstr>
      <vt:lpstr>PEER COMPETITORS</vt:lpstr>
      <vt:lpstr>Risks</vt:lpstr>
      <vt:lpstr>PowerPoint Presentation</vt:lpstr>
      <vt:lpstr>PowerPoint Presentation</vt:lpstr>
      <vt:lpstr>PowerPoint Presentation</vt:lpstr>
      <vt:lpstr>PowerPoint Presentation</vt:lpstr>
      <vt:lpstr>PowerPoint Presentation</vt:lpstr>
      <vt:lpstr>Mastercard Growth Drivers</vt:lpstr>
      <vt:lpstr>PowerPoint Presentation</vt:lpstr>
      <vt:lpstr>PowerPoint Presentation</vt:lpstr>
      <vt:lpstr>THESIS 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Sajid, Ahmed S</dc:creator>
  <cp:lastModifiedBy>Sajid, Ahmed S</cp:lastModifiedBy>
  <cp:revision>202</cp:revision>
  <dcterms:created xsi:type="dcterms:W3CDTF">2025-05-05T03:01:45Z</dcterms:created>
  <dcterms:modified xsi:type="dcterms:W3CDTF">2025-05-08T20:45:31Z</dcterms:modified>
</cp:coreProperties>
</file>