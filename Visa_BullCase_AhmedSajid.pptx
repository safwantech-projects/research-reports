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326" r:id="rId3"/>
    <p:sldId id="327" r:id="rId4"/>
    <p:sldId id="328" r:id="rId5"/>
    <p:sldId id="329" r:id="rId6"/>
    <p:sldId id="330" r:id="rId7"/>
    <p:sldId id="331" r:id="rId8"/>
    <p:sldId id="260" r:id="rId9"/>
    <p:sldId id="259" r:id="rId10"/>
    <p:sldId id="269" r:id="rId11"/>
    <p:sldId id="261" r:id="rId12"/>
    <p:sldId id="263" r:id="rId13"/>
    <p:sldId id="320" r:id="rId14"/>
    <p:sldId id="321" r:id="rId15"/>
    <p:sldId id="294" r:id="rId16"/>
    <p:sldId id="282" r:id="rId17"/>
    <p:sldId id="283" r:id="rId18"/>
    <p:sldId id="317" r:id="rId19"/>
    <p:sldId id="278" r:id="rId20"/>
    <p:sldId id="275" r:id="rId21"/>
    <p:sldId id="276" r:id="rId22"/>
    <p:sldId id="284" r:id="rId23"/>
    <p:sldId id="285" r:id="rId24"/>
    <p:sldId id="277" r:id="rId25"/>
    <p:sldId id="286" r:id="rId26"/>
    <p:sldId id="287" r:id="rId27"/>
    <p:sldId id="272" r:id="rId28"/>
    <p:sldId id="273" r:id="rId29"/>
    <p:sldId id="316" r:id="rId30"/>
    <p:sldId id="279" r:id="rId31"/>
    <p:sldId id="280" r:id="rId32"/>
    <p:sldId id="274" r:id="rId33"/>
    <p:sldId id="325" r:id="rId34"/>
    <p:sldId id="281" r:id="rId35"/>
    <p:sldId id="332" r:id="rId36"/>
    <p:sldId id="288" r:id="rId37"/>
    <p:sldId id="292" r:id="rId38"/>
    <p:sldId id="295" r:id="rId39"/>
    <p:sldId id="323" r:id="rId40"/>
    <p:sldId id="305" r:id="rId41"/>
    <p:sldId id="304" r:id="rId42"/>
    <p:sldId id="324" r:id="rId43"/>
    <p:sldId id="306" r:id="rId44"/>
    <p:sldId id="307" r:id="rId45"/>
    <p:sldId id="308" r:id="rId46"/>
    <p:sldId id="318" r:id="rId47"/>
    <p:sldId id="319" r:id="rId48"/>
    <p:sldId id="309" r:id="rId49"/>
    <p:sldId id="310" r:id="rId50"/>
    <p:sldId id="311" r:id="rId51"/>
    <p:sldId id="315" r:id="rId52"/>
    <p:sldId id="312" r:id="rId53"/>
    <p:sldId id="313" r:id="rId54"/>
    <p:sldId id="314" r:id="rId55"/>
    <p:sldId id="322" r:id="rId56"/>
    <p:sldId id="333" r:id="rId57"/>
    <p:sldId id="3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Users\sajid-home\Desktop\MSFIN%20Spring%202025\FINA%207325\Annual_IncomeStatement_V.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sajid-home/Desktop/MSFIN%20Spring%202025/FINA%207325/Annual_IncomeStatement_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sajid-home/Desktop/MSFIN%20Spring%202025/FINA%207325/Annual_IncomeStatement_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sajid-home/Desktop/MSFIN%20Spring%202025/FINA%207325/Annual_IncomeStatement_V.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sz="2000" dirty="0">
                <a:latin typeface="Calibri" panose="020F0502020204030204" pitchFamily="34" charset="0"/>
                <a:cs typeface="Calibri" panose="020F0502020204030204" pitchFamily="34" charset="0"/>
              </a:rPr>
              <a:t>VISA</a:t>
            </a:r>
            <a:r>
              <a:rPr lang="en-US" sz="2000" baseline="0" dirty="0">
                <a:latin typeface="Calibri" panose="020F0502020204030204" pitchFamily="34" charset="0"/>
                <a:cs typeface="Calibri" panose="020F0502020204030204" pitchFamily="34" charset="0"/>
              </a:rPr>
              <a:t> Annual</a:t>
            </a:r>
            <a:r>
              <a:rPr lang="en-US" sz="2000" dirty="0">
                <a:latin typeface="Calibri" panose="020F0502020204030204" pitchFamily="34" charset="0"/>
                <a:cs typeface="Calibri" panose="020F0502020204030204" pitchFamily="34" charset="0"/>
              </a:rPr>
              <a:t> Revenue($ millions)</a:t>
            </a:r>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Sheet1!$A$2</c:f>
              <c:strCache>
                <c:ptCount val="1"/>
                <c:pt idx="0">
                  <c:v>Total Revenue</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trendline>
            <c:spPr>
              <a:ln w="28575" cap="rnd">
                <a:solidFill>
                  <a:schemeClr val="lt1">
                    <a:alpha val="50000"/>
                  </a:schemeClr>
                </a:solidFill>
                <a:round/>
              </a:ln>
              <a:effectLst/>
            </c:spPr>
            <c:trendlineType val="linear"/>
            <c:dispRSqr val="0"/>
            <c:dispEq val="0"/>
          </c:trendline>
          <c:cat>
            <c:numRef>
              <c:f>Sheet1!$B$1:$N$1</c:f>
              <c:numCache>
                <c:formatCode>General</c:formatCod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numCache>
            </c:numRef>
          </c:cat>
          <c:val>
            <c:numRef>
              <c:f>Sheet1!$B$2:$N$2</c:f>
              <c:numCache>
                <c:formatCode>#,##0</c:formatCode>
                <c:ptCount val="13"/>
                <c:pt idx="0">
                  <c:v>10421</c:v>
                </c:pt>
                <c:pt idx="1">
                  <c:v>11778</c:v>
                </c:pt>
                <c:pt idx="2">
                  <c:v>12702</c:v>
                </c:pt>
                <c:pt idx="3">
                  <c:v>13880</c:v>
                </c:pt>
                <c:pt idx="4">
                  <c:v>15082</c:v>
                </c:pt>
                <c:pt idx="5">
                  <c:v>18358</c:v>
                </c:pt>
                <c:pt idx="6">
                  <c:v>20609</c:v>
                </c:pt>
                <c:pt idx="7">
                  <c:v>22977</c:v>
                </c:pt>
                <c:pt idx="8">
                  <c:v>21846</c:v>
                </c:pt>
                <c:pt idx="9">
                  <c:v>24105</c:v>
                </c:pt>
                <c:pt idx="10">
                  <c:v>29310</c:v>
                </c:pt>
                <c:pt idx="11">
                  <c:v>32653</c:v>
                </c:pt>
                <c:pt idx="12">
                  <c:v>35926</c:v>
                </c:pt>
              </c:numCache>
            </c:numRef>
          </c:val>
          <c:extLst>
            <c:ext xmlns:c16="http://schemas.microsoft.com/office/drawing/2014/chart" uri="{C3380CC4-5D6E-409C-BE32-E72D297353CC}">
              <c16:uniqueId val="{00000001-21C2-D544-B5A8-B21A0848A10D}"/>
            </c:ext>
          </c:extLst>
        </c:ser>
        <c:dLbls>
          <c:showLegendKey val="0"/>
          <c:showVal val="0"/>
          <c:showCatName val="0"/>
          <c:showSerName val="0"/>
          <c:showPercent val="0"/>
          <c:showBubbleSize val="0"/>
        </c:dLbls>
        <c:gapWidth val="269"/>
        <c:overlap val="-20"/>
        <c:axId val="1271306704"/>
        <c:axId val="1271025936"/>
      </c:barChart>
      <c:catAx>
        <c:axId val="1271306704"/>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271025936"/>
        <c:crosses val="autoZero"/>
        <c:auto val="1"/>
        <c:lblAlgn val="ctr"/>
        <c:lblOffset val="100"/>
        <c:noMultiLvlLbl val="0"/>
      </c:catAx>
      <c:valAx>
        <c:axId val="127102593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271306704"/>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sz="1800" dirty="0">
                <a:latin typeface="Calibri" panose="020F0502020204030204" pitchFamily="34" charset="0"/>
                <a:cs typeface="Calibri" panose="020F0502020204030204" pitchFamily="34" charset="0"/>
              </a:rPr>
              <a:t>Year to</a:t>
            </a:r>
            <a:r>
              <a:rPr lang="en-US" sz="1800" baseline="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Year Revenue</a:t>
            </a:r>
            <a:r>
              <a:rPr lang="en-US" sz="1800" baseline="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Growth rate</a:t>
            </a:r>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Sheet1!$A$3</c:f>
              <c:strCache>
                <c:ptCount val="1"/>
                <c:pt idx="0">
                  <c:v>Growth rate</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Sheet1!$B$1:$N$1</c:f>
              <c:numCache>
                <c:formatCode>General</c:formatCod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numCache>
            </c:numRef>
          </c:cat>
          <c:val>
            <c:numRef>
              <c:f>Sheet1!$B$3:$N$3</c:f>
              <c:numCache>
                <c:formatCode>0%</c:formatCode>
                <c:ptCount val="13"/>
                <c:pt idx="1">
                  <c:v>0.11521480726778741</c:v>
                </c:pt>
                <c:pt idx="2">
                  <c:v>7.2744449692961732E-2</c:v>
                </c:pt>
                <c:pt idx="3">
                  <c:v>8.4870317002881848E-2</c:v>
                </c:pt>
                <c:pt idx="4">
                  <c:v>7.96976528311895E-2</c:v>
                </c:pt>
                <c:pt idx="5">
                  <c:v>0.17845081163525439</c:v>
                </c:pt>
                <c:pt idx="6">
                  <c:v>0.10922412538211461</c:v>
                </c:pt>
                <c:pt idx="7">
                  <c:v>0.10305958132045089</c:v>
                </c:pt>
                <c:pt idx="8">
                  <c:v>-5.1771491348530624E-2</c:v>
                </c:pt>
                <c:pt idx="9">
                  <c:v>9.3714996888612317E-2</c:v>
                </c:pt>
                <c:pt idx="10">
                  <c:v>0.17758444216990787</c:v>
                </c:pt>
                <c:pt idx="11">
                  <c:v>0.10237956696168805</c:v>
                </c:pt>
                <c:pt idx="12">
                  <c:v>9.1103935868173475E-2</c:v>
                </c:pt>
              </c:numCache>
            </c:numRef>
          </c:val>
          <c:extLst>
            <c:ext xmlns:c16="http://schemas.microsoft.com/office/drawing/2014/chart" uri="{C3380CC4-5D6E-409C-BE32-E72D297353CC}">
              <c16:uniqueId val="{00000000-7775-D845-B2A8-E93EBBD28016}"/>
            </c:ext>
          </c:extLst>
        </c:ser>
        <c:dLbls>
          <c:showLegendKey val="0"/>
          <c:showVal val="0"/>
          <c:showCatName val="0"/>
          <c:showSerName val="0"/>
          <c:showPercent val="0"/>
          <c:showBubbleSize val="0"/>
        </c:dLbls>
        <c:gapWidth val="269"/>
        <c:overlap val="-20"/>
        <c:axId val="452577088"/>
        <c:axId val="452643072"/>
      </c:barChart>
      <c:catAx>
        <c:axId val="452577088"/>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452643072"/>
        <c:crosses val="autoZero"/>
        <c:auto val="1"/>
        <c:lblAlgn val="ctr"/>
        <c:lblOffset val="100"/>
        <c:noMultiLvlLbl val="0"/>
      </c:catAx>
      <c:valAx>
        <c:axId val="45264307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452577088"/>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sz="2000" dirty="0">
                <a:latin typeface="Calibri" panose="020F0502020204030204" pitchFamily="34" charset="0"/>
                <a:cs typeface="Calibri" panose="020F0502020204030204" pitchFamily="34" charset="0"/>
              </a:rPr>
              <a:t>VISA ANNUAL Net income($ Millions)</a:t>
            </a:r>
          </a:p>
        </c:rich>
      </c:tx>
      <c:layout>
        <c:manualLayout>
          <c:xMode val="edge"/>
          <c:yMode val="edge"/>
          <c:x val="0.2852474609970741"/>
          <c:y val="1.8469634365011305E-2"/>
        </c:manualLayout>
      </c:layout>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Sheet1!$A$4</c:f>
              <c:strCache>
                <c:ptCount val="1"/>
                <c:pt idx="0">
                  <c:v>Net income</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trendline>
            <c:spPr>
              <a:ln w="28575" cap="rnd">
                <a:solidFill>
                  <a:schemeClr val="lt1">
                    <a:alpha val="50000"/>
                  </a:schemeClr>
                </a:solidFill>
                <a:round/>
              </a:ln>
              <a:effectLst/>
            </c:spPr>
            <c:trendlineType val="linear"/>
            <c:dispRSqr val="0"/>
            <c:dispEq val="0"/>
          </c:trendline>
          <c:cat>
            <c:numRef>
              <c:f>Sheet1!$B$1:$N$1</c:f>
              <c:numCache>
                <c:formatCode>General</c:formatCod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numCache>
            </c:numRef>
          </c:cat>
          <c:val>
            <c:numRef>
              <c:f>Sheet1!$B$4:$N$4</c:f>
              <c:numCache>
                <c:formatCode>#,##0</c:formatCode>
                <c:ptCount val="13"/>
                <c:pt idx="0">
                  <c:v>2144</c:v>
                </c:pt>
                <c:pt idx="1">
                  <c:v>4980</c:v>
                </c:pt>
                <c:pt idx="2">
                  <c:v>5438</c:v>
                </c:pt>
                <c:pt idx="3">
                  <c:v>6328</c:v>
                </c:pt>
                <c:pt idx="4">
                  <c:v>5991</c:v>
                </c:pt>
                <c:pt idx="5">
                  <c:v>6699</c:v>
                </c:pt>
                <c:pt idx="6">
                  <c:v>10301</c:v>
                </c:pt>
                <c:pt idx="7">
                  <c:v>12080</c:v>
                </c:pt>
                <c:pt idx="8">
                  <c:v>10866</c:v>
                </c:pt>
                <c:pt idx="9">
                  <c:v>12311</c:v>
                </c:pt>
                <c:pt idx="10">
                  <c:v>14957</c:v>
                </c:pt>
                <c:pt idx="11">
                  <c:v>17273</c:v>
                </c:pt>
                <c:pt idx="12">
                  <c:v>19743</c:v>
                </c:pt>
              </c:numCache>
            </c:numRef>
          </c:val>
          <c:extLst>
            <c:ext xmlns:c16="http://schemas.microsoft.com/office/drawing/2014/chart" uri="{C3380CC4-5D6E-409C-BE32-E72D297353CC}">
              <c16:uniqueId val="{00000001-8AD5-E145-9773-8345EE492076}"/>
            </c:ext>
          </c:extLst>
        </c:ser>
        <c:dLbls>
          <c:showLegendKey val="0"/>
          <c:showVal val="0"/>
          <c:showCatName val="0"/>
          <c:showSerName val="0"/>
          <c:showPercent val="0"/>
          <c:showBubbleSize val="0"/>
        </c:dLbls>
        <c:gapWidth val="269"/>
        <c:overlap val="-20"/>
        <c:axId val="1569303232"/>
        <c:axId val="1911854464"/>
      </c:barChart>
      <c:catAx>
        <c:axId val="1569303232"/>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911854464"/>
        <c:crosses val="autoZero"/>
        <c:auto val="1"/>
        <c:lblAlgn val="ctr"/>
        <c:lblOffset val="100"/>
        <c:noMultiLvlLbl val="0"/>
      </c:catAx>
      <c:valAx>
        <c:axId val="191185446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569303232"/>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sz="1800" dirty="0">
                <a:latin typeface="Calibri" panose="020F0502020204030204" pitchFamily="34" charset="0"/>
                <a:cs typeface="Calibri" panose="020F0502020204030204" pitchFamily="34" charset="0"/>
              </a:rPr>
              <a:t>Year to year net income Growth rate</a:t>
            </a:r>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Sheet1!$A$5</c:f>
              <c:strCache>
                <c:ptCount val="1"/>
                <c:pt idx="0">
                  <c:v>Growth rate</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Sheet1!$B$1:$N$1</c:f>
              <c:numCache>
                <c:formatCode>General</c:formatCod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numCache>
            </c:numRef>
          </c:cat>
          <c:val>
            <c:numRef>
              <c:f>Sheet1!$B$5:$N$5</c:f>
              <c:numCache>
                <c:formatCode>0%</c:formatCode>
                <c:ptCount val="13"/>
                <c:pt idx="1">
                  <c:v>0.56947791164658634</c:v>
                </c:pt>
                <c:pt idx="2">
                  <c:v>8.4222140492828251E-2</c:v>
                </c:pt>
                <c:pt idx="3">
                  <c:v>0.14064475347661187</c:v>
                </c:pt>
                <c:pt idx="4">
                  <c:v>-5.6251043231513941E-2</c:v>
                </c:pt>
                <c:pt idx="5">
                  <c:v>0.10568741603224362</c:v>
                </c:pt>
                <c:pt idx="6">
                  <c:v>0.34967478885545095</c:v>
                </c:pt>
                <c:pt idx="7">
                  <c:v>0.1472682119205298</c:v>
                </c:pt>
                <c:pt idx="8">
                  <c:v>-0.11172464568378428</c:v>
                </c:pt>
                <c:pt idx="9">
                  <c:v>0.11737470554788401</c:v>
                </c:pt>
                <c:pt idx="10">
                  <c:v>0.17690713378351275</c:v>
                </c:pt>
                <c:pt idx="11">
                  <c:v>0.13408209344062988</c:v>
                </c:pt>
                <c:pt idx="12">
                  <c:v>0.12510763308514411</c:v>
                </c:pt>
              </c:numCache>
            </c:numRef>
          </c:val>
          <c:extLst>
            <c:ext xmlns:c16="http://schemas.microsoft.com/office/drawing/2014/chart" uri="{C3380CC4-5D6E-409C-BE32-E72D297353CC}">
              <c16:uniqueId val="{00000000-06B8-1441-B3BE-AE299A1B3497}"/>
            </c:ext>
          </c:extLst>
        </c:ser>
        <c:dLbls>
          <c:showLegendKey val="0"/>
          <c:showVal val="0"/>
          <c:showCatName val="0"/>
          <c:showSerName val="0"/>
          <c:showPercent val="0"/>
          <c:showBubbleSize val="0"/>
        </c:dLbls>
        <c:gapWidth val="269"/>
        <c:overlap val="-20"/>
        <c:axId val="2119084560"/>
        <c:axId val="863638832"/>
      </c:barChart>
      <c:catAx>
        <c:axId val="2119084560"/>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863638832"/>
        <c:crosses val="autoZero"/>
        <c:auto val="1"/>
        <c:lblAlgn val="ctr"/>
        <c:lblOffset val="100"/>
        <c:noMultiLvlLbl val="0"/>
      </c:catAx>
      <c:valAx>
        <c:axId val="8636388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2119084560"/>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sz="2000" dirty="0">
                <a:latin typeface="Calibri" panose="020F0502020204030204" pitchFamily="34" charset="0"/>
                <a:cs typeface="Calibri" panose="020F0502020204030204" pitchFamily="34" charset="0"/>
              </a:rPr>
              <a:t>VISA annual</a:t>
            </a:r>
            <a:r>
              <a:rPr lang="en-US" sz="2000" baseline="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Free Cash Flow($ millions)</a:t>
            </a:r>
            <a:endParaRPr lang="en-US" dirty="0"/>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Sheet1!$A$2</c:f>
              <c:strCache>
                <c:ptCount val="1"/>
                <c:pt idx="0">
                  <c:v>Free Cash Flow</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Sheet1!$B$1:$N$1</c:f>
              <c:numCache>
                <c:formatCode>General</c:formatCod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numCache>
            </c:numRef>
          </c:cat>
          <c:val>
            <c:numRef>
              <c:f>Sheet1!$B$2:$N$2</c:f>
              <c:numCache>
                <c:formatCode>General</c:formatCode>
                <c:ptCount val="13"/>
                <c:pt idx="0" formatCode="#,##0">
                  <c:v>4635</c:v>
                </c:pt>
                <c:pt idx="1">
                  <c:v>2551</c:v>
                </c:pt>
                <c:pt idx="2" formatCode="#,##0">
                  <c:v>6652</c:v>
                </c:pt>
                <c:pt idx="3" formatCode="#,##0">
                  <c:v>6180</c:v>
                </c:pt>
                <c:pt idx="4" formatCode="#,##0">
                  <c:v>5051</c:v>
                </c:pt>
                <c:pt idx="5" formatCode="#,##0">
                  <c:v>16160</c:v>
                </c:pt>
                <c:pt idx="6" formatCode="#,##0">
                  <c:v>12237</c:v>
                </c:pt>
                <c:pt idx="7" formatCode="#,##0">
                  <c:v>12028</c:v>
                </c:pt>
                <c:pt idx="8" formatCode="#,##0">
                  <c:v>9704</c:v>
                </c:pt>
                <c:pt idx="9" formatCode="#,##0">
                  <c:v>14522</c:v>
                </c:pt>
                <c:pt idx="10" formatCode="#,##0">
                  <c:v>17879</c:v>
                </c:pt>
                <c:pt idx="11" formatCode="#,##0">
                  <c:v>19696</c:v>
                </c:pt>
                <c:pt idx="12" formatCode="#,##0">
                  <c:v>18693</c:v>
                </c:pt>
              </c:numCache>
            </c:numRef>
          </c:val>
          <c:extLst>
            <c:ext xmlns:c16="http://schemas.microsoft.com/office/drawing/2014/chart" uri="{C3380CC4-5D6E-409C-BE32-E72D297353CC}">
              <c16:uniqueId val="{00000000-D23A-A742-A2A2-D989A7210969}"/>
            </c:ext>
          </c:extLst>
        </c:ser>
        <c:dLbls>
          <c:showLegendKey val="0"/>
          <c:showVal val="0"/>
          <c:showCatName val="0"/>
          <c:showSerName val="0"/>
          <c:showPercent val="0"/>
          <c:showBubbleSize val="0"/>
        </c:dLbls>
        <c:gapWidth val="269"/>
        <c:overlap val="-20"/>
        <c:axId val="125932608"/>
        <c:axId val="126046384"/>
      </c:barChart>
      <c:catAx>
        <c:axId val="125932608"/>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26046384"/>
        <c:crosses val="autoZero"/>
        <c:auto val="1"/>
        <c:lblAlgn val="ctr"/>
        <c:lblOffset val="100"/>
        <c:noMultiLvlLbl val="0"/>
      </c:catAx>
      <c:valAx>
        <c:axId val="12604638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25932608"/>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a:t>Year to Year FCF growth rate</a:t>
            </a:r>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Sheet1!$A$3</c:f>
              <c:strCache>
                <c:ptCount val="1"/>
                <c:pt idx="0">
                  <c:v>Year to Year growth</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Sheet1!$B$1:$N$1</c:f>
              <c:numCache>
                <c:formatCode>General</c:formatCode>
                <c:ptCount val="13"/>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numCache>
            </c:numRef>
          </c:cat>
          <c:val>
            <c:numRef>
              <c:f>Sheet1!$B$3:$N$3</c:f>
              <c:numCache>
                <c:formatCode>0%</c:formatCode>
                <c:ptCount val="13"/>
                <c:pt idx="1">
                  <c:v>-0.44962243797195256</c:v>
                </c:pt>
                <c:pt idx="2">
                  <c:v>1.6076048608388867</c:v>
                </c:pt>
                <c:pt idx="3">
                  <c:v>-7.0956103427540593E-2</c:v>
                </c:pt>
                <c:pt idx="4">
                  <c:v>-0.18268608414239482</c:v>
                </c:pt>
                <c:pt idx="5">
                  <c:v>2.1993664620867155</c:v>
                </c:pt>
                <c:pt idx="6">
                  <c:v>-0.242759900990099</c:v>
                </c:pt>
                <c:pt idx="7">
                  <c:v>-1.7079349513769715E-2</c:v>
                </c:pt>
                <c:pt idx="8">
                  <c:v>-0.19321582973062854</c:v>
                </c:pt>
                <c:pt idx="9">
                  <c:v>0.49649629018961255</c:v>
                </c:pt>
                <c:pt idx="10">
                  <c:v>0.23116650599091035</c:v>
                </c:pt>
                <c:pt idx="11">
                  <c:v>0.10162760780804296</c:v>
                </c:pt>
                <c:pt idx="12">
                  <c:v>-5.0924045491470352E-2</c:v>
                </c:pt>
              </c:numCache>
            </c:numRef>
          </c:val>
          <c:extLst>
            <c:ext xmlns:c16="http://schemas.microsoft.com/office/drawing/2014/chart" uri="{C3380CC4-5D6E-409C-BE32-E72D297353CC}">
              <c16:uniqueId val="{00000000-53D6-0547-A4E2-281C0CA7DC0B}"/>
            </c:ext>
          </c:extLst>
        </c:ser>
        <c:dLbls>
          <c:showLegendKey val="0"/>
          <c:showVal val="0"/>
          <c:showCatName val="0"/>
          <c:showSerName val="0"/>
          <c:showPercent val="0"/>
          <c:showBubbleSize val="0"/>
        </c:dLbls>
        <c:gapWidth val="269"/>
        <c:overlap val="-20"/>
        <c:axId val="126797152"/>
        <c:axId val="126793872"/>
      </c:barChart>
      <c:catAx>
        <c:axId val="126797152"/>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26793872"/>
        <c:crosses val="autoZero"/>
        <c:auto val="1"/>
        <c:lblAlgn val="ctr"/>
        <c:lblOffset val="100"/>
        <c:noMultiLvlLbl val="0"/>
      </c:catAx>
      <c:valAx>
        <c:axId val="12679387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26797152"/>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465CC-9E56-29E1-72DB-0581CCDA2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94A071-8C95-6FF1-3EAF-8E011BDE84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6A2D47-F95C-889E-E4FA-2BA0BBE028DC}"/>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5" name="Footer Placeholder 4">
            <a:extLst>
              <a:ext uri="{FF2B5EF4-FFF2-40B4-BE49-F238E27FC236}">
                <a16:creationId xmlns:a16="http://schemas.microsoft.com/office/drawing/2014/main" id="{D52804E3-1D0B-C4E6-3202-1538E2B486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9AC82-15B9-6140-C046-6853DD543C91}"/>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852589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376F2-B5FA-9FBF-ABE8-CBDD1384B9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027A26-CAE5-F641-5506-E34D6D6D0C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7E3ED-0162-31FF-DA09-954461376D6E}"/>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5" name="Footer Placeholder 4">
            <a:extLst>
              <a:ext uri="{FF2B5EF4-FFF2-40B4-BE49-F238E27FC236}">
                <a16:creationId xmlns:a16="http://schemas.microsoft.com/office/drawing/2014/main" id="{CF3E51A2-D7B9-F2F1-679E-9C69252F7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359B87-A3B7-839D-7713-DEFCBCEDE363}"/>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901456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5AE00-381E-035C-E8EC-8933748E76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827813-9258-2E08-319D-B56476D539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33AE3C-FBE8-EB04-68B8-C984EAFEDB5A}"/>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5" name="Footer Placeholder 4">
            <a:extLst>
              <a:ext uri="{FF2B5EF4-FFF2-40B4-BE49-F238E27FC236}">
                <a16:creationId xmlns:a16="http://schemas.microsoft.com/office/drawing/2014/main" id="{C262F354-EE39-E720-1C86-CAFF328D9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1244E-1239-0796-EFE8-B9CDBC19EC91}"/>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1774011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0E3A6-6CED-198F-FFB2-98E4267747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57E09E-CC70-FEA6-AD11-31BA80BFFE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40B1F0-EC0C-883C-7F97-4D5148D92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39FAD7-39B3-FF90-8FFD-38A8D68A6A4C}"/>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6" name="Footer Placeholder 5">
            <a:extLst>
              <a:ext uri="{FF2B5EF4-FFF2-40B4-BE49-F238E27FC236}">
                <a16:creationId xmlns:a16="http://schemas.microsoft.com/office/drawing/2014/main" id="{B8695599-7835-4B0B-24DB-E6F3825ED3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1D5F6-ABD7-15D0-8CBF-76E14FD7F622}"/>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2522340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3A00-5C4A-4034-E161-122E248F37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A1D543-5F20-3D31-526D-600551A5E5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B94455-5B7D-C26C-4B16-2F081F0E44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82A433-8CE2-CCD5-4C4C-F8A1BEA7D2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6ECA0D-05F7-88BE-B574-39D8E5E36C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9CA270-2B16-B437-4B17-960C57D66B71}"/>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8" name="Footer Placeholder 7">
            <a:extLst>
              <a:ext uri="{FF2B5EF4-FFF2-40B4-BE49-F238E27FC236}">
                <a16:creationId xmlns:a16="http://schemas.microsoft.com/office/drawing/2014/main" id="{E824B945-E2FE-A7A5-0851-E804D68600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AA7A58-741B-A72D-691F-69932D62ACF1}"/>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2534204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AC531-EA3F-470F-C629-6CE61498EC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118894-9444-520D-AC2F-46911F9A18FE}"/>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4" name="Footer Placeholder 3">
            <a:extLst>
              <a:ext uri="{FF2B5EF4-FFF2-40B4-BE49-F238E27FC236}">
                <a16:creationId xmlns:a16="http://schemas.microsoft.com/office/drawing/2014/main" id="{A8227D50-6E42-D509-9BB6-FFC24DF47F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78B6E9-1D03-CFDA-8403-BB3476E6B16B}"/>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3394414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475A76-AEDA-AA17-07F0-99E88E331DB2}"/>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3" name="Footer Placeholder 2">
            <a:extLst>
              <a:ext uri="{FF2B5EF4-FFF2-40B4-BE49-F238E27FC236}">
                <a16:creationId xmlns:a16="http://schemas.microsoft.com/office/drawing/2014/main" id="{38296DB8-D975-4597-C047-F9E2710446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08D062-6B89-CA0C-71E2-A70527ACBAA9}"/>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1644275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0E666-D5E5-91EB-C89A-7DA1B4D0EF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49ECF0-5E54-4612-4339-EAEA412D79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1FCB16-541B-8956-FEBC-D4AC6C9F6F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DA9C45-FC87-9EC7-E8D0-A73AC22964FB}"/>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6" name="Footer Placeholder 5">
            <a:extLst>
              <a:ext uri="{FF2B5EF4-FFF2-40B4-BE49-F238E27FC236}">
                <a16:creationId xmlns:a16="http://schemas.microsoft.com/office/drawing/2014/main" id="{9C998EE8-DEA0-3189-4D92-1DA8C493A3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60961D-9914-53D9-DE53-79492376051C}"/>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327098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7A330-9089-7E33-4480-7BFA5CC829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1D90BE-0ED9-B768-87F7-6742BB990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5D2B75-C1F5-6BC4-5B6D-2FC1F0DDD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4238C-9F42-0916-7713-90786D9CA227}"/>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6" name="Footer Placeholder 5">
            <a:extLst>
              <a:ext uri="{FF2B5EF4-FFF2-40B4-BE49-F238E27FC236}">
                <a16:creationId xmlns:a16="http://schemas.microsoft.com/office/drawing/2014/main" id="{2EF42B8D-FC04-FDC8-AB73-3A583C35BC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ABAE41-4805-1331-9FEC-611F6F005343}"/>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3456897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2BBA-0D0A-347E-11E2-A766B3DCDF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906800-DE1C-492C-CE35-7409F0B593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2A81A0-8E63-2F3A-F313-3B2ADFA687B2}"/>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5" name="Footer Placeholder 4">
            <a:extLst>
              <a:ext uri="{FF2B5EF4-FFF2-40B4-BE49-F238E27FC236}">
                <a16:creationId xmlns:a16="http://schemas.microsoft.com/office/drawing/2014/main" id="{AA09E6ED-751C-68C5-1890-0A9DC9856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7907E6-488C-97BE-10E1-8CBE0D3DFB02}"/>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3593387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C8FA9D-CA37-76A2-0625-8054312402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B31DC8-C0D2-C709-D41E-AE41D48736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33C0C1-681C-5994-A84C-83B50EDDD269}"/>
              </a:ext>
            </a:extLst>
          </p:cNvPr>
          <p:cNvSpPr>
            <a:spLocks noGrp="1"/>
          </p:cNvSpPr>
          <p:nvPr>
            <p:ph type="dt" sz="half" idx="10"/>
          </p:nvPr>
        </p:nvSpPr>
        <p:spPr/>
        <p:txBody>
          <a:bodyPr/>
          <a:lstStyle/>
          <a:p>
            <a:fld id="{64CE1351-6A17-F84B-8148-9EFE49E438E9}" type="datetimeFigureOut">
              <a:rPr lang="en-US" smtClean="0"/>
              <a:t>5/8/25</a:t>
            </a:fld>
            <a:endParaRPr lang="en-US"/>
          </a:p>
        </p:txBody>
      </p:sp>
      <p:sp>
        <p:nvSpPr>
          <p:cNvPr id="5" name="Footer Placeholder 4">
            <a:extLst>
              <a:ext uri="{FF2B5EF4-FFF2-40B4-BE49-F238E27FC236}">
                <a16:creationId xmlns:a16="http://schemas.microsoft.com/office/drawing/2014/main" id="{48413408-7E76-9868-8352-99ACAFB478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4830A-893A-061A-A3A6-7646CDEC88F8}"/>
              </a:ext>
            </a:extLst>
          </p:cNvPr>
          <p:cNvSpPr>
            <a:spLocks noGrp="1"/>
          </p:cNvSpPr>
          <p:nvPr>
            <p:ph type="sldNum" sz="quarter" idx="12"/>
          </p:nvPr>
        </p:nvSpPr>
        <p:spPr/>
        <p:txBody>
          <a:bodyPr/>
          <a:lstStyle/>
          <a:p>
            <a:fld id="{ED065C4D-A208-B543-ACF3-C447F07CC276}" type="slidenum">
              <a:rPr lang="en-US" smtClean="0"/>
              <a:t>‹#›</a:t>
            </a:fld>
            <a:endParaRPr lang="en-US"/>
          </a:p>
        </p:txBody>
      </p:sp>
    </p:spTree>
    <p:extLst>
      <p:ext uri="{BB962C8B-B14F-4D97-AF65-F5344CB8AC3E}">
        <p14:creationId xmlns:p14="http://schemas.microsoft.com/office/powerpoint/2010/main" val="2747290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49DB60-50F7-1AE1-DAEB-700D5343AD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FC04E1-B4F6-9E44-53B4-2B742F6B09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CB8277-AE30-F528-8908-3DF162716A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CE1351-6A17-F84B-8148-9EFE49E438E9}" type="datetimeFigureOut">
              <a:rPr lang="en-US" smtClean="0"/>
              <a:t>5/8/25</a:t>
            </a:fld>
            <a:endParaRPr lang="en-US"/>
          </a:p>
        </p:txBody>
      </p:sp>
      <p:sp>
        <p:nvSpPr>
          <p:cNvPr id="5" name="Footer Placeholder 4">
            <a:extLst>
              <a:ext uri="{FF2B5EF4-FFF2-40B4-BE49-F238E27FC236}">
                <a16:creationId xmlns:a16="http://schemas.microsoft.com/office/drawing/2014/main" id="{CFF69982-5004-1328-383A-A3737BB54E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6CBD24-2C8D-BFC5-C48A-67E94CF80A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065C4D-A208-B543-ACF3-C447F07CC276}" type="slidenum">
              <a:rPr lang="en-US" smtClean="0"/>
              <a:t>‹#›</a:t>
            </a:fld>
            <a:endParaRPr lang="en-US"/>
          </a:p>
        </p:txBody>
      </p:sp>
    </p:spTree>
    <p:extLst>
      <p:ext uri="{BB962C8B-B14F-4D97-AF65-F5344CB8AC3E}">
        <p14:creationId xmlns:p14="http://schemas.microsoft.com/office/powerpoint/2010/main" val="1713954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B4273E-FAA3-14FC-783B-C3C4EFB759C5}"/>
              </a:ext>
            </a:extLst>
          </p:cNvPr>
          <p:cNvSpPr>
            <a:spLocks noGrp="1"/>
          </p:cNvSpPr>
          <p:nvPr>
            <p:ph type="title"/>
          </p:nvPr>
        </p:nvSpPr>
        <p:spPr>
          <a:xfrm>
            <a:off x="1534277" y="2773103"/>
            <a:ext cx="4725638" cy="1005046"/>
          </a:xfrm>
        </p:spPr>
        <p:txBody>
          <a:bodyPr vert="horz" lIns="91440" tIns="45720" rIns="91440" bIns="45720" rtlCol="0" anchor="b">
            <a:normAutofit/>
          </a:bodyPr>
          <a:lstStyle/>
          <a:p>
            <a:r>
              <a:rPr lang="en-US" sz="4800" i="1" kern="1200" dirty="0">
                <a:solidFill>
                  <a:srgbClr val="FFFFFF"/>
                </a:solidFill>
                <a:latin typeface="Calibri" panose="020F0502020204030204" pitchFamily="34" charset="0"/>
                <a:cs typeface="Calibri" panose="020F0502020204030204" pitchFamily="34" charset="0"/>
              </a:rPr>
              <a:t>A Bullish Case for</a:t>
            </a:r>
          </a:p>
        </p:txBody>
      </p:sp>
      <p:sp>
        <p:nvSpPr>
          <p:cNvPr id="33" name="Rectangle 32">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DA95F8A-B669-D6B5-9A39-BA6FB5D4651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6920559" y="2249594"/>
            <a:ext cx="3737164" cy="2373099"/>
          </a:xfrm>
          <a:prstGeom prst="rect">
            <a:avLst/>
          </a:prstGeom>
        </p:spPr>
      </p:pic>
      <p:sp>
        <p:nvSpPr>
          <p:cNvPr id="6" name="TextBox 5">
            <a:extLst>
              <a:ext uri="{FF2B5EF4-FFF2-40B4-BE49-F238E27FC236}">
                <a16:creationId xmlns:a16="http://schemas.microsoft.com/office/drawing/2014/main" id="{883C3A45-9B7F-835F-0472-B1CE5C1EB1AF}"/>
              </a:ext>
            </a:extLst>
          </p:cNvPr>
          <p:cNvSpPr txBox="1"/>
          <p:nvPr/>
        </p:nvSpPr>
        <p:spPr>
          <a:xfrm>
            <a:off x="3371067" y="4832629"/>
            <a:ext cx="2430345" cy="523220"/>
          </a:xfrm>
          <a:prstGeom prst="rect">
            <a:avLst/>
          </a:prstGeom>
          <a:noFill/>
        </p:spPr>
        <p:txBody>
          <a:bodyPr wrap="none" rtlCol="0">
            <a:spAutoFit/>
          </a:bodyPr>
          <a:lstStyle/>
          <a:p>
            <a:r>
              <a:rPr lang="en-US" sz="2800" i="1" dirty="0">
                <a:solidFill>
                  <a:schemeClr val="bg1"/>
                </a:solidFill>
                <a:latin typeface="Calibri" panose="020F0502020204030204" pitchFamily="34" charset="0"/>
                <a:cs typeface="Calibri" panose="020F0502020204030204" pitchFamily="34" charset="0"/>
              </a:rPr>
              <a:t>By Ahmed Sajid</a:t>
            </a:r>
          </a:p>
        </p:txBody>
      </p:sp>
    </p:spTree>
    <p:extLst>
      <p:ext uri="{BB962C8B-B14F-4D97-AF65-F5344CB8AC3E}">
        <p14:creationId xmlns:p14="http://schemas.microsoft.com/office/powerpoint/2010/main" val="4265691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DA0409-8125-AA6E-BF7D-BA3D63FDFAE7}"/>
              </a:ext>
            </a:extLst>
          </p:cNvPr>
          <p:cNvSpPr>
            <a:spLocks noGrp="1"/>
          </p:cNvSpPr>
          <p:nvPr>
            <p:ph idx="1"/>
          </p:nvPr>
        </p:nvSpPr>
        <p:spPr>
          <a:xfrm>
            <a:off x="372140" y="297711"/>
            <a:ext cx="11515060" cy="6241311"/>
          </a:xfrm>
        </p:spPr>
        <p:txBody>
          <a:bodyPr>
            <a:normAutofit/>
          </a:bodyPr>
          <a:lstStyle/>
          <a:p>
            <a:pPr marL="0" indent="0">
              <a:buNone/>
            </a:pPr>
            <a:r>
              <a:rPr lang="en-US" sz="2400" kern="1400" spc="25" dirty="0">
                <a:solidFill>
                  <a:schemeClr val="tx2">
                    <a:lumMod val="90000"/>
                    <a:lumOff val="10000"/>
                  </a:schemeClr>
                </a:solidFill>
                <a:effectLst/>
                <a:latin typeface="Calibri" panose="020F0502020204030204" pitchFamily="34" charset="0"/>
                <a:ea typeface="MS Gothic" panose="020B0609070205080204" pitchFamily="49" charset="-128"/>
                <a:cs typeface="Times New Roman" panose="02020603050405020304" pitchFamily="18" charset="0"/>
              </a:rPr>
              <a:t>Bull Case Investment Thesis: Visa &amp; Mastercard</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Duopoly in a Massive, Growing Market</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Visa and Mastercard dominate the global card payments network, benefiting from strong network effects and the ongoing global shift from cash to digital payments. </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Asset-Light, Scalable Business Models</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Their model generates high margins and free cash flow since they don't lend money or assume credit risk. Operating leverage allows volume growth to amplify earnings.</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Global Expansion and Financial Inclusion</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Both companies are investing in emerging markets and financial inclusion, unlocking long-term volume growth opportunities in underserved regions.</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Diversification Beyond Core Payments</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They are expanding into high-margin services like fraud prevention, tokenization, and data analytics, creating new recurring revenue streams.</a:t>
            </a:r>
          </a:p>
          <a:p>
            <a:endParaRPr lang="en-US" dirty="0"/>
          </a:p>
        </p:txBody>
      </p:sp>
    </p:spTree>
    <p:extLst>
      <p:ext uri="{BB962C8B-B14F-4D97-AF65-F5344CB8AC3E}">
        <p14:creationId xmlns:p14="http://schemas.microsoft.com/office/powerpoint/2010/main" val="2467574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275D4-B2F7-E2C3-0286-31813899A3EA}"/>
              </a:ext>
            </a:extLst>
          </p:cNvPr>
          <p:cNvSpPr>
            <a:spLocks noGrp="1"/>
          </p:cNvSpPr>
          <p:nvPr>
            <p:ph idx="1"/>
          </p:nvPr>
        </p:nvSpPr>
        <p:spPr>
          <a:xfrm>
            <a:off x="329610" y="340242"/>
            <a:ext cx="11461897" cy="6060558"/>
          </a:xfrm>
        </p:spPr>
        <p:txBody>
          <a:bodyPr>
            <a:normAutofit/>
          </a:bodyPr>
          <a:lstStyle/>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Beneficiaries of E-Commerce and Cross-Border Travel</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Growing e-commerce and recovering international travel drive higher transaction volumes, especially in high-margin cross-border segments.</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Strong Balance Sheets and Shareholder Returns</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Robust financials enable significant stock buybacks and dividend growth, appealing to long-term investors seeking reliability and compounding potential.</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Technological Adaptability and Innovation</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Rather than being disrupted, Visa and Mastercard are integrating with fintech's and exploring new technologies like crypto, real-time payments, and AI.</a:t>
            </a:r>
          </a:p>
          <a:p>
            <a:pPr marL="0" indent="0">
              <a:buNone/>
            </a:pPr>
            <a:endParaRPr lang="en-US" dirty="0"/>
          </a:p>
        </p:txBody>
      </p:sp>
    </p:spTree>
    <p:extLst>
      <p:ext uri="{BB962C8B-B14F-4D97-AF65-F5344CB8AC3E}">
        <p14:creationId xmlns:p14="http://schemas.microsoft.com/office/powerpoint/2010/main" val="112311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29B302-42C7-FABD-828E-BF3A2BB500EE}"/>
              </a:ext>
            </a:extLst>
          </p:cNvPr>
          <p:cNvSpPr>
            <a:spLocks noGrp="1"/>
          </p:cNvSpPr>
          <p:nvPr>
            <p:ph idx="1"/>
          </p:nvPr>
        </p:nvSpPr>
        <p:spPr>
          <a:xfrm>
            <a:off x="393700" y="371475"/>
            <a:ext cx="11493500" cy="6146800"/>
          </a:xfrm>
        </p:spPr>
        <p:txBody>
          <a:bodyPr>
            <a:normAutofit fontScale="62500" lnSpcReduction="20000"/>
          </a:bodyPr>
          <a:lstStyle/>
          <a:p>
            <a:pPr>
              <a:buFont typeface="Wingdings" pitchFamily="2" charset="2"/>
              <a:buChar char="v"/>
            </a:pP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Duopoly in a Massive, Growing Market</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Visa and Mastercard </a:t>
            </a:r>
            <a:r>
              <a:rPr lang="en-US" sz="2800" b="1" dirty="0">
                <a:effectLst/>
                <a:latin typeface="Calibri" panose="020F0502020204030204" pitchFamily="34" charset="0"/>
                <a:ea typeface="MS Mincho" panose="02020609040205080304" pitchFamily="49" charset="-128"/>
                <a:cs typeface="Calibri" panose="020F0502020204030204" pitchFamily="34" charset="0"/>
              </a:rPr>
              <a:t>dominate the global card payments network</a:t>
            </a:r>
            <a:r>
              <a:rPr lang="en-US" sz="2800" dirty="0">
                <a:effectLst/>
                <a:latin typeface="Calibri" panose="020F0502020204030204" pitchFamily="34" charset="0"/>
                <a:ea typeface="MS Mincho" panose="02020609040205080304" pitchFamily="49" charset="-128"/>
                <a:cs typeface="Calibri" panose="020F0502020204030204" pitchFamily="34" charset="0"/>
              </a:rPr>
              <a:t> with a combined ~80% market share outside of China.</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This </a:t>
            </a:r>
            <a:r>
              <a:rPr lang="en-US" sz="2800" b="1" dirty="0">
                <a:effectLst/>
                <a:latin typeface="Calibri" panose="020F0502020204030204" pitchFamily="34" charset="0"/>
                <a:ea typeface="MS Mincho" panose="02020609040205080304" pitchFamily="49" charset="-128"/>
                <a:cs typeface="Calibri" panose="020F0502020204030204" pitchFamily="34" charset="0"/>
              </a:rPr>
              <a:t>entrenched duopoly</a:t>
            </a:r>
            <a:r>
              <a:rPr lang="en-US" sz="2800" dirty="0">
                <a:effectLst/>
                <a:latin typeface="Calibri" panose="020F0502020204030204" pitchFamily="34" charset="0"/>
                <a:ea typeface="MS Mincho" panose="02020609040205080304" pitchFamily="49" charset="-128"/>
                <a:cs typeface="Calibri" panose="020F0502020204030204" pitchFamily="34" charset="0"/>
              </a:rPr>
              <a:t> benefits from strong network effects — the more consumers and merchants use their services, the more valuable they become.</a:t>
            </a:r>
          </a:p>
          <a:p>
            <a:pPr marL="342900" marR="0" lvl="0" indent="-342900">
              <a:lnSpc>
                <a:spcPct val="115000"/>
              </a:lnSpc>
              <a:spcAft>
                <a:spcPts val="1000"/>
              </a:spcAft>
              <a:buSzPts val="1000"/>
              <a:buFont typeface="Symbol" pitchFamily="2" charset="2"/>
              <a:buChar char=""/>
              <a:tabLst>
                <a:tab pos="457200" algn="l"/>
              </a:tabLst>
            </a:pPr>
            <a:r>
              <a:rPr lang="en-US" sz="2800" b="0" i="0" dirty="0">
                <a:effectLst/>
                <a:latin typeface="Calibri" panose="020F0502020204030204" pitchFamily="34" charset="0"/>
                <a:cs typeface="Calibri" panose="020F0502020204030204" pitchFamily="34" charset="0"/>
              </a:rPr>
              <a:t>Visa's </a:t>
            </a:r>
            <a:r>
              <a:rPr lang="en-US" sz="2800" b="1" i="0" dirty="0">
                <a:effectLst/>
                <a:latin typeface="Calibri" panose="020F0502020204030204" pitchFamily="34" charset="0"/>
                <a:cs typeface="Calibri" panose="020F0502020204030204" pitchFamily="34" charset="0"/>
              </a:rPr>
              <a:t>network effect </a:t>
            </a:r>
            <a:r>
              <a:rPr lang="en-US" sz="2800" b="0" i="0" dirty="0">
                <a:effectLst/>
                <a:latin typeface="Calibri" panose="020F0502020204030204" pitchFamily="34" charset="0"/>
                <a:cs typeface="Calibri" panose="020F0502020204030204" pitchFamily="34" charset="0"/>
              </a:rPr>
              <a:t>is strong as more consumers using Visa cards attract more merchants, which in turn attracts more consumers. With over 3.6 billion cards and millions of merchants worldwide, its network is self-reinforcing.</a:t>
            </a:r>
            <a:endParaRPr lang="en-US" sz="2800" dirty="0">
              <a:effectLst/>
              <a:latin typeface="Calibri" panose="020F0502020204030204" pitchFamily="34" charset="0"/>
              <a:ea typeface="MS Mincho" panose="02020609040205080304" pitchFamily="49" charset="-128"/>
              <a:cs typeface="Calibri" panose="020F0502020204030204" pitchFamily="34" charset="0"/>
            </a:endParaRP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 </a:t>
            </a:r>
            <a:r>
              <a:rPr lang="en-US" sz="2800" b="1" dirty="0">
                <a:effectLst/>
                <a:latin typeface="Calibri" panose="020F0502020204030204" pitchFamily="34" charset="0"/>
                <a:ea typeface="MS Mincho" panose="02020609040205080304" pitchFamily="49" charset="-128"/>
                <a:cs typeface="Calibri" panose="020F0502020204030204" pitchFamily="34" charset="0"/>
              </a:rPr>
              <a:t>secular shift from cash to digital payments</a:t>
            </a:r>
            <a:r>
              <a:rPr lang="en-US" sz="2800" dirty="0">
                <a:effectLst/>
                <a:latin typeface="Calibri" panose="020F0502020204030204" pitchFamily="34" charset="0"/>
                <a:ea typeface="MS Mincho" panose="02020609040205080304" pitchFamily="49" charset="-128"/>
                <a:cs typeface="Calibri" panose="020F0502020204030204" pitchFamily="34" charset="0"/>
              </a:rPr>
              <a:t> is still underway, especially in </a:t>
            </a:r>
            <a:r>
              <a:rPr lang="en-US" sz="2800" b="1" dirty="0">
                <a:effectLst/>
                <a:latin typeface="Calibri" panose="020F0502020204030204" pitchFamily="34" charset="0"/>
                <a:ea typeface="MS Mincho" panose="02020609040205080304" pitchFamily="49" charset="-128"/>
                <a:cs typeface="Calibri" panose="020F0502020204030204" pitchFamily="34" charset="0"/>
              </a:rPr>
              <a:t>emerging markets</a:t>
            </a:r>
            <a:r>
              <a:rPr lang="en-US" sz="2800" dirty="0">
                <a:effectLst/>
                <a:latin typeface="Calibri" panose="020F0502020204030204" pitchFamily="34" charset="0"/>
                <a:ea typeface="MS Mincho" panose="02020609040205080304" pitchFamily="49" charset="-128"/>
                <a:cs typeface="Calibri" panose="020F0502020204030204" pitchFamily="34" charset="0"/>
              </a:rPr>
              <a:t>, offering multi-decade tailwinds.</a:t>
            </a:r>
          </a:p>
          <a:p>
            <a:pPr>
              <a:buFont typeface="Wingdings" pitchFamily="2" charset="2"/>
              <a:buChar char="v"/>
            </a:pP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Asset-Light, Scalable Business Models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Neither company takes on </a:t>
            </a:r>
            <a:r>
              <a:rPr lang="en-US" sz="2800" b="1" dirty="0">
                <a:effectLst/>
                <a:latin typeface="Calibri" panose="020F0502020204030204" pitchFamily="34" charset="0"/>
                <a:ea typeface="MS Mincho" panose="02020609040205080304" pitchFamily="49" charset="-128"/>
                <a:cs typeface="Calibri" panose="020F0502020204030204" pitchFamily="34" charset="0"/>
              </a:rPr>
              <a:t>credit risk</a:t>
            </a:r>
            <a:r>
              <a:rPr lang="en-US" sz="2800" dirty="0">
                <a:effectLst/>
                <a:latin typeface="Calibri" panose="020F0502020204030204" pitchFamily="34" charset="0"/>
                <a:ea typeface="MS Mincho" panose="02020609040205080304" pitchFamily="49" charset="-128"/>
                <a:cs typeface="Calibri" panose="020F0502020204030204" pitchFamily="34" charset="0"/>
              </a:rPr>
              <a:t> (banks issue the cards and assume the lending risk). Instead, they collect </a:t>
            </a:r>
            <a:r>
              <a:rPr lang="en-US" sz="2800" b="1" dirty="0">
                <a:effectLst/>
                <a:latin typeface="Calibri" panose="020F0502020204030204" pitchFamily="34" charset="0"/>
                <a:ea typeface="MS Mincho" panose="02020609040205080304" pitchFamily="49" charset="-128"/>
                <a:cs typeface="Calibri" panose="020F0502020204030204" pitchFamily="34" charset="0"/>
              </a:rPr>
              <a:t>fees on transaction volume</a:t>
            </a:r>
            <a:r>
              <a:rPr lang="en-US" sz="2800" dirty="0">
                <a:effectLst/>
                <a:latin typeface="Calibri" panose="020F0502020204030204" pitchFamily="34" charset="0"/>
                <a:ea typeface="MS Mincho" panose="02020609040205080304" pitchFamily="49" charset="-128"/>
                <a:cs typeface="Calibri" panose="020F0502020204030204" pitchFamily="34" charset="0"/>
              </a:rPr>
              <a:t>.</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Their </a:t>
            </a:r>
            <a:r>
              <a:rPr lang="en-US" sz="2800" b="1" dirty="0">
                <a:effectLst/>
                <a:latin typeface="Calibri" panose="020F0502020204030204" pitchFamily="34" charset="0"/>
                <a:ea typeface="MS Mincho" panose="02020609040205080304" pitchFamily="49" charset="-128"/>
                <a:cs typeface="Calibri" panose="020F0502020204030204" pitchFamily="34" charset="0"/>
              </a:rPr>
              <a:t>high-margin, capital-efficient model</a:t>
            </a:r>
            <a:r>
              <a:rPr lang="en-US" sz="2800" dirty="0">
                <a:effectLst/>
                <a:latin typeface="Calibri" panose="020F0502020204030204" pitchFamily="34" charset="0"/>
                <a:ea typeface="MS Mincho" panose="02020609040205080304" pitchFamily="49" charset="-128"/>
                <a:cs typeface="Calibri" panose="020F0502020204030204" pitchFamily="34" charset="0"/>
              </a:rPr>
              <a:t> yields substantial free cash flow and return on equity.</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Both businesses have </a:t>
            </a:r>
            <a:r>
              <a:rPr lang="en-US" sz="2800" b="1" dirty="0">
                <a:effectLst/>
                <a:latin typeface="Calibri" panose="020F0502020204030204" pitchFamily="34" charset="0"/>
                <a:ea typeface="MS Mincho" panose="02020609040205080304" pitchFamily="49" charset="-128"/>
                <a:cs typeface="Calibri" panose="020F0502020204030204" pitchFamily="34" charset="0"/>
              </a:rPr>
              <a:t>operating leverage</a:t>
            </a:r>
            <a:r>
              <a:rPr lang="en-US" sz="2800" dirty="0">
                <a:effectLst/>
                <a:latin typeface="Calibri" panose="020F0502020204030204" pitchFamily="34" charset="0"/>
                <a:ea typeface="MS Mincho" panose="02020609040205080304" pitchFamily="49" charset="-128"/>
                <a:cs typeface="Calibri" panose="020F0502020204030204" pitchFamily="34" charset="0"/>
              </a:rPr>
              <a:t> — incremental volume growth results in outsized earnings growth.</a:t>
            </a:r>
          </a:p>
          <a:p>
            <a:pPr marL="0" indent="0">
              <a:buNone/>
            </a:pPr>
            <a:endParaRPr lang="en-US" dirty="0"/>
          </a:p>
        </p:txBody>
      </p:sp>
    </p:spTree>
    <p:extLst>
      <p:ext uri="{BB962C8B-B14F-4D97-AF65-F5344CB8AC3E}">
        <p14:creationId xmlns:p14="http://schemas.microsoft.com/office/powerpoint/2010/main" val="4200532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F1E0A9-98BC-541A-023D-C5050EDD2DEA}"/>
              </a:ext>
            </a:extLst>
          </p:cNvPr>
          <p:cNvSpPr>
            <a:spLocks noGrp="1"/>
          </p:cNvSpPr>
          <p:nvPr>
            <p:ph idx="1"/>
          </p:nvPr>
        </p:nvSpPr>
        <p:spPr>
          <a:xfrm>
            <a:off x="371475" y="330200"/>
            <a:ext cx="11526838" cy="6240463"/>
          </a:xfrm>
        </p:spPr>
        <p:txBody>
          <a:bodyPr/>
          <a:lstStyle/>
          <a:p>
            <a:pPr>
              <a:buFont typeface="Wingdings" pitchFamily="2" charset="2"/>
              <a:buChar char="v"/>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Global Expansion and Financial Inclusion</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Billions of people in emerging economies remain </a:t>
            </a:r>
            <a:r>
              <a:rPr lang="en-US" sz="1800" b="1" dirty="0">
                <a:effectLst/>
                <a:latin typeface="Calibri" panose="020F0502020204030204" pitchFamily="34" charset="0"/>
                <a:ea typeface="MS Mincho" panose="02020609040205080304" pitchFamily="49" charset="-128"/>
                <a:cs typeface="Calibri" panose="020F0502020204030204" pitchFamily="34" charset="0"/>
              </a:rPr>
              <a:t>unbanked or underbanked</a:t>
            </a:r>
            <a:r>
              <a:rPr lang="en-US" sz="1800" dirty="0">
                <a:effectLst/>
                <a:latin typeface="Calibri" panose="020F0502020204030204" pitchFamily="34" charset="0"/>
                <a:ea typeface="MS Mincho" panose="02020609040205080304" pitchFamily="49" charset="-128"/>
                <a:cs typeface="Calibri" panose="020F0502020204030204" pitchFamily="34" charset="0"/>
              </a:rPr>
              <a:t>.</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Visa and Mastercard are deeply invested in </a:t>
            </a:r>
            <a:r>
              <a:rPr lang="en-US" sz="1800" b="1" dirty="0">
                <a:effectLst/>
                <a:latin typeface="Calibri" panose="020F0502020204030204" pitchFamily="34" charset="0"/>
                <a:ea typeface="MS Mincho" panose="02020609040205080304" pitchFamily="49" charset="-128"/>
                <a:cs typeface="Calibri" panose="020F0502020204030204" pitchFamily="34" charset="0"/>
              </a:rPr>
              <a:t>financial inclusion initiatives</a:t>
            </a:r>
            <a:r>
              <a:rPr lang="en-US" sz="1800" dirty="0">
                <a:effectLst/>
                <a:latin typeface="Calibri" panose="020F0502020204030204" pitchFamily="34" charset="0"/>
                <a:ea typeface="MS Mincho" panose="02020609040205080304" pitchFamily="49" charset="-128"/>
                <a:cs typeface="Calibri" panose="020F0502020204030204" pitchFamily="34" charset="0"/>
              </a:rPr>
              <a:t>, such as mobile-first solutions, real-time payments, and local partnerships.</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Long-term, their presence in markets like India, Africa, and Southeast Asia could drive </a:t>
            </a:r>
            <a:r>
              <a:rPr lang="en-US" sz="1800" b="1" dirty="0">
                <a:effectLst/>
                <a:latin typeface="Calibri" panose="020F0502020204030204" pitchFamily="34" charset="0"/>
                <a:ea typeface="MS Mincho" panose="02020609040205080304" pitchFamily="49" charset="-128"/>
                <a:cs typeface="Calibri" panose="020F0502020204030204" pitchFamily="34" charset="0"/>
              </a:rPr>
              <a:t>sustained volume growth</a:t>
            </a:r>
            <a:r>
              <a:rPr lang="en-US" sz="1800" dirty="0">
                <a:effectLst/>
                <a:latin typeface="Calibri" panose="020F0502020204030204" pitchFamily="34" charset="0"/>
                <a:ea typeface="MS Mincho" panose="02020609040205080304" pitchFamily="49" charset="-128"/>
                <a:cs typeface="Calibri" panose="020F0502020204030204" pitchFamily="34" charset="0"/>
              </a:rPr>
              <a:t>.</a:t>
            </a:r>
          </a:p>
          <a:p>
            <a:pPr>
              <a:buFont typeface="Wingdings" pitchFamily="2" charset="2"/>
              <a:buChar char="v"/>
            </a:pPr>
            <a:r>
              <a:rPr lang="en-US" sz="1800" b="0"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 </a:t>
            </a: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Diversification Beyond Core Payments</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Both companies are expanding into </a:t>
            </a:r>
            <a:r>
              <a:rPr lang="en-US" sz="1800" b="1" dirty="0">
                <a:effectLst/>
                <a:latin typeface="Calibri" panose="020F0502020204030204" pitchFamily="34" charset="0"/>
                <a:ea typeface="MS Mincho" panose="02020609040205080304" pitchFamily="49" charset="-128"/>
                <a:cs typeface="Calibri" panose="020F0502020204030204" pitchFamily="34" charset="0"/>
              </a:rPr>
              <a:t>value-added services</a:t>
            </a:r>
            <a:r>
              <a:rPr lang="en-US" sz="1800" dirty="0">
                <a:effectLst/>
                <a:latin typeface="Calibri" panose="020F0502020204030204" pitchFamily="34" charset="0"/>
                <a:ea typeface="MS Mincho" panose="02020609040205080304" pitchFamily="49" charset="-128"/>
                <a:cs typeface="Calibri" panose="020F0502020204030204" pitchFamily="34" charset="0"/>
              </a:rPr>
              <a:t>, such as:</a:t>
            </a:r>
          </a:p>
          <a:p>
            <a:pPr marL="742950" marR="0" lvl="1" indent="-285750">
              <a:lnSpc>
                <a:spcPct val="115000"/>
              </a:lnSpc>
              <a:spcAft>
                <a:spcPts val="10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Cybersecurity and fraud prevention</a:t>
            </a:r>
          </a:p>
          <a:p>
            <a:pPr marL="742950" marR="0" lvl="1" indent="-285750">
              <a:lnSpc>
                <a:spcPct val="115000"/>
              </a:lnSpc>
              <a:spcAft>
                <a:spcPts val="10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Tokenization and identity solutions</a:t>
            </a:r>
          </a:p>
          <a:p>
            <a:pPr marL="742950" marR="0" lvl="1" indent="-285750">
              <a:lnSpc>
                <a:spcPct val="115000"/>
              </a:lnSpc>
              <a:spcAft>
                <a:spcPts val="10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Data analytics for financial institutions and merchants</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These new verticals offer </a:t>
            </a:r>
            <a:r>
              <a:rPr lang="en-US" sz="1800" b="1" dirty="0">
                <a:effectLst/>
                <a:latin typeface="Calibri" panose="020F0502020204030204" pitchFamily="34" charset="0"/>
                <a:ea typeface="MS Mincho" panose="02020609040205080304" pitchFamily="49" charset="-128"/>
                <a:cs typeface="Calibri" panose="020F0502020204030204" pitchFamily="34" charset="0"/>
              </a:rPr>
              <a:t>high-margin recurring revenue streams</a:t>
            </a:r>
            <a:r>
              <a:rPr lang="en-US" sz="1800" dirty="0">
                <a:effectLst/>
                <a:latin typeface="Calibri" panose="020F0502020204030204" pitchFamily="34" charset="0"/>
                <a:ea typeface="MS Mincho" panose="02020609040205080304" pitchFamily="49" charset="-128"/>
                <a:cs typeface="Calibri" panose="020F0502020204030204" pitchFamily="34" charset="0"/>
              </a:rPr>
              <a:t> beyond traditional interchange and processing.</a:t>
            </a:r>
          </a:p>
          <a:p>
            <a:pPr marL="0" indent="0">
              <a:buNone/>
            </a:pPr>
            <a:endParaRPr lang="en-US" dirty="0"/>
          </a:p>
        </p:txBody>
      </p:sp>
    </p:spTree>
    <p:extLst>
      <p:ext uri="{BB962C8B-B14F-4D97-AF65-F5344CB8AC3E}">
        <p14:creationId xmlns:p14="http://schemas.microsoft.com/office/powerpoint/2010/main" val="2584467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038EFE-855C-4154-8188-36BD8BF8E339}"/>
              </a:ext>
            </a:extLst>
          </p:cNvPr>
          <p:cNvSpPr>
            <a:spLocks noGrp="1"/>
          </p:cNvSpPr>
          <p:nvPr>
            <p:ph idx="1"/>
          </p:nvPr>
        </p:nvSpPr>
        <p:spPr>
          <a:xfrm>
            <a:off x="457200" y="371475"/>
            <a:ext cx="11323638" cy="6124575"/>
          </a:xfrm>
        </p:spPr>
        <p:txBody>
          <a:bodyPr>
            <a:normAutofit fontScale="62500" lnSpcReduction="20000"/>
          </a:bodyPr>
          <a:lstStyle/>
          <a:p>
            <a:pPr>
              <a:buFont typeface="Wingdings" pitchFamily="2" charset="2"/>
              <a:buChar char="v"/>
            </a:pP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Beneficiaries of E-Commerce and Cross-Border Travel</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 </a:t>
            </a:r>
            <a:r>
              <a:rPr lang="en-US" sz="2800" b="1" dirty="0">
                <a:effectLst/>
                <a:latin typeface="Calibri" panose="020F0502020204030204" pitchFamily="34" charset="0"/>
                <a:ea typeface="MS Mincho" panose="02020609040205080304" pitchFamily="49" charset="-128"/>
                <a:cs typeface="Calibri" panose="020F0502020204030204" pitchFamily="34" charset="0"/>
              </a:rPr>
              <a:t>growth of global e-commerce</a:t>
            </a:r>
            <a:r>
              <a:rPr lang="en-US" sz="2800" dirty="0">
                <a:effectLst/>
                <a:latin typeface="Calibri" panose="020F0502020204030204" pitchFamily="34" charset="0"/>
                <a:ea typeface="MS Mincho" panose="02020609040205080304" pitchFamily="49" charset="-128"/>
                <a:cs typeface="Calibri" panose="020F0502020204030204" pitchFamily="34" charset="0"/>
              </a:rPr>
              <a:t> directly boosts digital transaction volumes.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Visa and Mastercard also earn </a:t>
            </a:r>
            <a:r>
              <a:rPr lang="en-US" sz="2800" b="1" dirty="0">
                <a:effectLst/>
                <a:latin typeface="Calibri" panose="020F0502020204030204" pitchFamily="34" charset="0"/>
                <a:ea typeface="MS Mincho" panose="02020609040205080304" pitchFamily="49" charset="-128"/>
                <a:cs typeface="Calibri" panose="020F0502020204030204" pitchFamily="34" charset="0"/>
              </a:rPr>
              <a:t>outsized fees from cross-border transactions</a:t>
            </a:r>
            <a:r>
              <a:rPr lang="en-US" sz="2800" dirty="0">
                <a:effectLst/>
                <a:latin typeface="Calibri" panose="020F0502020204030204" pitchFamily="34" charset="0"/>
                <a:ea typeface="MS Mincho" panose="02020609040205080304" pitchFamily="49" charset="-128"/>
                <a:cs typeface="Calibri" panose="020F0502020204030204" pitchFamily="34" charset="0"/>
              </a:rPr>
              <a:t>, which are rebounding post-pandemic due to </a:t>
            </a:r>
            <a:r>
              <a:rPr lang="en-US" sz="2800" b="1" dirty="0">
                <a:effectLst/>
                <a:latin typeface="Calibri" panose="020F0502020204030204" pitchFamily="34" charset="0"/>
                <a:ea typeface="MS Mincho" panose="02020609040205080304" pitchFamily="49" charset="-128"/>
                <a:cs typeface="Calibri" panose="020F0502020204030204" pitchFamily="34" charset="0"/>
              </a:rPr>
              <a:t>increased international travel</a:t>
            </a:r>
            <a:r>
              <a:rPr lang="en-US" sz="2800" dirty="0">
                <a:effectLst/>
                <a:latin typeface="Calibri" panose="020F0502020204030204" pitchFamily="34" charset="0"/>
                <a:ea typeface="MS Mincho" panose="02020609040205080304" pitchFamily="49" charset="-128"/>
                <a:cs typeface="Calibri" panose="020F0502020204030204" pitchFamily="34" charset="0"/>
              </a:rPr>
              <a:t> and global economic recovery.</a:t>
            </a:r>
          </a:p>
          <a:p>
            <a:pPr>
              <a:buFont typeface="Wingdings" pitchFamily="2" charset="2"/>
              <a:buChar char="v"/>
            </a:pPr>
            <a:r>
              <a:rPr lang="en-US" sz="2800" b="0"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a:t>
            </a: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Strong Balance Sheets and Shareholder Returns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Both companies maintain </a:t>
            </a:r>
            <a:r>
              <a:rPr lang="en-US" sz="2800" b="1" dirty="0">
                <a:effectLst/>
                <a:latin typeface="Calibri" panose="020F0502020204030204" pitchFamily="34" charset="0"/>
                <a:ea typeface="MS Mincho" panose="02020609040205080304" pitchFamily="49" charset="-128"/>
                <a:cs typeface="Calibri" panose="020F0502020204030204" pitchFamily="34" charset="0"/>
              </a:rPr>
              <a:t>fortress balance sheets</a:t>
            </a:r>
            <a:r>
              <a:rPr lang="en-US" sz="2800" dirty="0">
                <a:effectLst/>
                <a:latin typeface="Calibri" panose="020F0502020204030204" pitchFamily="34" charset="0"/>
                <a:ea typeface="MS Mincho" panose="02020609040205080304" pitchFamily="49" charset="-128"/>
                <a:cs typeface="Calibri" panose="020F0502020204030204" pitchFamily="34" charset="0"/>
              </a:rPr>
              <a:t>, with little debt and robust cash flows.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Their consistent </a:t>
            </a:r>
            <a:r>
              <a:rPr lang="en-US" sz="2800" b="1" dirty="0">
                <a:effectLst/>
                <a:latin typeface="Calibri" panose="020F0502020204030204" pitchFamily="34" charset="0"/>
                <a:ea typeface="MS Mincho" panose="02020609040205080304" pitchFamily="49" charset="-128"/>
                <a:cs typeface="Calibri" panose="020F0502020204030204" pitchFamily="34" charset="0"/>
              </a:rPr>
              <a:t>buybacks and dividend growth</a:t>
            </a:r>
            <a:r>
              <a:rPr lang="en-US" sz="2800" dirty="0">
                <a:effectLst/>
                <a:latin typeface="Calibri" panose="020F0502020204030204" pitchFamily="34" charset="0"/>
                <a:ea typeface="MS Mincho" panose="02020609040205080304" pitchFamily="49" charset="-128"/>
                <a:cs typeface="Calibri" panose="020F0502020204030204" pitchFamily="34" charset="0"/>
              </a:rPr>
              <a:t> appeal to both growth and income investors.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Capital allocation discipline has been historically strong.</a:t>
            </a:r>
          </a:p>
          <a:p>
            <a:pPr>
              <a:buFont typeface="Wingdings" pitchFamily="2" charset="2"/>
              <a:buChar char="v"/>
            </a:pPr>
            <a:r>
              <a:rPr lang="en-US" sz="2800" b="0"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a:t>
            </a: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Technological Adaptability and Innovation</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Contrary to being disrupted, both Visa and Mastercard are </a:t>
            </a:r>
            <a:r>
              <a:rPr lang="en-US" sz="2800" b="1" dirty="0">
                <a:effectLst/>
                <a:latin typeface="Calibri" panose="020F0502020204030204" pitchFamily="34" charset="0"/>
                <a:ea typeface="MS Mincho" panose="02020609040205080304" pitchFamily="49" charset="-128"/>
                <a:cs typeface="Calibri" panose="020F0502020204030204" pitchFamily="34" charset="0"/>
              </a:rPr>
              <a:t>acquiring or partnering with fintech’s</a:t>
            </a:r>
            <a:r>
              <a:rPr lang="en-US" sz="2800" dirty="0">
                <a:effectLst/>
                <a:latin typeface="Calibri" panose="020F0502020204030204" pitchFamily="34" charset="0"/>
                <a:ea typeface="MS Mincho" panose="02020609040205080304" pitchFamily="49" charset="-128"/>
                <a:cs typeface="Calibri" panose="020F0502020204030204" pitchFamily="34" charset="0"/>
              </a:rPr>
              <a:t> to stay relevant.</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Investments in </a:t>
            </a:r>
            <a:r>
              <a:rPr lang="en-US" sz="2800" b="1" dirty="0">
                <a:effectLst/>
                <a:latin typeface="Calibri" panose="020F0502020204030204" pitchFamily="34" charset="0"/>
                <a:ea typeface="MS Mincho" panose="02020609040205080304" pitchFamily="49" charset="-128"/>
                <a:cs typeface="Calibri" panose="020F0502020204030204" pitchFamily="34" charset="0"/>
              </a:rPr>
              <a:t>crypto rails, tokenized payments, real-time settlements, and AI</a:t>
            </a:r>
            <a:r>
              <a:rPr lang="en-US" sz="2800" dirty="0">
                <a:effectLst/>
                <a:latin typeface="Calibri" panose="020F0502020204030204" pitchFamily="34" charset="0"/>
                <a:ea typeface="MS Mincho" panose="02020609040205080304" pitchFamily="49" charset="-128"/>
                <a:cs typeface="Calibri" panose="020F0502020204030204" pitchFamily="34" charset="0"/>
              </a:rPr>
              <a:t> suggest strong adaptability to evolving trends.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Their infrastructure is mission-critical, making them resilient even as new rails emerge.</a:t>
            </a:r>
          </a:p>
          <a:p>
            <a:pPr marL="0" indent="0">
              <a:buNone/>
            </a:pPr>
            <a:endParaRPr lang="en-US" dirty="0"/>
          </a:p>
        </p:txBody>
      </p:sp>
    </p:spTree>
    <p:extLst>
      <p:ext uri="{BB962C8B-B14F-4D97-AF65-F5344CB8AC3E}">
        <p14:creationId xmlns:p14="http://schemas.microsoft.com/office/powerpoint/2010/main" val="1703520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E6D9A-A5CC-DA3B-561E-4B380FFDA2D1}"/>
              </a:ext>
            </a:extLst>
          </p:cNvPr>
          <p:cNvSpPr>
            <a:spLocks noGrp="1"/>
          </p:cNvSpPr>
          <p:nvPr>
            <p:ph idx="1"/>
          </p:nvPr>
        </p:nvSpPr>
        <p:spPr>
          <a:xfrm>
            <a:off x="330200" y="298450"/>
            <a:ext cx="11237913" cy="5837238"/>
          </a:xfrm>
        </p:spPr>
        <p:txBody>
          <a:bodyPr>
            <a:normAutofit/>
          </a:bodyPr>
          <a:lstStyle/>
          <a:p>
            <a:pPr>
              <a:buFont typeface="Wingdings" pitchFamily="2" charset="2"/>
              <a:buChar char="v"/>
            </a:pPr>
            <a:r>
              <a:rPr lang="en-US" sz="1800" b="1" dirty="0">
                <a:solidFill>
                  <a:srgbClr val="4E95D9"/>
                </a:solidFill>
                <a:latin typeface="Calibri" panose="020F0502020204030204" pitchFamily="34" charset="0"/>
                <a:cs typeface="Calibri" panose="020F0502020204030204" pitchFamily="34" charset="0"/>
              </a:rPr>
              <a:t>High Switching Cost</a:t>
            </a:r>
          </a:p>
          <a:p>
            <a:r>
              <a:rPr lang="en-US" sz="1800" b="0" i="0" dirty="0">
                <a:effectLst/>
                <a:latin typeface="Calibri" panose="020F0502020204030204" pitchFamily="34" charset="0"/>
                <a:cs typeface="Calibri" panose="020F0502020204030204" pitchFamily="34" charset="0"/>
              </a:rPr>
              <a:t>Customers and merchants face high switching costs due to the hassle of changing payment processors, re-       establishing merchant services, and the ubiquity of Visa’s acceptance.</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Brand Identity</a:t>
            </a:r>
          </a:p>
          <a:p>
            <a:r>
              <a:rPr lang="en-US" sz="1800" b="0" i="0" dirty="0">
                <a:effectLst/>
                <a:latin typeface="Calibri" panose="020F0502020204030204" pitchFamily="34" charset="0"/>
                <a:cs typeface="Calibri" panose="020F0502020204030204" pitchFamily="34" charset="0"/>
              </a:rPr>
              <a:t>Visa's brand is synonymous with credit and debit card payments, symbolizing trust and reliability. Its brand strength is a competitive advantage, encouraging card issuance and merchant acceptance.</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Intangible Assets</a:t>
            </a:r>
          </a:p>
          <a:p>
            <a:r>
              <a:rPr lang="en-US" sz="1800" b="0" i="0" dirty="0">
                <a:effectLst/>
                <a:latin typeface="Calibri" panose="020F0502020204030204" pitchFamily="34" charset="0"/>
                <a:cs typeface="Calibri" panose="020F0502020204030204" pitchFamily="34" charset="0"/>
              </a:rPr>
              <a:t>Visa holds numerous patents and licenses critical for payment processing. These assets protect its technology and services, maintaining a competitive edge in the payments industry. </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Efficient Scale</a:t>
            </a:r>
          </a:p>
          <a:p>
            <a:r>
              <a:rPr lang="en-US" sz="1800" b="0" i="0" dirty="0">
                <a:effectLst/>
                <a:latin typeface="Calibri" panose="020F0502020204030204" pitchFamily="34" charset="0"/>
                <a:cs typeface="Calibri" panose="020F0502020204030204" pitchFamily="34" charset="0"/>
              </a:rPr>
              <a:t>Visa's efficient scale is evident as it handles billions of transactions with minimal incremental cost. Its infrastructure supports massive volumes, deterring potential competitors due to the high entry costs.</a:t>
            </a:r>
          </a:p>
          <a:p>
            <a:pPr>
              <a:buFont typeface="Wingdings" pitchFamily="2" charset="2"/>
              <a:buChar char="v"/>
            </a:pPr>
            <a:r>
              <a:rPr lang="en-US" sz="1800" b="1" dirty="0">
                <a:solidFill>
                  <a:srgbClr val="4E95D9"/>
                </a:solidFill>
                <a:latin typeface="Calibri" panose="020F0502020204030204" pitchFamily="34" charset="0"/>
                <a:cs typeface="Calibri" panose="020F0502020204030204" pitchFamily="34" charset="0"/>
              </a:rPr>
              <a:t>Wide Moat</a:t>
            </a:r>
          </a:p>
          <a:p>
            <a:r>
              <a:rPr lang="en-US" sz="1800" dirty="0">
                <a:latin typeface="Calibri" panose="020F0502020204030204" pitchFamily="34" charset="0"/>
                <a:cs typeface="Calibri" panose="020F0502020204030204" pitchFamily="34" charset="0"/>
              </a:rPr>
              <a:t>Visa has the biggest network and the widest moat in the payment processing industry. </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Dominant Player </a:t>
            </a:r>
          </a:p>
          <a:p>
            <a:r>
              <a:rPr lang="en-US" sz="1800" i="0" dirty="0">
                <a:effectLst/>
                <a:latin typeface="Calibri" panose="020F0502020204030204" pitchFamily="34" charset="0"/>
                <a:cs typeface="Calibri" panose="020F0502020204030204" pitchFamily="34" charset="0"/>
              </a:rPr>
              <a:t>Visa is the most dominant player in the Global Payment Processing industry</a:t>
            </a:r>
          </a:p>
          <a:p>
            <a:pPr marL="0" indent="0">
              <a:buNone/>
            </a:pPr>
            <a:endParaRPr lang="en-US" dirty="0"/>
          </a:p>
        </p:txBody>
      </p:sp>
    </p:spTree>
    <p:extLst>
      <p:ext uri="{BB962C8B-B14F-4D97-AF65-F5344CB8AC3E}">
        <p14:creationId xmlns:p14="http://schemas.microsoft.com/office/powerpoint/2010/main" val="3138665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9D1AB-51D0-AC1C-4301-DCB1EE32620A}"/>
              </a:ext>
            </a:extLst>
          </p:cNvPr>
          <p:cNvSpPr>
            <a:spLocks noGrp="1"/>
          </p:cNvSpPr>
          <p:nvPr>
            <p:ph type="title"/>
          </p:nvPr>
        </p:nvSpPr>
        <p:spPr>
          <a:xfrm>
            <a:off x="838200" y="195004"/>
            <a:ext cx="10515600" cy="1325563"/>
          </a:xfrm>
        </p:spPr>
        <p:txBody>
          <a:bodyPr>
            <a:normAutofit/>
          </a:bodyPr>
          <a:lstStyle/>
          <a:p>
            <a:r>
              <a:rPr lang="en-US" sz="3200" b="1" u="sng" dirty="0">
                <a:solidFill>
                  <a:schemeClr val="tx2">
                    <a:lumMod val="90000"/>
                    <a:lumOff val="10000"/>
                  </a:schemeClr>
                </a:solidFill>
                <a:latin typeface="Calibri" panose="020F0502020204030204" pitchFamily="34" charset="0"/>
                <a:cs typeface="Calibri" panose="020F0502020204030204" pitchFamily="34" charset="0"/>
              </a:rPr>
              <a:t>Business Description</a:t>
            </a:r>
          </a:p>
        </p:txBody>
      </p:sp>
      <p:sp>
        <p:nvSpPr>
          <p:cNvPr id="3" name="Content Placeholder 2">
            <a:extLst>
              <a:ext uri="{FF2B5EF4-FFF2-40B4-BE49-F238E27FC236}">
                <a16:creationId xmlns:a16="http://schemas.microsoft.com/office/drawing/2014/main" id="{18905A96-8844-9FD1-634B-CA7FA426C2EF}"/>
              </a:ext>
            </a:extLst>
          </p:cNvPr>
          <p:cNvSpPr>
            <a:spLocks noGrp="1"/>
          </p:cNvSpPr>
          <p:nvPr>
            <p:ph idx="1"/>
          </p:nvPr>
        </p:nvSpPr>
        <p:spPr>
          <a:xfrm>
            <a:off x="699089" y="1293997"/>
            <a:ext cx="11251905" cy="5245026"/>
          </a:xfrm>
        </p:spPr>
        <p:txBody>
          <a:bodyPr>
            <a:normAutofit fontScale="70000" lnSpcReduction="20000"/>
          </a:bodyPr>
          <a:lstStyle/>
          <a:p>
            <a:r>
              <a:rPr lang="en-US" sz="3100" b="1" i="0" dirty="0">
                <a:solidFill>
                  <a:schemeClr val="tx2">
                    <a:lumMod val="90000"/>
                    <a:lumOff val="10000"/>
                  </a:schemeClr>
                </a:solidFill>
                <a:effectLst/>
                <a:latin typeface="Calibri" panose="020F0502020204030204" pitchFamily="34" charset="0"/>
                <a:cs typeface="Calibri" panose="020F0502020204030204" pitchFamily="34" charset="0"/>
              </a:rPr>
              <a:t>Visa Inc. (NYSE:V) </a:t>
            </a:r>
            <a:r>
              <a:rPr lang="en-US" sz="3100" i="0" dirty="0">
                <a:solidFill>
                  <a:srgbClr val="171717"/>
                </a:solidFill>
                <a:effectLst/>
                <a:latin typeface="Calibri" panose="020F0502020204030204" pitchFamily="34" charset="0"/>
                <a:cs typeface="Calibri" panose="020F0502020204030204" pitchFamily="34" charset="0"/>
              </a:rPr>
              <a:t>is a global payments technology company. It facilitates global commerce and money movement across more than 200 countries and territories among a global set of consumers, merchants, financial institutions and government entities through technologies.</a:t>
            </a:r>
            <a:endParaRPr lang="en-US" sz="3100" i="0" dirty="0">
              <a:solidFill>
                <a:srgbClr val="202122"/>
              </a:solidFill>
              <a:effectLst/>
              <a:latin typeface="Calibri" panose="020F0502020204030204" pitchFamily="34" charset="0"/>
              <a:cs typeface="Calibri" panose="020F0502020204030204" pitchFamily="34" charset="0"/>
            </a:endParaRPr>
          </a:p>
          <a:p>
            <a:r>
              <a:rPr lang="en-US" sz="3100" i="0" dirty="0">
                <a:solidFill>
                  <a:srgbClr val="171717"/>
                </a:solidFill>
                <a:effectLst/>
                <a:latin typeface="Calibri" panose="020F0502020204030204" pitchFamily="34" charset="0"/>
                <a:cs typeface="Calibri" panose="020F0502020204030204" pitchFamily="34" charset="0"/>
              </a:rPr>
              <a:t>It operates through the </a:t>
            </a:r>
            <a:r>
              <a:rPr lang="en-US" sz="3100" b="1" i="0" dirty="0">
                <a:solidFill>
                  <a:srgbClr val="171717"/>
                </a:solidFill>
                <a:effectLst/>
                <a:latin typeface="Calibri" panose="020F0502020204030204" pitchFamily="34" charset="0"/>
                <a:cs typeface="Calibri" panose="020F0502020204030204" pitchFamily="34" charset="0"/>
              </a:rPr>
              <a:t>Payment Services segment</a:t>
            </a:r>
            <a:r>
              <a:rPr lang="en-US" sz="3100" i="0" dirty="0">
                <a:solidFill>
                  <a:srgbClr val="171717"/>
                </a:solidFill>
                <a:effectLst/>
                <a:latin typeface="Calibri" panose="020F0502020204030204" pitchFamily="34" charset="0"/>
                <a:cs typeface="Calibri" panose="020F0502020204030204" pitchFamily="34" charset="0"/>
              </a:rPr>
              <a:t>. It provides transaction processing services (primarily authorization, clearing and settlement) to its financial institution and merchant clients through </a:t>
            </a:r>
            <a:r>
              <a:rPr lang="en-US" sz="3100" i="0" dirty="0" err="1">
                <a:solidFill>
                  <a:srgbClr val="171717"/>
                </a:solidFill>
                <a:effectLst/>
                <a:latin typeface="Calibri" panose="020F0502020204030204" pitchFamily="34" charset="0"/>
                <a:cs typeface="Calibri" panose="020F0502020204030204" pitchFamily="34" charset="0"/>
              </a:rPr>
              <a:t>VisaNet</a:t>
            </a:r>
            <a:r>
              <a:rPr lang="en-US" sz="3100" i="0" dirty="0">
                <a:solidFill>
                  <a:srgbClr val="171717"/>
                </a:solidFill>
                <a:effectLst/>
                <a:latin typeface="Calibri" panose="020F0502020204030204" pitchFamily="34" charset="0"/>
                <a:cs typeface="Calibri" panose="020F0502020204030204" pitchFamily="34" charset="0"/>
              </a:rPr>
              <a:t>, its proprietary advanced transaction processing network.</a:t>
            </a:r>
          </a:p>
          <a:p>
            <a:r>
              <a:rPr lang="en-US" sz="3100" i="0" dirty="0">
                <a:solidFill>
                  <a:srgbClr val="171717"/>
                </a:solidFill>
                <a:effectLst/>
                <a:latin typeface="Calibri" panose="020F0502020204030204" pitchFamily="34" charset="0"/>
                <a:cs typeface="Calibri" panose="020F0502020204030204" pitchFamily="34" charset="0"/>
              </a:rPr>
              <a:t>It offers a range of Visa-branded payment products that its clients, including nearly 14,500 financial institutions, use to develop and offer payment solutions or services, including credit, debit, prepaid and cash access programs for individual, business and government account holders.</a:t>
            </a:r>
            <a:endParaRPr lang="en-US" sz="3100" dirty="0">
              <a:solidFill>
                <a:srgbClr val="202122"/>
              </a:solidFill>
              <a:latin typeface="Calibri" panose="020F0502020204030204" pitchFamily="34" charset="0"/>
              <a:cs typeface="Calibri" panose="020F0502020204030204" pitchFamily="34" charset="0"/>
            </a:endParaRPr>
          </a:p>
          <a:p>
            <a:r>
              <a:rPr lang="en-US" sz="3100" i="0" dirty="0">
                <a:solidFill>
                  <a:srgbClr val="171717"/>
                </a:solidFill>
                <a:effectLst/>
                <a:latin typeface="Calibri" panose="020F0502020204030204" pitchFamily="34" charset="0"/>
                <a:cs typeface="Calibri" panose="020F0502020204030204" pitchFamily="34" charset="0"/>
              </a:rPr>
              <a:t>It also provides value-added services to its clients, including issuing solutions, acceptance solutions, risk and identity solutions, open banking solutions and advisory services.</a:t>
            </a:r>
            <a:endParaRPr lang="en-US" sz="3100" dirty="0">
              <a:solidFill>
                <a:srgbClr val="202122"/>
              </a:solidFill>
              <a:latin typeface="Calibri" panose="020F0502020204030204" pitchFamily="34" charset="0"/>
              <a:cs typeface="Calibri" panose="020F0502020204030204" pitchFamily="34" charset="0"/>
            </a:endParaRPr>
          </a:p>
          <a:p>
            <a:r>
              <a:rPr lang="en-US" sz="3100" b="0" i="0" dirty="0">
                <a:solidFill>
                  <a:srgbClr val="202122"/>
                </a:solidFill>
                <a:effectLst/>
                <a:latin typeface="Calibri" panose="020F0502020204030204" pitchFamily="34" charset="0"/>
                <a:cs typeface="Calibri" panose="020F0502020204030204" pitchFamily="34" charset="0"/>
              </a:rPr>
              <a:t>Visa was founded in 1958 by </a:t>
            </a:r>
            <a:r>
              <a:rPr lang="en-US" sz="3100" b="0" i="0" u="none" strike="noStrike" dirty="0">
                <a:effectLst/>
                <a:latin typeface="Calibri" panose="020F0502020204030204" pitchFamily="34" charset="0"/>
                <a:cs typeface="Calibri" panose="020F0502020204030204" pitchFamily="34" charset="0"/>
              </a:rPr>
              <a:t>Bank of America</a:t>
            </a:r>
            <a:r>
              <a:rPr lang="en-US" sz="3100" u="none" strike="noStrike" dirty="0">
                <a:latin typeface="Calibri" panose="020F0502020204030204" pitchFamily="34" charset="0"/>
                <a:cs typeface="Calibri" panose="020F0502020204030204" pitchFamily="34" charset="0"/>
              </a:rPr>
              <a:t> </a:t>
            </a:r>
            <a:r>
              <a:rPr lang="en-US" sz="3100" b="0" i="0" dirty="0">
                <a:solidFill>
                  <a:srgbClr val="202122"/>
                </a:solidFill>
                <a:effectLst/>
                <a:latin typeface="Calibri" panose="020F0502020204030204" pitchFamily="34" charset="0"/>
                <a:cs typeface="Calibri" panose="020F0502020204030204" pitchFamily="34" charset="0"/>
              </a:rPr>
              <a:t>as the </a:t>
            </a:r>
            <a:r>
              <a:rPr lang="en-US" sz="3100" b="1" i="0" dirty="0" err="1">
                <a:solidFill>
                  <a:srgbClr val="202122"/>
                </a:solidFill>
                <a:effectLst/>
                <a:latin typeface="Calibri" panose="020F0502020204030204" pitchFamily="34" charset="0"/>
                <a:cs typeface="Calibri" panose="020F0502020204030204" pitchFamily="34" charset="0"/>
              </a:rPr>
              <a:t>BankAmericard</a:t>
            </a:r>
            <a:r>
              <a:rPr lang="en-US" sz="3100" b="0" i="0" dirty="0">
                <a:solidFill>
                  <a:srgbClr val="202122"/>
                </a:solidFill>
                <a:effectLst/>
                <a:latin typeface="Calibri" panose="020F0502020204030204" pitchFamily="34" charset="0"/>
                <a:cs typeface="Calibri" panose="020F0502020204030204" pitchFamily="34" charset="0"/>
              </a:rPr>
              <a:t> credit card program. It was renamed Visa in 1976. It went p</a:t>
            </a:r>
            <a:r>
              <a:rPr lang="en-US" sz="3100" dirty="0">
                <a:solidFill>
                  <a:srgbClr val="202122"/>
                </a:solidFill>
                <a:latin typeface="Calibri" panose="020F0502020204030204" pitchFamily="34" charset="0"/>
                <a:cs typeface="Calibri" panose="020F0502020204030204" pitchFamily="34" charset="0"/>
              </a:rPr>
              <a:t>ublic through an IPO in 2008.</a:t>
            </a:r>
          </a:p>
          <a:p>
            <a:r>
              <a:rPr lang="en-US" sz="3100" dirty="0">
                <a:solidFill>
                  <a:srgbClr val="202122"/>
                </a:solidFill>
                <a:latin typeface="Calibri" panose="020F0502020204030204" pitchFamily="34" charset="0"/>
                <a:cs typeface="Calibri" panose="020F0502020204030204" pitchFamily="34" charset="0"/>
              </a:rPr>
              <a:t>Visa is headquartered in San Francisco, California. </a:t>
            </a:r>
          </a:p>
          <a:p>
            <a:r>
              <a:rPr lang="en-US" sz="3100" dirty="0">
                <a:solidFill>
                  <a:srgbClr val="202122"/>
                </a:solidFill>
                <a:latin typeface="Calibri" panose="020F0502020204030204" pitchFamily="34" charset="0"/>
                <a:cs typeface="Calibri" panose="020F0502020204030204" pitchFamily="34" charset="0"/>
              </a:rPr>
              <a:t>Visa has a market cap of $676.07 billion.</a:t>
            </a:r>
          </a:p>
          <a:p>
            <a:pPr marL="0" indent="0">
              <a:buNone/>
            </a:pPr>
            <a:endParaRPr lang="en-US" sz="2400" dirty="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9177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1B6EBB-BA8A-132D-81BB-049A2F78ED0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Calibri" panose="020F0502020204030204" pitchFamily="34" charset="0"/>
                <a:cs typeface="Calibri" panose="020F0502020204030204" pitchFamily="34" charset="0"/>
              </a:rPr>
              <a:t>VISA </a:t>
            </a:r>
            <a:r>
              <a:rPr lang="en-US" sz="3200" dirty="0">
                <a:solidFill>
                  <a:schemeClr val="bg1"/>
                </a:solidFill>
                <a:latin typeface="Calibri" panose="020F0502020204030204" pitchFamily="34" charset="0"/>
                <a:cs typeface="Calibri" panose="020F0502020204030204" pitchFamily="34" charset="0"/>
              </a:rPr>
              <a:t>Factsheet</a:t>
            </a:r>
            <a:endParaRPr lang="en-US" sz="3200" kern="1200" dirty="0">
              <a:solidFill>
                <a:schemeClr val="bg1"/>
              </a:solidFill>
              <a:latin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773C381B-C1DB-3A43-9111-C6D8999B310F}"/>
              </a:ext>
            </a:extLst>
          </p:cNvPr>
          <p:cNvPicPr>
            <a:picLocks noGrp="1" noChangeAspect="1"/>
          </p:cNvPicPr>
          <p:nvPr>
            <p:ph idx="1"/>
          </p:nvPr>
        </p:nvPicPr>
        <p:blipFill>
          <a:blip r:embed="rId2"/>
          <a:stretch>
            <a:fillRect/>
          </a:stretch>
        </p:blipFill>
        <p:spPr>
          <a:xfrm>
            <a:off x="1605516" y="1561731"/>
            <a:ext cx="9133367" cy="4874679"/>
          </a:xfrm>
          <a:prstGeom prst="rect">
            <a:avLst/>
          </a:prstGeom>
        </p:spPr>
      </p:pic>
    </p:spTree>
    <p:extLst>
      <p:ext uri="{BB962C8B-B14F-4D97-AF65-F5344CB8AC3E}">
        <p14:creationId xmlns:p14="http://schemas.microsoft.com/office/powerpoint/2010/main" val="147176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business&#10;&#10;AI-generated content may be incorrect.">
            <a:extLst>
              <a:ext uri="{FF2B5EF4-FFF2-40B4-BE49-F238E27FC236}">
                <a16:creationId xmlns:a16="http://schemas.microsoft.com/office/drawing/2014/main" id="{72920BE3-8679-88E9-FB1C-1D1D319F5E0A}"/>
              </a:ext>
            </a:extLst>
          </p:cNvPr>
          <p:cNvPicPr>
            <a:picLocks noGrp="1" noChangeAspect="1"/>
          </p:cNvPicPr>
          <p:nvPr>
            <p:ph idx="1"/>
          </p:nvPr>
        </p:nvPicPr>
        <p:blipFill>
          <a:blip r:embed="rId2"/>
          <a:stretch>
            <a:fillRect/>
          </a:stretch>
        </p:blipFill>
        <p:spPr>
          <a:xfrm>
            <a:off x="489098" y="180823"/>
            <a:ext cx="10834576" cy="6448951"/>
          </a:xfrm>
          <a:prstGeom prst="rect">
            <a:avLst/>
          </a:prstGeom>
        </p:spPr>
      </p:pic>
    </p:spTree>
    <p:extLst>
      <p:ext uri="{BB962C8B-B14F-4D97-AF65-F5344CB8AC3E}">
        <p14:creationId xmlns:p14="http://schemas.microsoft.com/office/powerpoint/2010/main" val="101141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screenshot of a graph&#10;&#10;AI-generated content may be incorrect.">
            <a:extLst>
              <a:ext uri="{FF2B5EF4-FFF2-40B4-BE49-F238E27FC236}">
                <a16:creationId xmlns:a16="http://schemas.microsoft.com/office/drawing/2014/main" id="{91A02DE1-DE23-0126-FE06-1E2063564BC9}"/>
              </a:ext>
            </a:extLst>
          </p:cNvPr>
          <p:cNvPicPr>
            <a:picLocks noGrp="1" noChangeAspect="1"/>
          </p:cNvPicPr>
          <p:nvPr>
            <p:ph idx="1"/>
          </p:nvPr>
        </p:nvPicPr>
        <p:blipFill>
          <a:blip r:embed="rId2"/>
          <a:stretch>
            <a:fillRect/>
          </a:stretch>
        </p:blipFill>
        <p:spPr>
          <a:xfrm>
            <a:off x="643467" y="975360"/>
            <a:ext cx="10905066" cy="4907279"/>
          </a:xfrm>
          <a:prstGeom prst="rect">
            <a:avLst/>
          </a:prstGeom>
        </p:spPr>
      </p:pic>
    </p:spTree>
    <p:extLst>
      <p:ext uri="{BB962C8B-B14F-4D97-AF65-F5344CB8AC3E}">
        <p14:creationId xmlns:p14="http://schemas.microsoft.com/office/powerpoint/2010/main" val="2753935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D59C5-0129-78AC-4B39-478AE2998516}"/>
              </a:ext>
            </a:extLst>
          </p:cNvPr>
          <p:cNvSpPr>
            <a:spLocks noGrp="1"/>
          </p:cNvSpPr>
          <p:nvPr>
            <p:ph type="title"/>
          </p:nvPr>
        </p:nvSpPr>
        <p:spPr>
          <a:xfrm>
            <a:off x="838200" y="205637"/>
            <a:ext cx="10283456" cy="655600"/>
          </a:xfrm>
        </p:spPr>
        <p:txBody>
          <a:bodyPr>
            <a:normAutofit/>
          </a:bodyPr>
          <a:lstStyle/>
          <a:p>
            <a:r>
              <a:rPr lang="en-US" sz="2800" b="1" dirty="0">
                <a:solidFill>
                  <a:schemeClr val="tx2">
                    <a:lumMod val="90000"/>
                    <a:lumOff val="10000"/>
                  </a:schemeClr>
                </a:solidFill>
                <a:latin typeface="Calibri" panose="020F0502020204030204" pitchFamily="34" charset="0"/>
                <a:cs typeface="Calibri" panose="020F0502020204030204" pitchFamily="34" charset="0"/>
              </a:rPr>
              <a:t>Revenue Breakdown</a:t>
            </a:r>
          </a:p>
        </p:txBody>
      </p:sp>
      <p:pic>
        <p:nvPicPr>
          <p:cNvPr id="5" name="Content Placeholder 4">
            <a:extLst>
              <a:ext uri="{FF2B5EF4-FFF2-40B4-BE49-F238E27FC236}">
                <a16:creationId xmlns:a16="http://schemas.microsoft.com/office/drawing/2014/main" id="{04DBFE62-CBAF-EC06-EFC8-E6315E24918E}"/>
              </a:ext>
            </a:extLst>
          </p:cNvPr>
          <p:cNvPicPr>
            <a:picLocks noGrp="1" noChangeAspect="1"/>
          </p:cNvPicPr>
          <p:nvPr>
            <p:ph idx="1"/>
          </p:nvPr>
        </p:nvPicPr>
        <p:blipFill>
          <a:blip r:embed="rId2"/>
          <a:stretch>
            <a:fillRect/>
          </a:stretch>
        </p:blipFill>
        <p:spPr>
          <a:xfrm>
            <a:off x="838198" y="978195"/>
            <a:ext cx="9560443" cy="5603374"/>
          </a:xfrm>
        </p:spPr>
      </p:pic>
    </p:spTree>
    <p:extLst>
      <p:ext uri="{BB962C8B-B14F-4D97-AF65-F5344CB8AC3E}">
        <p14:creationId xmlns:p14="http://schemas.microsoft.com/office/powerpoint/2010/main" val="2944264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ie chart with text&#10;&#10;AI-generated content may be incorrect.">
            <a:extLst>
              <a:ext uri="{FF2B5EF4-FFF2-40B4-BE49-F238E27FC236}">
                <a16:creationId xmlns:a16="http://schemas.microsoft.com/office/drawing/2014/main" id="{5F366A8E-2891-DEA4-895C-FB857A51B0DE}"/>
              </a:ext>
            </a:extLst>
          </p:cNvPr>
          <p:cNvPicPr>
            <a:picLocks noGrp="1" noChangeAspect="1"/>
          </p:cNvPicPr>
          <p:nvPr>
            <p:ph idx="1"/>
          </p:nvPr>
        </p:nvPicPr>
        <p:blipFill>
          <a:blip r:embed="rId2"/>
          <a:stretch>
            <a:fillRect/>
          </a:stretch>
        </p:blipFill>
        <p:spPr>
          <a:xfrm>
            <a:off x="1674517" y="643466"/>
            <a:ext cx="8842966" cy="5571067"/>
          </a:xfrm>
          <a:prstGeom prst="rect">
            <a:avLst/>
          </a:prstGeom>
        </p:spPr>
      </p:pic>
    </p:spTree>
    <p:extLst>
      <p:ext uri="{BB962C8B-B14F-4D97-AF65-F5344CB8AC3E}">
        <p14:creationId xmlns:p14="http://schemas.microsoft.com/office/powerpoint/2010/main" val="4026246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growth drivers&#10;&#10;AI-generated content may be incorrect.">
            <a:extLst>
              <a:ext uri="{FF2B5EF4-FFF2-40B4-BE49-F238E27FC236}">
                <a16:creationId xmlns:a16="http://schemas.microsoft.com/office/drawing/2014/main" id="{A5C54AE9-812F-235D-6308-CBEDFF9E9ACD}"/>
              </a:ext>
            </a:extLst>
          </p:cNvPr>
          <p:cNvPicPr>
            <a:picLocks noGrp="1" noChangeAspect="1"/>
          </p:cNvPicPr>
          <p:nvPr>
            <p:ph idx="1"/>
          </p:nvPr>
        </p:nvPicPr>
        <p:blipFill>
          <a:blip r:embed="rId2"/>
          <a:stretch>
            <a:fillRect/>
          </a:stretch>
        </p:blipFill>
        <p:spPr>
          <a:xfrm>
            <a:off x="2430823" y="643466"/>
            <a:ext cx="7330353" cy="5571067"/>
          </a:xfrm>
          <a:prstGeom prst="rect">
            <a:avLst/>
          </a:prstGeom>
        </p:spPr>
      </p:pic>
    </p:spTree>
    <p:extLst>
      <p:ext uri="{BB962C8B-B14F-4D97-AF65-F5344CB8AC3E}">
        <p14:creationId xmlns:p14="http://schemas.microsoft.com/office/powerpoint/2010/main" val="2238344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number of different colored bars&#10;&#10;AI-generated content may be incorrect.">
            <a:extLst>
              <a:ext uri="{FF2B5EF4-FFF2-40B4-BE49-F238E27FC236}">
                <a16:creationId xmlns:a16="http://schemas.microsoft.com/office/drawing/2014/main" id="{97288225-20ED-3F92-882B-E3A88D6CB49C}"/>
              </a:ext>
            </a:extLst>
          </p:cNvPr>
          <p:cNvPicPr>
            <a:picLocks noGrp="1" noChangeAspect="1"/>
          </p:cNvPicPr>
          <p:nvPr>
            <p:ph idx="1"/>
          </p:nvPr>
        </p:nvPicPr>
        <p:blipFill>
          <a:blip r:embed="rId2"/>
          <a:stretch>
            <a:fillRect/>
          </a:stretch>
        </p:blipFill>
        <p:spPr>
          <a:xfrm>
            <a:off x="350874" y="52747"/>
            <a:ext cx="11440633" cy="6745072"/>
          </a:xfrm>
          <a:prstGeom prst="rect">
            <a:avLst/>
          </a:prstGeom>
        </p:spPr>
      </p:pic>
    </p:spTree>
    <p:extLst>
      <p:ext uri="{BB962C8B-B14F-4D97-AF65-F5344CB8AC3E}">
        <p14:creationId xmlns:p14="http://schemas.microsoft.com/office/powerpoint/2010/main" val="3429894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2676C7F3-7BCE-92BF-94BF-3087B3DB8C4B}"/>
              </a:ext>
            </a:extLst>
          </p:cNvPr>
          <p:cNvPicPr>
            <a:picLocks noGrp="1" noChangeAspect="1"/>
          </p:cNvPicPr>
          <p:nvPr>
            <p:ph idx="1"/>
          </p:nvPr>
        </p:nvPicPr>
        <p:blipFill>
          <a:blip r:embed="rId2"/>
          <a:stretch>
            <a:fillRect/>
          </a:stretch>
        </p:blipFill>
        <p:spPr>
          <a:xfrm>
            <a:off x="1826982" y="643466"/>
            <a:ext cx="8538036" cy="5571067"/>
          </a:xfrm>
          <a:prstGeom prst="rect">
            <a:avLst/>
          </a:prstGeom>
        </p:spPr>
      </p:pic>
    </p:spTree>
    <p:extLst>
      <p:ext uri="{BB962C8B-B14F-4D97-AF65-F5344CB8AC3E}">
        <p14:creationId xmlns:p14="http://schemas.microsoft.com/office/powerpoint/2010/main" val="2236283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2988037B-1D6E-1F41-1FA8-C7EF2BACC008}"/>
              </a:ext>
            </a:extLst>
          </p:cNvPr>
          <p:cNvPicPr>
            <a:picLocks noGrp="1" noChangeAspect="1"/>
          </p:cNvPicPr>
          <p:nvPr>
            <p:ph idx="1"/>
          </p:nvPr>
        </p:nvPicPr>
        <p:blipFill>
          <a:blip r:embed="rId2"/>
          <a:stretch>
            <a:fillRect/>
          </a:stretch>
        </p:blipFill>
        <p:spPr>
          <a:xfrm>
            <a:off x="2172713" y="643466"/>
            <a:ext cx="7846573" cy="5571067"/>
          </a:xfrm>
          <a:prstGeom prst="rect">
            <a:avLst/>
          </a:prstGeom>
        </p:spPr>
      </p:pic>
    </p:spTree>
    <p:extLst>
      <p:ext uri="{BB962C8B-B14F-4D97-AF65-F5344CB8AC3E}">
        <p14:creationId xmlns:p14="http://schemas.microsoft.com/office/powerpoint/2010/main" val="3763931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any's list&#10;&#10;AI-generated content may be incorrect.">
            <a:extLst>
              <a:ext uri="{FF2B5EF4-FFF2-40B4-BE49-F238E27FC236}">
                <a16:creationId xmlns:a16="http://schemas.microsoft.com/office/drawing/2014/main" id="{C9AB0A2C-3134-33F0-EA4E-DCB7447DDF45}"/>
              </a:ext>
            </a:extLst>
          </p:cNvPr>
          <p:cNvPicPr>
            <a:picLocks noGrp="1" noChangeAspect="1"/>
          </p:cNvPicPr>
          <p:nvPr>
            <p:ph idx="1"/>
          </p:nvPr>
        </p:nvPicPr>
        <p:blipFill>
          <a:blip r:embed="rId2"/>
          <a:stretch>
            <a:fillRect/>
          </a:stretch>
        </p:blipFill>
        <p:spPr>
          <a:xfrm>
            <a:off x="3400997" y="643466"/>
            <a:ext cx="5390005" cy="5571067"/>
          </a:xfrm>
          <a:prstGeom prst="rect">
            <a:avLst/>
          </a:prstGeom>
        </p:spPr>
      </p:pic>
      <p:sp>
        <p:nvSpPr>
          <p:cNvPr id="6" name="TextBox 5">
            <a:extLst>
              <a:ext uri="{FF2B5EF4-FFF2-40B4-BE49-F238E27FC236}">
                <a16:creationId xmlns:a16="http://schemas.microsoft.com/office/drawing/2014/main" id="{22D5BC67-45DE-5081-E9AF-B8A7E7861460}"/>
              </a:ext>
            </a:extLst>
          </p:cNvPr>
          <p:cNvSpPr txBox="1"/>
          <p:nvPr/>
        </p:nvSpPr>
        <p:spPr>
          <a:xfrm>
            <a:off x="1105786" y="340242"/>
            <a:ext cx="2326214" cy="369332"/>
          </a:xfrm>
          <a:prstGeom prst="rect">
            <a:avLst/>
          </a:prstGeom>
          <a:noFill/>
        </p:spPr>
        <p:txBody>
          <a:bodyPr wrap="none" rtlCol="0">
            <a:spAutoFit/>
          </a:bodyPr>
          <a:lstStyle/>
          <a:p>
            <a:r>
              <a:rPr lang="en-US" b="1" dirty="0">
                <a:solidFill>
                  <a:schemeClr val="tx2">
                    <a:lumMod val="90000"/>
                    <a:lumOff val="10000"/>
                  </a:schemeClr>
                </a:solidFill>
              </a:rPr>
              <a:t>PEER COMPETITORS</a:t>
            </a:r>
          </a:p>
        </p:txBody>
      </p:sp>
    </p:spTree>
    <p:extLst>
      <p:ext uri="{BB962C8B-B14F-4D97-AF65-F5344CB8AC3E}">
        <p14:creationId xmlns:p14="http://schemas.microsoft.com/office/powerpoint/2010/main" val="3545329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showing the growth of a stock market&#10;&#10;AI-generated content may be incorrect.">
            <a:extLst>
              <a:ext uri="{FF2B5EF4-FFF2-40B4-BE49-F238E27FC236}">
                <a16:creationId xmlns:a16="http://schemas.microsoft.com/office/drawing/2014/main" id="{BB85594C-151D-7EB7-F3A9-F869AF88CECE}"/>
              </a:ext>
            </a:extLst>
          </p:cNvPr>
          <p:cNvPicPr>
            <a:picLocks noGrp="1" noChangeAspect="1"/>
          </p:cNvPicPr>
          <p:nvPr>
            <p:ph idx="1"/>
          </p:nvPr>
        </p:nvPicPr>
        <p:blipFill>
          <a:blip r:embed="rId2"/>
          <a:stretch>
            <a:fillRect/>
          </a:stretch>
        </p:blipFill>
        <p:spPr>
          <a:xfrm>
            <a:off x="643467" y="574159"/>
            <a:ext cx="11053810" cy="5499318"/>
          </a:xfrm>
          <a:prstGeom prst="rect">
            <a:avLst/>
          </a:prstGeom>
        </p:spPr>
      </p:pic>
    </p:spTree>
    <p:extLst>
      <p:ext uri="{BB962C8B-B14F-4D97-AF65-F5344CB8AC3E}">
        <p14:creationId xmlns:p14="http://schemas.microsoft.com/office/powerpoint/2010/main" val="766511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green line and numbers&#10;&#10;AI-generated content may be incorrect.">
            <a:extLst>
              <a:ext uri="{FF2B5EF4-FFF2-40B4-BE49-F238E27FC236}">
                <a16:creationId xmlns:a16="http://schemas.microsoft.com/office/drawing/2014/main" id="{4B62556D-561B-ACAB-6F35-90F910D727BD}"/>
              </a:ext>
            </a:extLst>
          </p:cNvPr>
          <p:cNvPicPr>
            <a:picLocks noGrp="1" noChangeAspect="1"/>
          </p:cNvPicPr>
          <p:nvPr>
            <p:ph idx="1"/>
          </p:nvPr>
        </p:nvPicPr>
        <p:blipFill>
          <a:blip r:embed="rId2"/>
          <a:stretch>
            <a:fillRect/>
          </a:stretch>
        </p:blipFill>
        <p:spPr>
          <a:xfrm>
            <a:off x="643467" y="784522"/>
            <a:ext cx="10905066" cy="5288954"/>
          </a:xfrm>
          <a:prstGeom prst="rect">
            <a:avLst/>
          </a:prstGeom>
        </p:spPr>
      </p:pic>
    </p:spTree>
    <p:extLst>
      <p:ext uri="{BB962C8B-B14F-4D97-AF65-F5344CB8AC3E}">
        <p14:creationId xmlns:p14="http://schemas.microsoft.com/office/powerpoint/2010/main" val="3387658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graph with green line&#10;&#10;AI-generated content may be incorrect.">
            <a:extLst>
              <a:ext uri="{FF2B5EF4-FFF2-40B4-BE49-F238E27FC236}">
                <a16:creationId xmlns:a16="http://schemas.microsoft.com/office/drawing/2014/main" id="{29A131F3-E812-42B5-D717-16A790D37B29}"/>
              </a:ext>
            </a:extLst>
          </p:cNvPr>
          <p:cNvPicPr>
            <a:picLocks noGrp="1" noChangeAspect="1"/>
          </p:cNvPicPr>
          <p:nvPr>
            <p:ph idx="1"/>
          </p:nvPr>
        </p:nvPicPr>
        <p:blipFill>
          <a:blip r:embed="rId2"/>
          <a:stretch>
            <a:fillRect/>
          </a:stretch>
        </p:blipFill>
        <p:spPr>
          <a:xfrm>
            <a:off x="643466" y="680484"/>
            <a:ext cx="11119577" cy="5392992"/>
          </a:xfrm>
          <a:prstGeom prst="rect">
            <a:avLst/>
          </a:prstGeom>
        </p:spPr>
      </p:pic>
    </p:spTree>
    <p:extLst>
      <p:ext uri="{BB962C8B-B14F-4D97-AF65-F5344CB8AC3E}">
        <p14:creationId xmlns:p14="http://schemas.microsoft.com/office/powerpoint/2010/main" val="3361730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4">
            <a:extLst>
              <a:ext uri="{FF2B5EF4-FFF2-40B4-BE49-F238E27FC236}">
                <a16:creationId xmlns:a16="http://schemas.microsoft.com/office/drawing/2014/main" id="{DB9769FC-12C3-18DF-D75C-BCB53F934BEA}"/>
              </a:ext>
            </a:extLst>
          </p:cNvPr>
          <p:cNvGraphicFramePr>
            <a:graphicFrameLocks noGrp="1"/>
          </p:cNvGraphicFramePr>
          <p:nvPr>
            <p:ph idx="1"/>
            <p:extLst>
              <p:ext uri="{D42A27DB-BD31-4B8C-83A1-F6EECF244321}">
                <p14:modId xmlns:p14="http://schemas.microsoft.com/office/powerpoint/2010/main" val="847721065"/>
              </p:ext>
            </p:extLst>
          </p:nvPr>
        </p:nvGraphicFramePr>
        <p:xfrm>
          <a:off x="318977" y="308344"/>
          <a:ext cx="11589488" cy="61988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74586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B6A9FF83-7446-2848-AA2F-A7BFB6B7987F}"/>
              </a:ext>
            </a:extLst>
          </p:cNvPr>
          <p:cNvGraphicFramePr>
            <a:graphicFrameLocks noGrp="1"/>
          </p:cNvGraphicFramePr>
          <p:nvPr>
            <p:ph idx="1"/>
            <p:extLst>
              <p:ext uri="{D42A27DB-BD31-4B8C-83A1-F6EECF244321}">
                <p14:modId xmlns:p14="http://schemas.microsoft.com/office/powerpoint/2010/main" val="1902185237"/>
              </p:ext>
            </p:extLst>
          </p:nvPr>
        </p:nvGraphicFramePr>
        <p:xfrm>
          <a:off x="382771" y="287079"/>
          <a:ext cx="11227981" cy="61030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23778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blue bars&#10;&#10;AI-generated content may be incorrect.">
            <a:extLst>
              <a:ext uri="{FF2B5EF4-FFF2-40B4-BE49-F238E27FC236}">
                <a16:creationId xmlns:a16="http://schemas.microsoft.com/office/drawing/2014/main" id="{04172AAA-1DB2-AD8A-F425-7A86AF4BFD23}"/>
              </a:ext>
            </a:extLst>
          </p:cNvPr>
          <p:cNvPicPr>
            <a:picLocks noGrp="1" noChangeAspect="1"/>
          </p:cNvPicPr>
          <p:nvPr>
            <p:ph idx="1"/>
          </p:nvPr>
        </p:nvPicPr>
        <p:blipFill>
          <a:blip r:embed="rId2"/>
          <a:stretch>
            <a:fillRect/>
          </a:stretch>
        </p:blipFill>
        <p:spPr>
          <a:xfrm>
            <a:off x="643467" y="1111674"/>
            <a:ext cx="10905066" cy="4634650"/>
          </a:xfrm>
          <a:prstGeom prst="rect">
            <a:avLst/>
          </a:prstGeom>
        </p:spPr>
      </p:pic>
      <p:sp>
        <p:nvSpPr>
          <p:cNvPr id="6" name="TextBox 5">
            <a:extLst>
              <a:ext uri="{FF2B5EF4-FFF2-40B4-BE49-F238E27FC236}">
                <a16:creationId xmlns:a16="http://schemas.microsoft.com/office/drawing/2014/main" id="{A25DA314-84FE-6FDC-1FE4-F91C12DB2208}"/>
              </a:ext>
            </a:extLst>
          </p:cNvPr>
          <p:cNvSpPr txBox="1"/>
          <p:nvPr/>
        </p:nvSpPr>
        <p:spPr>
          <a:xfrm>
            <a:off x="8380340" y="2684437"/>
            <a:ext cx="769763" cy="307777"/>
          </a:xfrm>
          <a:prstGeom prst="rect">
            <a:avLst/>
          </a:prstGeom>
          <a:noFill/>
        </p:spPr>
        <p:txBody>
          <a:bodyPr wrap="none" rtlCol="0">
            <a:spAutoFit/>
          </a:bodyPr>
          <a:lstStyle/>
          <a:p>
            <a:r>
              <a:rPr lang="en-US" sz="1400" dirty="0">
                <a:solidFill>
                  <a:schemeClr val="tx2">
                    <a:lumMod val="75000"/>
                    <a:lumOff val="25000"/>
                  </a:schemeClr>
                </a:solidFill>
              </a:rPr>
              <a:t>11.40%</a:t>
            </a:r>
          </a:p>
        </p:txBody>
      </p:sp>
      <p:sp>
        <p:nvSpPr>
          <p:cNvPr id="7" name="TextBox 6">
            <a:extLst>
              <a:ext uri="{FF2B5EF4-FFF2-40B4-BE49-F238E27FC236}">
                <a16:creationId xmlns:a16="http://schemas.microsoft.com/office/drawing/2014/main" id="{68778C07-1828-A3ED-2C4B-6862F1567343}"/>
              </a:ext>
            </a:extLst>
          </p:cNvPr>
          <p:cNvSpPr txBox="1"/>
          <p:nvPr/>
        </p:nvSpPr>
        <p:spPr>
          <a:xfrm>
            <a:off x="6751674" y="2684438"/>
            <a:ext cx="769763" cy="307777"/>
          </a:xfrm>
          <a:prstGeom prst="rect">
            <a:avLst/>
          </a:prstGeom>
          <a:noFill/>
        </p:spPr>
        <p:txBody>
          <a:bodyPr wrap="none" rtlCol="0">
            <a:spAutoFit/>
          </a:bodyPr>
          <a:lstStyle/>
          <a:p>
            <a:r>
              <a:rPr lang="en-US" sz="1400" dirty="0">
                <a:solidFill>
                  <a:schemeClr val="tx2">
                    <a:lumMod val="75000"/>
                    <a:lumOff val="25000"/>
                  </a:schemeClr>
                </a:solidFill>
              </a:rPr>
              <a:t>11.05%</a:t>
            </a:r>
          </a:p>
        </p:txBody>
      </p:sp>
      <p:sp>
        <p:nvSpPr>
          <p:cNvPr id="8" name="TextBox 7">
            <a:extLst>
              <a:ext uri="{FF2B5EF4-FFF2-40B4-BE49-F238E27FC236}">
                <a16:creationId xmlns:a16="http://schemas.microsoft.com/office/drawing/2014/main" id="{D2180E1F-CF83-2F0D-9A12-A9CCDE99E87D}"/>
              </a:ext>
            </a:extLst>
          </p:cNvPr>
          <p:cNvSpPr txBox="1"/>
          <p:nvPr/>
        </p:nvSpPr>
        <p:spPr>
          <a:xfrm>
            <a:off x="5103536" y="2992214"/>
            <a:ext cx="673582" cy="307777"/>
          </a:xfrm>
          <a:prstGeom prst="rect">
            <a:avLst/>
          </a:prstGeom>
          <a:noFill/>
        </p:spPr>
        <p:txBody>
          <a:bodyPr wrap="none" rtlCol="0">
            <a:spAutoFit/>
          </a:bodyPr>
          <a:lstStyle/>
          <a:p>
            <a:r>
              <a:rPr lang="en-US" sz="1400" dirty="0">
                <a:solidFill>
                  <a:schemeClr val="tx2">
                    <a:lumMod val="75000"/>
                    <a:lumOff val="25000"/>
                  </a:schemeClr>
                </a:solidFill>
              </a:rPr>
              <a:t>9.51%</a:t>
            </a:r>
          </a:p>
        </p:txBody>
      </p:sp>
      <p:sp>
        <p:nvSpPr>
          <p:cNvPr id="9" name="TextBox 8">
            <a:extLst>
              <a:ext uri="{FF2B5EF4-FFF2-40B4-BE49-F238E27FC236}">
                <a16:creationId xmlns:a16="http://schemas.microsoft.com/office/drawing/2014/main" id="{2E79DECC-F3C0-EDE0-562B-7AD7ABF231D0}"/>
              </a:ext>
            </a:extLst>
          </p:cNvPr>
          <p:cNvSpPr txBox="1"/>
          <p:nvPr/>
        </p:nvSpPr>
        <p:spPr>
          <a:xfrm>
            <a:off x="3426779" y="2604976"/>
            <a:ext cx="769763" cy="307777"/>
          </a:xfrm>
          <a:prstGeom prst="rect">
            <a:avLst/>
          </a:prstGeom>
          <a:noFill/>
        </p:spPr>
        <p:txBody>
          <a:bodyPr wrap="none" rtlCol="0">
            <a:spAutoFit/>
          </a:bodyPr>
          <a:lstStyle/>
          <a:p>
            <a:r>
              <a:rPr lang="en-US" sz="1400" dirty="0">
                <a:solidFill>
                  <a:schemeClr val="tx2">
                    <a:lumMod val="75000"/>
                    <a:lumOff val="25000"/>
                  </a:schemeClr>
                </a:solidFill>
              </a:rPr>
              <a:t>11.77%</a:t>
            </a:r>
          </a:p>
        </p:txBody>
      </p:sp>
    </p:spTree>
    <p:extLst>
      <p:ext uri="{BB962C8B-B14F-4D97-AF65-F5344CB8AC3E}">
        <p14:creationId xmlns:p14="http://schemas.microsoft.com/office/powerpoint/2010/main" val="279655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331F7EB-DBBF-ABD6-68AC-0AA7CB0A4FB1}"/>
              </a:ext>
            </a:extLst>
          </p:cNvPr>
          <p:cNvGraphicFramePr>
            <a:graphicFrameLocks noGrp="1"/>
          </p:cNvGraphicFramePr>
          <p:nvPr>
            <p:ph idx="1"/>
            <p:extLst>
              <p:ext uri="{D42A27DB-BD31-4B8C-83A1-F6EECF244321}">
                <p14:modId xmlns:p14="http://schemas.microsoft.com/office/powerpoint/2010/main" val="2143102881"/>
              </p:ext>
            </p:extLst>
          </p:nvPr>
        </p:nvGraphicFramePr>
        <p:xfrm>
          <a:off x="276447" y="297712"/>
          <a:ext cx="11674547" cy="61777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81334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2458B7B-5959-3C74-A779-80666088F1F0}"/>
              </a:ext>
            </a:extLst>
          </p:cNvPr>
          <p:cNvGraphicFramePr>
            <a:graphicFrameLocks noGrp="1"/>
          </p:cNvGraphicFramePr>
          <p:nvPr>
            <p:ph idx="1"/>
            <p:extLst>
              <p:ext uri="{D42A27DB-BD31-4B8C-83A1-F6EECF244321}">
                <p14:modId xmlns:p14="http://schemas.microsoft.com/office/powerpoint/2010/main" val="1392376475"/>
              </p:ext>
            </p:extLst>
          </p:nvPr>
        </p:nvGraphicFramePr>
        <p:xfrm>
          <a:off x="425303" y="336549"/>
          <a:ext cx="11366648" cy="60323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2851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blue rectangles&#10;&#10;AI-generated content may be incorrect.">
            <a:extLst>
              <a:ext uri="{FF2B5EF4-FFF2-40B4-BE49-F238E27FC236}">
                <a16:creationId xmlns:a16="http://schemas.microsoft.com/office/drawing/2014/main" id="{293E5244-AFE7-BE6B-9924-A2CD4C4AF07C}"/>
              </a:ext>
            </a:extLst>
          </p:cNvPr>
          <p:cNvPicPr>
            <a:picLocks noGrp="1" noChangeAspect="1"/>
          </p:cNvPicPr>
          <p:nvPr>
            <p:ph idx="1"/>
          </p:nvPr>
        </p:nvPicPr>
        <p:blipFill>
          <a:blip r:embed="rId2"/>
          <a:stretch>
            <a:fillRect/>
          </a:stretch>
        </p:blipFill>
        <p:spPr>
          <a:xfrm>
            <a:off x="643467" y="967563"/>
            <a:ext cx="10905066" cy="4765130"/>
          </a:xfrm>
          <a:prstGeom prst="rect">
            <a:avLst/>
          </a:prstGeom>
        </p:spPr>
      </p:pic>
      <p:sp>
        <p:nvSpPr>
          <p:cNvPr id="6" name="TextBox 5">
            <a:extLst>
              <a:ext uri="{FF2B5EF4-FFF2-40B4-BE49-F238E27FC236}">
                <a16:creationId xmlns:a16="http://schemas.microsoft.com/office/drawing/2014/main" id="{3D248618-F9AD-116D-C353-61CF5F29798B}"/>
              </a:ext>
            </a:extLst>
          </p:cNvPr>
          <p:cNvSpPr txBox="1"/>
          <p:nvPr/>
        </p:nvSpPr>
        <p:spPr>
          <a:xfrm>
            <a:off x="8420987" y="2073349"/>
            <a:ext cx="723275" cy="307777"/>
          </a:xfrm>
          <a:prstGeom prst="rect">
            <a:avLst/>
          </a:prstGeom>
          <a:noFill/>
        </p:spPr>
        <p:txBody>
          <a:bodyPr wrap="none" rtlCol="0">
            <a:spAutoFit/>
          </a:bodyPr>
          <a:lstStyle/>
          <a:p>
            <a:r>
              <a:rPr lang="en-US" sz="1400" dirty="0">
                <a:solidFill>
                  <a:schemeClr val="tx2">
                    <a:lumMod val="75000"/>
                    <a:lumOff val="25000"/>
                  </a:schemeClr>
                </a:solidFill>
                <a:latin typeface="Calibri" panose="020F0502020204030204" pitchFamily="34" charset="0"/>
                <a:cs typeface="Calibri" panose="020F0502020204030204" pitchFamily="34" charset="0"/>
              </a:rPr>
              <a:t>14.08%</a:t>
            </a:r>
          </a:p>
        </p:txBody>
      </p:sp>
      <p:sp>
        <p:nvSpPr>
          <p:cNvPr id="7" name="TextBox 6">
            <a:extLst>
              <a:ext uri="{FF2B5EF4-FFF2-40B4-BE49-F238E27FC236}">
                <a16:creationId xmlns:a16="http://schemas.microsoft.com/office/drawing/2014/main" id="{C68E3C6A-B204-0AFB-AFC1-115D3EEB4F40}"/>
              </a:ext>
            </a:extLst>
          </p:cNvPr>
          <p:cNvSpPr txBox="1"/>
          <p:nvPr/>
        </p:nvSpPr>
        <p:spPr>
          <a:xfrm>
            <a:off x="6751674" y="2205972"/>
            <a:ext cx="723275" cy="307777"/>
          </a:xfrm>
          <a:prstGeom prst="rect">
            <a:avLst/>
          </a:prstGeom>
          <a:noFill/>
        </p:spPr>
        <p:txBody>
          <a:bodyPr wrap="none" rtlCol="0">
            <a:spAutoFit/>
          </a:bodyPr>
          <a:lstStyle/>
          <a:p>
            <a:r>
              <a:rPr lang="en-US" sz="1400" dirty="0">
                <a:solidFill>
                  <a:schemeClr val="tx2">
                    <a:lumMod val="75000"/>
                    <a:lumOff val="25000"/>
                  </a:schemeClr>
                </a:solidFill>
                <a:latin typeface="Calibri" panose="020F0502020204030204" pitchFamily="34" charset="0"/>
                <a:cs typeface="Calibri" panose="020F0502020204030204" pitchFamily="34" charset="0"/>
              </a:rPr>
              <a:t>13.49%</a:t>
            </a:r>
          </a:p>
        </p:txBody>
      </p:sp>
      <p:sp>
        <p:nvSpPr>
          <p:cNvPr id="8" name="TextBox 7">
            <a:extLst>
              <a:ext uri="{FF2B5EF4-FFF2-40B4-BE49-F238E27FC236}">
                <a16:creationId xmlns:a16="http://schemas.microsoft.com/office/drawing/2014/main" id="{04875FC3-D67C-49C3-9579-E7901F79D875}"/>
              </a:ext>
            </a:extLst>
          </p:cNvPr>
          <p:cNvSpPr txBox="1"/>
          <p:nvPr/>
        </p:nvSpPr>
        <p:spPr>
          <a:xfrm>
            <a:off x="5039832" y="2700669"/>
            <a:ext cx="723275" cy="307777"/>
          </a:xfrm>
          <a:prstGeom prst="rect">
            <a:avLst/>
          </a:prstGeom>
          <a:noFill/>
        </p:spPr>
        <p:txBody>
          <a:bodyPr wrap="none" rtlCol="0">
            <a:spAutoFit/>
          </a:bodyPr>
          <a:lstStyle/>
          <a:p>
            <a:r>
              <a:rPr lang="en-US" sz="1400" dirty="0">
                <a:solidFill>
                  <a:schemeClr val="tx2">
                    <a:lumMod val="75000"/>
                    <a:lumOff val="25000"/>
                  </a:schemeClr>
                </a:solidFill>
                <a:latin typeface="Calibri" panose="020F0502020204030204" pitchFamily="34" charset="0"/>
                <a:cs typeface="Calibri" panose="020F0502020204030204" pitchFamily="34" charset="0"/>
              </a:rPr>
              <a:t>10.29%</a:t>
            </a:r>
          </a:p>
        </p:txBody>
      </p:sp>
      <p:sp>
        <p:nvSpPr>
          <p:cNvPr id="9" name="TextBox 8">
            <a:extLst>
              <a:ext uri="{FF2B5EF4-FFF2-40B4-BE49-F238E27FC236}">
                <a16:creationId xmlns:a16="http://schemas.microsoft.com/office/drawing/2014/main" id="{6AA79F60-AF4F-FE46-A6D1-A5633471AB57}"/>
              </a:ext>
            </a:extLst>
          </p:cNvPr>
          <p:cNvSpPr txBox="1"/>
          <p:nvPr/>
        </p:nvSpPr>
        <p:spPr>
          <a:xfrm>
            <a:off x="3387229" y="2211004"/>
            <a:ext cx="769763" cy="307777"/>
          </a:xfrm>
          <a:prstGeom prst="rect">
            <a:avLst/>
          </a:prstGeom>
          <a:noFill/>
        </p:spPr>
        <p:txBody>
          <a:bodyPr wrap="none" rtlCol="0">
            <a:spAutoFit/>
          </a:bodyPr>
          <a:lstStyle/>
          <a:p>
            <a:r>
              <a:rPr lang="en-US" sz="1400" dirty="0">
                <a:solidFill>
                  <a:schemeClr val="tx2">
                    <a:lumMod val="75000"/>
                    <a:lumOff val="25000"/>
                  </a:schemeClr>
                </a:solidFill>
              </a:rPr>
              <a:t>13.43%</a:t>
            </a:r>
          </a:p>
        </p:txBody>
      </p:sp>
    </p:spTree>
    <p:extLst>
      <p:ext uri="{BB962C8B-B14F-4D97-AF65-F5344CB8AC3E}">
        <p14:creationId xmlns:p14="http://schemas.microsoft.com/office/powerpoint/2010/main" val="946817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81DCB5B-2279-6B88-EC18-F2139AEEB4B6}"/>
              </a:ext>
            </a:extLst>
          </p:cNvPr>
          <p:cNvGraphicFramePr>
            <a:graphicFrameLocks noGrp="1"/>
          </p:cNvGraphicFramePr>
          <p:nvPr>
            <p:ph idx="1"/>
            <p:extLst>
              <p:ext uri="{D42A27DB-BD31-4B8C-83A1-F6EECF244321}">
                <p14:modId xmlns:p14="http://schemas.microsoft.com/office/powerpoint/2010/main" val="3425581157"/>
              </p:ext>
            </p:extLst>
          </p:nvPr>
        </p:nvGraphicFramePr>
        <p:xfrm>
          <a:off x="340242" y="308344"/>
          <a:ext cx="11472346" cy="61877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7658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B0375FB-D71A-3C0F-0C1E-E77267FD3A7E}"/>
              </a:ext>
            </a:extLst>
          </p:cNvPr>
          <p:cNvGraphicFramePr>
            <a:graphicFrameLocks noGrp="1"/>
          </p:cNvGraphicFramePr>
          <p:nvPr>
            <p:ph idx="1"/>
          </p:nvPr>
        </p:nvGraphicFramePr>
        <p:xfrm>
          <a:off x="382588" y="393700"/>
          <a:ext cx="11377612" cy="61134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39144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graph with blue squares&#10;&#10;AI-generated content may be incorrect.">
            <a:extLst>
              <a:ext uri="{FF2B5EF4-FFF2-40B4-BE49-F238E27FC236}">
                <a16:creationId xmlns:a16="http://schemas.microsoft.com/office/drawing/2014/main" id="{FB01CCA7-A142-32BB-61D3-986DDF225A3A}"/>
              </a:ext>
            </a:extLst>
          </p:cNvPr>
          <p:cNvPicPr>
            <a:picLocks noGrp="1" noChangeAspect="1"/>
          </p:cNvPicPr>
          <p:nvPr>
            <p:ph idx="1"/>
          </p:nvPr>
        </p:nvPicPr>
        <p:blipFill>
          <a:blip r:embed="rId2"/>
          <a:stretch>
            <a:fillRect/>
          </a:stretch>
        </p:blipFill>
        <p:spPr>
          <a:xfrm>
            <a:off x="643467" y="1111674"/>
            <a:ext cx="10905066" cy="4634650"/>
          </a:xfrm>
          <a:prstGeom prst="rect">
            <a:avLst/>
          </a:prstGeom>
        </p:spPr>
      </p:pic>
      <p:sp>
        <p:nvSpPr>
          <p:cNvPr id="10" name="TextBox 9">
            <a:extLst>
              <a:ext uri="{FF2B5EF4-FFF2-40B4-BE49-F238E27FC236}">
                <a16:creationId xmlns:a16="http://schemas.microsoft.com/office/drawing/2014/main" id="{3D28FD29-1866-BD45-06C5-856C723705CC}"/>
              </a:ext>
            </a:extLst>
          </p:cNvPr>
          <p:cNvSpPr txBox="1"/>
          <p:nvPr/>
        </p:nvSpPr>
        <p:spPr>
          <a:xfrm>
            <a:off x="8452884" y="2700670"/>
            <a:ext cx="723275" cy="307777"/>
          </a:xfrm>
          <a:prstGeom prst="rect">
            <a:avLst/>
          </a:prstGeom>
          <a:noFill/>
        </p:spPr>
        <p:txBody>
          <a:bodyPr wrap="none" rtlCol="0">
            <a:spAutoFit/>
          </a:bodyPr>
          <a:lstStyle/>
          <a:p>
            <a:r>
              <a:rPr lang="en-US" sz="1400" dirty="0">
                <a:solidFill>
                  <a:schemeClr val="tx2">
                    <a:lumMod val="75000"/>
                    <a:lumOff val="25000"/>
                  </a:schemeClr>
                </a:solidFill>
                <a:latin typeface="Calibri" panose="020F0502020204030204" pitchFamily="34" charset="0"/>
                <a:cs typeface="Calibri" panose="020F0502020204030204" pitchFamily="34" charset="0"/>
              </a:rPr>
              <a:t>28.58%</a:t>
            </a:r>
          </a:p>
        </p:txBody>
      </p:sp>
      <p:sp>
        <p:nvSpPr>
          <p:cNvPr id="11" name="TextBox 10">
            <a:extLst>
              <a:ext uri="{FF2B5EF4-FFF2-40B4-BE49-F238E27FC236}">
                <a16:creationId xmlns:a16="http://schemas.microsoft.com/office/drawing/2014/main" id="{0965A75F-3054-2A00-6E0D-4BA0388AB3C4}"/>
              </a:ext>
            </a:extLst>
          </p:cNvPr>
          <p:cNvSpPr txBox="1"/>
          <p:nvPr/>
        </p:nvSpPr>
        <p:spPr>
          <a:xfrm>
            <a:off x="6794205" y="3657600"/>
            <a:ext cx="723275" cy="307777"/>
          </a:xfrm>
          <a:prstGeom prst="rect">
            <a:avLst/>
          </a:prstGeom>
          <a:noFill/>
        </p:spPr>
        <p:txBody>
          <a:bodyPr wrap="none" rtlCol="0">
            <a:spAutoFit/>
          </a:bodyPr>
          <a:lstStyle/>
          <a:p>
            <a:r>
              <a:rPr lang="en-US" sz="1400" dirty="0">
                <a:solidFill>
                  <a:schemeClr val="tx2">
                    <a:lumMod val="75000"/>
                    <a:lumOff val="25000"/>
                  </a:schemeClr>
                </a:solidFill>
                <a:latin typeface="Calibri" panose="020F0502020204030204" pitchFamily="34" charset="0"/>
                <a:cs typeface="Calibri" panose="020F0502020204030204" pitchFamily="34" charset="0"/>
              </a:rPr>
              <a:t>13.19%</a:t>
            </a:r>
          </a:p>
        </p:txBody>
      </p:sp>
      <p:sp>
        <p:nvSpPr>
          <p:cNvPr id="12" name="TextBox 11">
            <a:extLst>
              <a:ext uri="{FF2B5EF4-FFF2-40B4-BE49-F238E27FC236}">
                <a16:creationId xmlns:a16="http://schemas.microsoft.com/office/drawing/2014/main" id="{E7969065-021A-9542-2718-1DE2773AB9B9}"/>
              </a:ext>
            </a:extLst>
          </p:cNvPr>
          <p:cNvSpPr txBox="1"/>
          <p:nvPr/>
        </p:nvSpPr>
        <p:spPr>
          <a:xfrm>
            <a:off x="5131851" y="3726428"/>
            <a:ext cx="723275" cy="307777"/>
          </a:xfrm>
          <a:prstGeom prst="rect">
            <a:avLst/>
          </a:prstGeom>
          <a:noFill/>
        </p:spPr>
        <p:txBody>
          <a:bodyPr wrap="none" rtlCol="0">
            <a:spAutoFit/>
          </a:bodyPr>
          <a:lstStyle/>
          <a:p>
            <a:r>
              <a:rPr lang="en-US" sz="1400" dirty="0">
                <a:solidFill>
                  <a:schemeClr val="tx2">
                    <a:lumMod val="75000"/>
                    <a:lumOff val="25000"/>
                  </a:schemeClr>
                </a:solidFill>
                <a:latin typeface="Calibri" panose="020F0502020204030204" pitchFamily="34" charset="0"/>
                <a:cs typeface="Calibri" panose="020F0502020204030204" pitchFamily="34" charset="0"/>
              </a:rPr>
              <a:t>11.46%</a:t>
            </a:r>
          </a:p>
        </p:txBody>
      </p:sp>
      <p:sp>
        <p:nvSpPr>
          <p:cNvPr id="13" name="TextBox 12">
            <a:extLst>
              <a:ext uri="{FF2B5EF4-FFF2-40B4-BE49-F238E27FC236}">
                <a16:creationId xmlns:a16="http://schemas.microsoft.com/office/drawing/2014/main" id="{B8165C3E-E32F-1FA6-7FDD-ABD98AD9F525}"/>
              </a:ext>
            </a:extLst>
          </p:cNvPr>
          <p:cNvSpPr txBox="1"/>
          <p:nvPr/>
        </p:nvSpPr>
        <p:spPr>
          <a:xfrm>
            <a:off x="3469497" y="3811488"/>
            <a:ext cx="723275" cy="307777"/>
          </a:xfrm>
          <a:prstGeom prst="rect">
            <a:avLst/>
          </a:prstGeom>
          <a:noFill/>
        </p:spPr>
        <p:txBody>
          <a:bodyPr wrap="none" rtlCol="0">
            <a:spAutoFit/>
          </a:bodyPr>
          <a:lstStyle/>
          <a:p>
            <a:r>
              <a:rPr lang="en-US" sz="1400" dirty="0">
                <a:solidFill>
                  <a:schemeClr val="tx2">
                    <a:lumMod val="75000"/>
                    <a:lumOff val="25000"/>
                  </a:schemeClr>
                </a:solidFill>
                <a:latin typeface="Calibri" panose="020F0502020204030204" pitchFamily="34" charset="0"/>
                <a:cs typeface="Calibri" panose="020F0502020204030204" pitchFamily="34" charset="0"/>
              </a:rPr>
              <a:t>10.30%</a:t>
            </a:r>
          </a:p>
        </p:txBody>
      </p:sp>
    </p:spTree>
    <p:extLst>
      <p:ext uri="{BB962C8B-B14F-4D97-AF65-F5344CB8AC3E}">
        <p14:creationId xmlns:p14="http://schemas.microsoft.com/office/powerpoint/2010/main" val="2873312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graph of a graph&#10;&#10;AI-generated content may be incorrect.">
            <a:extLst>
              <a:ext uri="{FF2B5EF4-FFF2-40B4-BE49-F238E27FC236}">
                <a16:creationId xmlns:a16="http://schemas.microsoft.com/office/drawing/2014/main" id="{4CA0F203-8D5F-61DB-7A9C-69F6E4EC0879}"/>
              </a:ext>
            </a:extLst>
          </p:cNvPr>
          <p:cNvPicPr>
            <a:picLocks noGrp="1" noChangeAspect="1"/>
          </p:cNvPicPr>
          <p:nvPr>
            <p:ph idx="1"/>
          </p:nvPr>
        </p:nvPicPr>
        <p:blipFill>
          <a:blip r:embed="rId2"/>
          <a:stretch>
            <a:fillRect/>
          </a:stretch>
        </p:blipFill>
        <p:spPr>
          <a:xfrm>
            <a:off x="180753" y="180754"/>
            <a:ext cx="11959573" cy="6549656"/>
          </a:xfrm>
          <a:prstGeom prst="rect">
            <a:avLst/>
          </a:prstGeom>
        </p:spPr>
      </p:pic>
    </p:spTree>
    <p:extLst>
      <p:ext uri="{BB962C8B-B14F-4D97-AF65-F5344CB8AC3E}">
        <p14:creationId xmlns:p14="http://schemas.microsoft.com/office/powerpoint/2010/main" val="634986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showing a line&#10;&#10;AI-generated content may be incorrect.">
            <a:extLst>
              <a:ext uri="{FF2B5EF4-FFF2-40B4-BE49-F238E27FC236}">
                <a16:creationId xmlns:a16="http://schemas.microsoft.com/office/drawing/2014/main" id="{BAFFF120-B32B-7707-3ACF-7C557DBE7FE8}"/>
              </a:ext>
            </a:extLst>
          </p:cNvPr>
          <p:cNvPicPr>
            <a:picLocks noGrp="1" noChangeAspect="1"/>
          </p:cNvPicPr>
          <p:nvPr>
            <p:ph idx="1"/>
          </p:nvPr>
        </p:nvPicPr>
        <p:blipFill>
          <a:blip r:embed="rId2"/>
          <a:stretch>
            <a:fillRect/>
          </a:stretch>
        </p:blipFill>
        <p:spPr>
          <a:xfrm>
            <a:off x="643467" y="661840"/>
            <a:ext cx="10905066" cy="5534318"/>
          </a:xfrm>
          <a:prstGeom prst="rect">
            <a:avLst/>
          </a:prstGeom>
        </p:spPr>
      </p:pic>
    </p:spTree>
    <p:extLst>
      <p:ext uri="{BB962C8B-B14F-4D97-AF65-F5344CB8AC3E}">
        <p14:creationId xmlns:p14="http://schemas.microsoft.com/office/powerpoint/2010/main" val="4008377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AA952F60-CDD1-4905-129B-B5B8F01C2A31}"/>
              </a:ext>
            </a:extLst>
          </p:cNvPr>
          <p:cNvPicPr>
            <a:picLocks noGrp="1" noChangeAspect="1"/>
          </p:cNvPicPr>
          <p:nvPr>
            <p:ph idx="1"/>
          </p:nvPr>
        </p:nvPicPr>
        <p:blipFill>
          <a:blip r:embed="rId2"/>
          <a:stretch>
            <a:fillRect/>
          </a:stretch>
        </p:blipFill>
        <p:spPr>
          <a:xfrm>
            <a:off x="643467" y="661840"/>
            <a:ext cx="10905066" cy="5534318"/>
          </a:xfrm>
          <a:prstGeom prst="rect">
            <a:avLst/>
          </a:prstGeom>
        </p:spPr>
      </p:pic>
    </p:spTree>
    <p:extLst>
      <p:ext uri="{BB962C8B-B14F-4D97-AF65-F5344CB8AC3E}">
        <p14:creationId xmlns:p14="http://schemas.microsoft.com/office/powerpoint/2010/main" val="2967862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9AC08FF0-C553-37E8-92B0-71B5CEC4DE5E}"/>
              </a:ext>
            </a:extLst>
          </p:cNvPr>
          <p:cNvPicPr>
            <a:picLocks noGrp="1" noChangeAspect="1"/>
          </p:cNvPicPr>
          <p:nvPr>
            <p:ph idx="1"/>
          </p:nvPr>
        </p:nvPicPr>
        <p:blipFill>
          <a:blip r:embed="rId2"/>
          <a:stretch>
            <a:fillRect/>
          </a:stretch>
        </p:blipFill>
        <p:spPr>
          <a:xfrm>
            <a:off x="1394676" y="643466"/>
            <a:ext cx="9402648" cy="5571067"/>
          </a:xfrm>
          <a:prstGeom prst="rect">
            <a:avLst/>
          </a:prstGeom>
        </p:spPr>
      </p:pic>
    </p:spTree>
    <p:extLst>
      <p:ext uri="{BB962C8B-B14F-4D97-AF65-F5344CB8AC3E}">
        <p14:creationId xmlns:p14="http://schemas.microsoft.com/office/powerpoint/2010/main" val="764029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phone&#10;&#10;AI-generated content may be incorrect.">
            <a:extLst>
              <a:ext uri="{FF2B5EF4-FFF2-40B4-BE49-F238E27FC236}">
                <a16:creationId xmlns:a16="http://schemas.microsoft.com/office/drawing/2014/main" id="{7D13900F-55FD-A54E-9C6B-50760D89680B}"/>
              </a:ext>
            </a:extLst>
          </p:cNvPr>
          <p:cNvPicPr>
            <a:picLocks noGrp="1" noChangeAspect="1"/>
          </p:cNvPicPr>
          <p:nvPr>
            <p:ph idx="1"/>
          </p:nvPr>
        </p:nvPicPr>
        <p:blipFill>
          <a:blip r:embed="rId2"/>
          <a:stretch>
            <a:fillRect/>
          </a:stretch>
        </p:blipFill>
        <p:spPr>
          <a:xfrm>
            <a:off x="643467" y="743628"/>
            <a:ext cx="10905066" cy="5370742"/>
          </a:xfrm>
          <a:prstGeom prst="rect">
            <a:avLst/>
          </a:prstGeom>
        </p:spPr>
      </p:pic>
    </p:spTree>
    <p:extLst>
      <p:ext uri="{BB962C8B-B14F-4D97-AF65-F5344CB8AC3E}">
        <p14:creationId xmlns:p14="http://schemas.microsoft.com/office/powerpoint/2010/main" val="1686231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green and red lines and numbers&#10;&#10;AI-generated content may be incorrect.">
            <a:extLst>
              <a:ext uri="{FF2B5EF4-FFF2-40B4-BE49-F238E27FC236}">
                <a16:creationId xmlns:a16="http://schemas.microsoft.com/office/drawing/2014/main" id="{CF12EA50-B57E-ABDC-F6E7-B8FDD89E73BF}"/>
              </a:ext>
            </a:extLst>
          </p:cNvPr>
          <p:cNvPicPr>
            <a:picLocks noGrp="1" noChangeAspect="1"/>
          </p:cNvPicPr>
          <p:nvPr>
            <p:ph idx="1"/>
          </p:nvPr>
        </p:nvPicPr>
        <p:blipFill>
          <a:blip r:embed="rId2"/>
          <a:stretch>
            <a:fillRect/>
          </a:stretch>
        </p:blipFill>
        <p:spPr>
          <a:xfrm>
            <a:off x="829340" y="346783"/>
            <a:ext cx="9920176" cy="5966646"/>
          </a:xfrm>
          <a:prstGeom prst="rect">
            <a:avLst/>
          </a:prstGeom>
        </p:spPr>
      </p:pic>
    </p:spTree>
    <p:extLst>
      <p:ext uri="{BB962C8B-B14F-4D97-AF65-F5344CB8AC3E}">
        <p14:creationId xmlns:p14="http://schemas.microsoft.com/office/powerpoint/2010/main" val="3609555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number of bars&#10;&#10;AI-generated content may be incorrect.">
            <a:extLst>
              <a:ext uri="{FF2B5EF4-FFF2-40B4-BE49-F238E27FC236}">
                <a16:creationId xmlns:a16="http://schemas.microsoft.com/office/drawing/2014/main" id="{91F839A9-AF89-D1BC-73F2-164072D2AC7F}"/>
              </a:ext>
            </a:extLst>
          </p:cNvPr>
          <p:cNvPicPr>
            <a:picLocks noGrp="1" noChangeAspect="1"/>
          </p:cNvPicPr>
          <p:nvPr>
            <p:ph idx="1"/>
          </p:nvPr>
        </p:nvPicPr>
        <p:blipFill>
          <a:blip r:embed="rId2"/>
          <a:stretch>
            <a:fillRect/>
          </a:stretch>
        </p:blipFill>
        <p:spPr>
          <a:xfrm>
            <a:off x="797442" y="259584"/>
            <a:ext cx="10388009" cy="6263198"/>
          </a:xfrm>
          <a:prstGeom prst="rect">
            <a:avLst/>
          </a:prstGeom>
        </p:spPr>
      </p:pic>
    </p:spTree>
    <p:extLst>
      <p:ext uri="{BB962C8B-B14F-4D97-AF65-F5344CB8AC3E}">
        <p14:creationId xmlns:p14="http://schemas.microsoft.com/office/powerpoint/2010/main" val="2362479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4B7B012A-61E7-FED0-6CAF-44CC848B323F}"/>
              </a:ext>
            </a:extLst>
          </p:cNvPr>
          <p:cNvPicPr>
            <a:picLocks noGrp="1" noChangeAspect="1"/>
          </p:cNvPicPr>
          <p:nvPr>
            <p:ph idx="1"/>
          </p:nvPr>
        </p:nvPicPr>
        <p:blipFill>
          <a:blip r:embed="rId2"/>
          <a:stretch>
            <a:fillRect/>
          </a:stretch>
        </p:blipFill>
        <p:spPr>
          <a:xfrm>
            <a:off x="482468" y="733648"/>
            <a:ext cx="11400047" cy="5443868"/>
          </a:xfrm>
          <a:prstGeom prst="rect">
            <a:avLst/>
          </a:prstGeom>
        </p:spPr>
      </p:pic>
    </p:spTree>
    <p:extLst>
      <p:ext uri="{BB962C8B-B14F-4D97-AF65-F5344CB8AC3E}">
        <p14:creationId xmlns:p14="http://schemas.microsoft.com/office/powerpoint/2010/main" val="2101991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1B0016B9-3038-C41C-86EA-26EDF9BDF388}"/>
              </a:ext>
            </a:extLst>
          </p:cNvPr>
          <p:cNvPicPr>
            <a:picLocks noGrp="1" noChangeAspect="1"/>
          </p:cNvPicPr>
          <p:nvPr>
            <p:ph idx="1"/>
          </p:nvPr>
        </p:nvPicPr>
        <p:blipFill>
          <a:blip r:embed="rId2"/>
          <a:stretch>
            <a:fillRect/>
          </a:stretch>
        </p:blipFill>
        <p:spPr>
          <a:xfrm>
            <a:off x="2729796" y="643466"/>
            <a:ext cx="6732408" cy="5571067"/>
          </a:xfrm>
          <a:prstGeom prst="rect">
            <a:avLst/>
          </a:prstGeom>
        </p:spPr>
      </p:pic>
    </p:spTree>
    <p:extLst>
      <p:ext uri="{BB962C8B-B14F-4D97-AF65-F5344CB8AC3E}">
        <p14:creationId xmlns:p14="http://schemas.microsoft.com/office/powerpoint/2010/main" val="18267058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28577-1BB3-949F-E503-06F609D8510B}"/>
              </a:ext>
            </a:extLst>
          </p:cNvPr>
          <p:cNvSpPr>
            <a:spLocks noGrp="1"/>
          </p:cNvSpPr>
          <p:nvPr>
            <p:ph type="title"/>
          </p:nvPr>
        </p:nvSpPr>
        <p:spPr>
          <a:xfrm>
            <a:off x="838200" y="365126"/>
            <a:ext cx="10515600" cy="793824"/>
          </a:xfrm>
        </p:spPr>
        <p:txBody>
          <a:bodyPr>
            <a:normAutofit/>
          </a:bodyPr>
          <a:lstStyle/>
          <a:p>
            <a:r>
              <a:rPr lang="en-US" sz="2400" b="1" dirty="0">
                <a:solidFill>
                  <a:srgbClr val="4E95D9"/>
                </a:solidFill>
                <a:latin typeface="Calibri" panose="020F0502020204030204" pitchFamily="34" charset="0"/>
                <a:cs typeface="Calibri" panose="020F0502020204030204" pitchFamily="34" charset="0"/>
              </a:rPr>
              <a:t>VISA Management Team</a:t>
            </a:r>
          </a:p>
        </p:txBody>
      </p:sp>
      <p:sp>
        <p:nvSpPr>
          <p:cNvPr id="3" name="Content Placeholder 2">
            <a:extLst>
              <a:ext uri="{FF2B5EF4-FFF2-40B4-BE49-F238E27FC236}">
                <a16:creationId xmlns:a16="http://schemas.microsoft.com/office/drawing/2014/main" id="{2831E0BB-7985-192E-0C95-A626DBDD7ADE}"/>
              </a:ext>
            </a:extLst>
          </p:cNvPr>
          <p:cNvSpPr>
            <a:spLocks noGrp="1"/>
          </p:cNvSpPr>
          <p:nvPr>
            <p:ph idx="1"/>
          </p:nvPr>
        </p:nvSpPr>
        <p:spPr>
          <a:xfrm>
            <a:off x="637953" y="1084521"/>
            <a:ext cx="11164187" cy="5408353"/>
          </a:xfrm>
        </p:spPr>
        <p:txBody>
          <a:bodyPr>
            <a:normAutofit lnSpcReduction="10000"/>
          </a:bodyPr>
          <a:lstStyle/>
          <a:p>
            <a:r>
              <a:rPr lang="en-US" sz="1800" b="1" dirty="0">
                <a:solidFill>
                  <a:srgbClr val="4E95D9"/>
                </a:solidFill>
              </a:rPr>
              <a:t>Chief Executive Officer</a:t>
            </a:r>
            <a:r>
              <a:rPr lang="en-US" sz="1800" dirty="0">
                <a:solidFill>
                  <a:srgbClr val="4E95D9"/>
                </a:solidFill>
              </a:rPr>
              <a:t>: </a:t>
            </a:r>
            <a:r>
              <a:rPr lang="en-US" sz="1800" b="1" i="0" dirty="0">
                <a:effectLst/>
                <a:latin typeface="Calibri" panose="020F0502020204030204" pitchFamily="34" charset="0"/>
                <a:cs typeface="Calibri" panose="020F0502020204030204" pitchFamily="34" charset="0"/>
              </a:rPr>
              <a:t>Ryan McInerney </a:t>
            </a:r>
            <a:r>
              <a:rPr lang="en-US" sz="1800" b="0" i="0" dirty="0">
                <a:effectLst/>
                <a:latin typeface="Calibri" panose="020F0502020204030204" pitchFamily="34" charset="0"/>
                <a:cs typeface="Calibri" panose="020F0502020204030204" pitchFamily="34" charset="0"/>
              </a:rPr>
              <a:t>has been with Visa since June of 2013 and serves as Chief Executive Officer. Prior to assuming the role of CEO in February 2023, he was President, responsible for Visa’s global business Prior to joining Visa, Mr. McInerney served as Chief Executive Officer of consumer banking for JPMorgan Chase.</a:t>
            </a:r>
          </a:p>
          <a:p>
            <a:r>
              <a:rPr lang="en-US" sz="1800" b="1" i="0" dirty="0">
                <a:solidFill>
                  <a:srgbClr val="4E95D9"/>
                </a:solidFill>
                <a:effectLst/>
                <a:latin typeface="Calibri" panose="020F0502020204030204" pitchFamily="34" charset="0"/>
                <a:cs typeface="Calibri" panose="020F0502020204030204" pitchFamily="34" charset="0"/>
              </a:rPr>
              <a:t>Chief Product and Strategy Officer: </a:t>
            </a:r>
            <a:r>
              <a:rPr lang="en-US" sz="1800" b="1" i="0" dirty="0">
                <a:effectLst/>
                <a:latin typeface="Calibri" panose="020F0502020204030204" pitchFamily="34" charset="0"/>
                <a:cs typeface="Calibri" panose="020F0502020204030204" pitchFamily="34" charset="0"/>
              </a:rPr>
              <a:t>Jack Forestell </a:t>
            </a:r>
            <a:r>
              <a:rPr lang="en-US" sz="1800" b="0" i="0" dirty="0">
                <a:effectLst/>
                <a:latin typeface="Calibri" panose="020F0502020204030204" pitchFamily="34" charset="0"/>
                <a:cs typeface="Calibri" panose="020F0502020204030204" pitchFamily="34" charset="0"/>
              </a:rPr>
              <a:t>joined Visa in 2014. He has served as Group President, Value Added Services and Global Head of Merchant &amp; Acquirer Solutions and Global Head of Products and Solutions. Before joining Visa, Mr. Forestell spent 12 years at Capital One, most recently as Head of Capital One Digital.</a:t>
            </a:r>
          </a:p>
          <a:p>
            <a:r>
              <a:rPr lang="en-US" sz="1800" b="1" dirty="0">
                <a:solidFill>
                  <a:srgbClr val="4E95D9"/>
                </a:solidFill>
                <a:latin typeface="Calibri" panose="020F0502020204030204" pitchFamily="34" charset="0"/>
                <a:cs typeface="Calibri" panose="020F0502020204030204" pitchFamily="34" charset="0"/>
              </a:rPr>
              <a:t>Chief Financial Officer: </a:t>
            </a:r>
            <a:r>
              <a:rPr lang="en-US" sz="1800" b="1" i="0" dirty="0">
                <a:effectLst/>
                <a:latin typeface="Calibri" panose="020F0502020204030204" pitchFamily="34" charset="0"/>
                <a:cs typeface="Calibri" panose="020F0502020204030204" pitchFamily="34" charset="0"/>
              </a:rPr>
              <a:t>Chris Suh </a:t>
            </a:r>
            <a:r>
              <a:rPr lang="en-US" sz="1800" b="0" i="0" dirty="0">
                <a:effectLst/>
                <a:latin typeface="Calibri" panose="020F0502020204030204" pitchFamily="34" charset="0"/>
                <a:cs typeface="Calibri" panose="020F0502020204030204" pitchFamily="34" charset="0"/>
              </a:rPr>
              <a:t>is the Chief Financial Officer at Visa. In his role, he oversees Visa’s financial strategies, planning and reporting, in addition to all finance operations and investor relations. Mr. Suh joined Visa in July 2023 from Electronic Arts, where he served as Chief Financial Officer. From 1996 to 2022, Mr. Suh held senior finance roles at Microsoft, including serving as Chief Financial Officer of the Cloud + AI division from 2018 to 2022, and Head of Investor Relations from 2013 to 2018. </a:t>
            </a:r>
          </a:p>
          <a:p>
            <a:pPr algn="l"/>
            <a:r>
              <a:rPr lang="en-US" sz="1800" b="1" i="0" dirty="0">
                <a:solidFill>
                  <a:srgbClr val="4E95D9"/>
                </a:solidFill>
                <a:effectLst/>
                <a:latin typeface="Calibri" panose="020F0502020204030204" pitchFamily="34" charset="0"/>
                <a:cs typeface="Calibri" panose="020F0502020204030204" pitchFamily="34" charset="0"/>
              </a:rPr>
              <a:t>President of Technology: </a:t>
            </a:r>
            <a:r>
              <a:rPr lang="en-US" sz="1800" b="1" i="0" dirty="0">
                <a:effectLst/>
                <a:latin typeface="Calibri" panose="020F0502020204030204" pitchFamily="34" charset="0"/>
                <a:cs typeface="Calibri" panose="020F0502020204030204" pitchFamily="34" charset="0"/>
              </a:rPr>
              <a:t>Rajat Taneja </a:t>
            </a:r>
            <a:r>
              <a:rPr lang="en-US" sz="1800" b="0" i="0" dirty="0">
                <a:effectLst/>
                <a:latin typeface="Calibri" panose="020F0502020204030204" pitchFamily="34" charset="0"/>
                <a:cs typeface="Calibri" panose="020F0502020204030204" pitchFamily="34" charset="0"/>
              </a:rPr>
              <a:t>is President of Technology for Visa, responsible for the company's technology innovation and investment strategy, product engineering, global IT and operations infrastructure. He joined Visa in November 2013. Prior to joining Visa, Mr. Taneja was Executive Vice President and Chief Technology Officer of Electronic Arts Inc., from October 2011 until November 2013.</a:t>
            </a:r>
          </a:p>
          <a:p>
            <a:r>
              <a:rPr lang="en-US" sz="1800" b="1" i="0" dirty="0">
                <a:effectLst/>
                <a:latin typeface="Calibri" panose="020F0502020204030204" pitchFamily="34" charset="0"/>
                <a:cs typeface="Calibri" panose="020F0502020204030204" pitchFamily="34" charset="0"/>
              </a:rPr>
              <a:t>Charlotte Hogg </a:t>
            </a:r>
            <a:r>
              <a:rPr lang="en-US" sz="1800" b="0" i="0" dirty="0">
                <a:effectLst/>
                <a:latin typeface="Calibri" panose="020F0502020204030204" pitchFamily="34" charset="0"/>
                <a:cs typeface="Calibri" panose="020F0502020204030204" pitchFamily="34" charset="0"/>
              </a:rPr>
              <a:t>is </a:t>
            </a:r>
            <a:r>
              <a:rPr lang="en-US" sz="1800" b="1" i="0" dirty="0">
                <a:solidFill>
                  <a:srgbClr val="4E95D9"/>
                </a:solidFill>
                <a:effectLst/>
                <a:latin typeface="Calibri" panose="020F0502020204030204" pitchFamily="34" charset="0"/>
                <a:cs typeface="Calibri" panose="020F0502020204030204" pitchFamily="34" charset="0"/>
              </a:rPr>
              <a:t>Executive Vice President </a:t>
            </a:r>
            <a:r>
              <a:rPr lang="en-US" sz="1800" b="0" i="0" dirty="0">
                <a:effectLst/>
                <a:latin typeface="Calibri" panose="020F0502020204030204" pitchFamily="34" charset="0"/>
                <a:cs typeface="Calibri" panose="020F0502020204030204" pitchFamily="34" charset="0"/>
              </a:rPr>
              <a:t>and Chief Executive Officer for Visa’s European operations. She joined Visa in 2017, bringing with her more than 25 years of experience in financial services, bank operations and management consulting. Prior to joining Visa, Ms. Hogg served as Chief Operating Officer for the Bank of England from 2013 to 2017.</a:t>
            </a:r>
            <a:br>
              <a:rPr lang="en-US" sz="1800" dirty="0">
                <a:latin typeface="Calibri" panose="020F0502020204030204" pitchFamily="34" charset="0"/>
                <a:cs typeface="Calibri" panose="020F0502020204030204" pitchFamily="34" charset="0"/>
              </a:rPr>
            </a:br>
            <a:endParaRPr lang="en-US"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6798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3592-E1DC-B56E-D021-A4028BE352D4}"/>
              </a:ext>
            </a:extLst>
          </p:cNvPr>
          <p:cNvSpPr>
            <a:spLocks noGrp="1"/>
          </p:cNvSpPr>
          <p:nvPr>
            <p:ph type="title"/>
          </p:nvPr>
        </p:nvSpPr>
        <p:spPr>
          <a:xfrm>
            <a:off x="508590" y="258800"/>
            <a:ext cx="10515600" cy="762480"/>
          </a:xfrm>
        </p:spPr>
        <p:txBody>
          <a:bodyPr>
            <a:normAutofit/>
          </a:bodyPr>
          <a:lstStyle/>
          <a:p>
            <a:r>
              <a:rPr lang="en-US" sz="2400" b="1" dirty="0">
                <a:solidFill>
                  <a:srgbClr val="4E95D9"/>
                </a:solidFill>
                <a:latin typeface="Calibri" panose="020F0502020204030204" pitchFamily="34" charset="0"/>
                <a:cs typeface="Calibri" panose="020F0502020204030204" pitchFamily="34" charset="0"/>
              </a:rPr>
              <a:t>Visa Mergers &amp; Acquisitions</a:t>
            </a:r>
          </a:p>
        </p:txBody>
      </p:sp>
      <p:sp>
        <p:nvSpPr>
          <p:cNvPr id="3" name="Content Placeholder 2">
            <a:extLst>
              <a:ext uri="{FF2B5EF4-FFF2-40B4-BE49-F238E27FC236}">
                <a16:creationId xmlns:a16="http://schemas.microsoft.com/office/drawing/2014/main" id="{FBB42F67-1BF6-0914-6815-B3E892489C33}"/>
              </a:ext>
            </a:extLst>
          </p:cNvPr>
          <p:cNvSpPr>
            <a:spLocks noGrp="1"/>
          </p:cNvSpPr>
          <p:nvPr>
            <p:ph idx="1"/>
          </p:nvPr>
        </p:nvSpPr>
        <p:spPr>
          <a:xfrm>
            <a:off x="508590" y="1021281"/>
            <a:ext cx="11272283" cy="5475212"/>
          </a:xfrm>
        </p:spPr>
        <p:txBody>
          <a:bodyPr>
            <a:normAutofit fontScale="25000" lnSpcReduction="20000"/>
          </a:bodyPr>
          <a:lstStyle/>
          <a:p>
            <a:pPr>
              <a:buFont typeface="Wingdings" pitchFamily="2" charset="2"/>
              <a:buChar char="ü"/>
            </a:pPr>
            <a:r>
              <a:rPr lang="en-US" sz="7200" b="1" dirty="0">
                <a:solidFill>
                  <a:srgbClr val="4E95D9"/>
                </a:solidFill>
                <a:latin typeface="Calibri" panose="020F0502020204030204" pitchFamily="34" charset="0"/>
                <a:cs typeface="Calibri" panose="020F0502020204030204" pitchFamily="34" charset="0"/>
              </a:rPr>
              <a:t>Featurespace Limited</a:t>
            </a:r>
            <a:endParaRPr lang="en-US" sz="72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Date:</a:t>
            </a:r>
            <a:r>
              <a:rPr lang="en-US" sz="7200" dirty="0">
                <a:latin typeface="Calibri" panose="020F0502020204030204" pitchFamily="34" charset="0"/>
                <a:cs typeface="Calibri" panose="020F0502020204030204" pitchFamily="34" charset="0"/>
              </a:rPr>
              <a:t> September 2024</a:t>
            </a: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Deal Value:</a:t>
            </a:r>
            <a:r>
              <a:rPr lang="en-US" sz="7200" dirty="0">
                <a:latin typeface="Calibri" panose="020F0502020204030204" pitchFamily="34" charset="0"/>
                <a:cs typeface="Calibri" panose="020F0502020204030204" pitchFamily="34" charset="0"/>
              </a:rPr>
              <a:t> Undisclosed</a:t>
            </a: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Description:</a:t>
            </a:r>
            <a:r>
              <a:rPr lang="en-US" sz="7200" dirty="0">
                <a:latin typeface="Calibri" panose="020F0502020204030204" pitchFamily="34" charset="0"/>
                <a:cs typeface="Calibri" panose="020F0502020204030204" pitchFamily="34" charset="0"/>
              </a:rPr>
              <a:t> Featurespace is a UK-based behavioral analytics platform specializing in financial crime risk management and anti-money laundering solutions. This acquisition enhances Visa's fraud prevention capabilities.</a:t>
            </a:r>
          </a:p>
          <a:p>
            <a:pPr>
              <a:buFont typeface="Wingdings" pitchFamily="2" charset="2"/>
              <a:buChar char="ü"/>
            </a:pPr>
            <a:r>
              <a:rPr lang="en-US" sz="7200" b="1" dirty="0" err="1">
                <a:solidFill>
                  <a:srgbClr val="4E95D9"/>
                </a:solidFill>
                <a:latin typeface="Calibri" panose="020F0502020204030204" pitchFamily="34" charset="0"/>
                <a:cs typeface="Calibri" panose="020F0502020204030204" pitchFamily="34" charset="0"/>
              </a:rPr>
              <a:t>Prosa</a:t>
            </a:r>
            <a:r>
              <a:rPr lang="en-US" sz="7200" b="1" dirty="0">
                <a:solidFill>
                  <a:srgbClr val="4E95D9"/>
                </a:solidFill>
                <a:latin typeface="Calibri" panose="020F0502020204030204" pitchFamily="34" charset="0"/>
                <a:cs typeface="Calibri" panose="020F0502020204030204" pitchFamily="34" charset="0"/>
              </a:rPr>
              <a:t> (Para </a:t>
            </a:r>
            <a:r>
              <a:rPr lang="en-US" sz="7200" b="1" dirty="0" err="1">
                <a:solidFill>
                  <a:srgbClr val="4E95D9"/>
                </a:solidFill>
                <a:latin typeface="Calibri" panose="020F0502020204030204" pitchFamily="34" charset="0"/>
                <a:cs typeface="Calibri" panose="020F0502020204030204" pitchFamily="34" charset="0"/>
              </a:rPr>
              <a:t>Promocion</a:t>
            </a:r>
            <a:r>
              <a:rPr lang="en-US" sz="7200" b="1" dirty="0">
                <a:solidFill>
                  <a:srgbClr val="4E95D9"/>
                </a:solidFill>
                <a:latin typeface="Calibri" panose="020F0502020204030204" pitchFamily="34" charset="0"/>
                <a:cs typeface="Calibri" panose="020F0502020204030204" pitchFamily="34" charset="0"/>
              </a:rPr>
              <a:t> y </a:t>
            </a:r>
            <a:r>
              <a:rPr lang="en-US" sz="7200" b="1" dirty="0" err="1">
                <a:solidFill>
                  <a:srgbClr val="4E95D9"/>
                </a:solidFill>
                <a:latin typeface="Calibri" panose="020F0502020204030204" pitchFamily="34" charset="0"/>
                <a:cs typeface="Calibri" panose="020F0502020204030204" pitchFamily="34" charset="0"/>
              </a:rPr>
              <a:t>Operacion</a:t>
            </a:r>
            <a:r>
              <a:rPr lang="en-US" sz="7200" b="1" dirty="0">
                <a:solidFill>
                  <a:srgbClr val="4E95D9"/>
                </a:solidFill>
                <a:latin typeface="Calibri" panose="020F0502020204030204" pitchFamily="34" charset="0"/>
                <a:cs typeface="Calibri" panose="020F0502020204030204" pitchFamily="34" charset="0"/>
              </a:rPr>
              <a:t> S.A. de C.V.)</a:t>
            </a:r>
            <a:endParaRPr lang="en-US" sz="72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Date:</a:t>
            </a:r>
            <a:r>
              <a:rPr lang="en-US" sz="7200" dirty="0">
                <a:latin typeface="Calibri" panose="020F0502020204030204" pitchFamily="34" charset="0"/>
                <a:cs typeface="Calibri" panose="020F0502020204030204" pitchFamily="34" charset="0"/>
              </a:rPr>
              <a:t> December 2023</a:t>
            </a: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Deal Value:</a:t>
            </a:r>
            <a:r>
              <a:rPr lang="en-US" sz="7200" dirty="0">
                <a:latin typeface="Calibri" panose="020F0502020204030204" pitchFamily="34" charset="0"/>
                <a:cs typeface="Calibri" panose="020F0502020204030204" pitchFamily="34" charset="0"/>
              </a:rPr>
              <a:t> Undisclosed</a:t>
            </a: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Description:</a:t>
            </a:r>
            <a:r>
              <a:rPr lang="en-US" sz="7200" dirty="0">
                <a:latin typeface="Calibri" panose="020F0502020204030204" pitchFamily="34" charset="0"/>
                <a:cs typeface="Calibri" panose="020F0502020204030204" pitchFamily="34" charset="0"/>
              </a:rPr>
              <a:t> </a:t>
            </a:r>
            <a:r>
              <a:rPr lang="en-US" sz="7200" dirty="0" err="1">
                <a:latin typeface="Calibri" panose="020F0502020204030204" pitchFamily="34" charset="0"/>
                <a:cs typeface="Calibri" panose="020F0502020204030204" pitchFamily="34" charset="0"/>
              </a:rPr>
              <a:t>Prosa</a:t>
            </a:r>
            <a:r>
              <a:rPr lang="en-US" sz="7200" dirty="0">
                <a:latin typeface="Calibri" panose="020F0502020204030204" pitchFamily="34" charset="0"/>
                <a:cs typeface="Calibri" panose="020F0502020204030204" pitchFamily="34" charset="0"/>
              </a:rPr>
              <a:t> is a leading payments processor in Mexico. Visa acquired a majority interest to accelerate the adoption of secure and innovative digital payments in the country.</a:t>
            </a:r>
            <a:endParaRPr lang="en-US" sz="7200" b="1" dirty="0">
              <a:latin typeface="Calibri" panose="020F0502020204030204" pitchFamily="34" charset="0"/>
              <a:cs typeface="Calibri" panose="020F0502020204030204" pitchFamily="34" charset="0"/>
            </a:endParaRPr>
          </a:p>
          <a:p>
            <a:pPr>
              <a:buFont typeface="Wingdings" pitchFamily="2" charset="2"/>
              <a:buChar char="ü"/>
            </a:pPr>
            <a:r>
              <a:rPr lang="en-US" sz="7200" b="1" dirty="0">
                <a:solidFill>
                  <a:srgbClr val="4E95D9"/>
                </a:solidFill>
                <a:latin typeface="Calibri" panose="020F0502020204030204" pitchFamily="34" charset="0"/>
                <a:cs typeface="Calibri" panose="020F0502020204030204" pitchFamily="34" charset="0"/>
              </a:rPr>
              <a:t>Pismo</a:t>
            </a:r>
            <a:endParaRPr lang="en-US" sz="72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Date:</a:t>
            </a:r>
            <a:r>
              <a:rPr lang="en-US" sz="7200" dirty="0">
                <a:latin typeface="Calibri" panose="020F0502020204030204" pitchFamily="34" charset="0"/>
                <a:cs typeface="Calibri" panose="020F0502020204030204" pitchFamily="34" charset="0"/>
              </a:rPr>
              <a:t> January 2024</a:t>
            </a: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Deal Value:</a:t>
            </a:r>
            <a:r>
              <a:rPr lang="en-US" sz="7200" dirty="0">
                <a:latin typeface="Calibri" panose="020F0502020204030204" pitchFamily="34" charset="0"/>
                <a:cs typeface="Calibri" panose="020F0502020204030204" pitchFamily="34" charset="0"/>
              </a:rPr>
              <a:t> $1 billion</a:t>
            </a:r>
          </a:p>
          <a:p>
            <a:pPr>
              <a:buFont typeface="Arial" panose="020B0604020202020204" pitchFamily="34" charset="0"/>
              <a:buChar char="•"/>
            </a:pPr>
            <a:r>
              <a:rPr lang="en-US" sz="7200" b="1" dirty="0">
                <a:latin typeface="Calibri" panose="020F0502020204030204" pitchFamily="34" charset="0"/>
                <a:cs typeface="Calibri" panose="020F0502020204030204" pitchFamily="34" charset="0"/>
              </a:rPr>
              <a:t>Description:</a:t>
            </a:r>
            <a:r>
              <a:rPr lang="en-US" sz="7200" dirty="0">
                <a:latin typeface="Calibri" panose="020F0502020204030204" pitchFamily="34" charset="0"/>
                <a:cs typeface="Calibri" panose="020F0502020204030204" pitchFamily="34" charset="0"/>
              </a:rPr>
              <a:t> Pismo is a Brazil-based cloud-native issuer processing and core banking platform. This acquisition allows Visa to offer core banking and card-issuer processing capabilities across all product types via cloud-native APIs.</a:t>
            </a:r>
            <a:endParaRPr lang="en-US" sz="7200" b="1" dirty="0">
              <a:latin typeface="Calibri" panose="020F0502020204030204" pitchFamily="34" charset="0"/>
              <a:cs typeface="Calibri" panose="020F0502020204030204" pitchFamily="34" charset="0"/>
            </a:endParaRPr>
          </a:p>
          <a:p>
            <a:pPr algn="l">
              <a:lnSpc>
                <a:spcPts val="1650"/>
              </a:lnSpc>
              <a:spcBef>
                <a:spcPts val="750"/>
              </a:spcBef>
              <a:spcAft>
                <a:spcPts val="1500"/>
              </a:spcAft>
            </a:pPr>
            <a:endParaRPr lang="en-US" sz="7200" b="1" i="0" dirty="0">
              <a:effectLst/>
              <a:latin typeface="Calibri" panose="020F0502020204030204" pitchFamily="34" charset="0"/>
              <a:cs typeface="Calibri" panose="020F0502020204030204" pitchFamily="34" charset="0"/>
            </a:endParaRPr>
          </a:p>
          <a:p>
            <a:pPr algn="l">
              <a:lnSpc>
                <a:spcPts val="1650"/>
              </a:lnSpc>
              <a:spcBef>
                <a:spcPts val="750"/>
              </a:spcBef>
              <a:spcAft>
                <a:spcPts val="1500"/>
              </a:spcAft>
            </a:pPr>
            <a:endParaRPr lang="en-US" sz="7200" b="0" i="0" dirty="0">
              <a:effectLst/>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494153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DCBA12-F5AD-93D3-9ECF-9CEC0914A7D9}"/>
              </a:ext>
            </a:extLst>
          </p:cNvPr>
          <p:cNvSpPr>
            <a:spLocks noGrp="1"/>
          </p:cNvSpPr>
          <p:nvPr>
            <p:ph idx="1"/>
          </p:nvPr>
        </p:nvSpPr>
        <p:spPr>
          <a:xfrm>
            <a:off x="467833" y="318976"/>
            <a:ext cx="11334307" cy="6241311"/>
          </a:xfrm>
        </p:spPr>
        <p:txBody>
          <a:bodyPr>
            <a:normAutofit/>
          </a:bodyPr>
          <a:lstStyle/>
          <a:p>
            <a:pPr>
              <a:buFont typeface="Wingdings" pitchFamily="2" charset="2"/>
              <a:buChar char="ü"/>
            </a:pPr>
            <a:r>
              <a:rPr lang="en-US" sz="1800" b="1" dirty="0">
                <a:solidFill>
                  <a:srgbClr val="4E95D9"/>
                </a:solidFill>
                <a:latin typeface="Calibri" panose="020F0502020204030204" pitchFamily="34" charset="0"/>
                <a:cs typeface="Calibri" panose="020F0502020204030204" pitchFamily="34" charset="0"/>
              </a:rPr>
              <a:t>Tink AB</a:t>
            </a:r>
            <a:endParaRPr lang="en-US" sz="18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Date:</a:t>
            </a:r>
            <a:r>
              <a:rPr lang="en-US" sz="1800" dirty="0">
                <a:latin typeface="Calibri" panose="020F0502020204030204" pitchFamily="34" charset="0"/>
                <a:cs typeface="Calibri" panose="020F0502020204030204" pitchFamily="34" charset="0"/>
              </a:rPr>
              <a:t> March 2022</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Deal Value:</a:t>
            </a:r>
            <a:r>
              <a:rPr lang="en-US" sz="1800" dirty="0">
                <a:latin typeface="Calibri" panose="020F0502020204030204" pitchFamily="34" charset="0"/>
                <a:cs typeface="Calibri" panose="020F0502020204030204" pitchFamily="34" charset="0"/>
              </a:rPr>
              <a:t> $2.1 billion</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Description:</a:t>
            </a:r>
            <a:r>
              <a:rPr lang="en-US" sz="1800" dirty="0">
                <a:latin typeface="Calibri" panose="020F0502020204030204" pitchFamily="34" charset="0"/>
                <a:cs typeface="Calibri" panose="020F0502020204030204" pitchFamily="34" charset="0"/>
              </a:rPr>
              <a:t> Tink is a Sweden-based open banking platform that enables financial institutions, fintech's, and merchants to develop data-driven financial services. This acquisition enhances Visa’s capabilities in providing open banking solutions. </a:t>
            </a:r>
          </a:p>
          <a:p>
            <a:pPr>
              <a:buFont typeface="Wingdings" pitchFamily="2" charset="2"/>
              <a:buChar char="ü"/>
            </a:pPr>
            <a:r>
              <a:rPr lang="en-US" sz="1800" b="1" dirty="0">
                <a:solidFill>
                  <a:srgbClr val="4E95D9"/>
                </a:solidFill>
                <a:latin typeface="Calibri" panose="020F0502020204030204" pitchFamily="34" charset="0"/>
                <a:cs typeface="Calibri" panose="020F0502020204030204" pitchFamily="34" charset="0"/>
              </a:rPr>
              <a:t>Currencycloud</a:t>
            </a:r>
            <a:endParaRPr lang="en-US" sz="18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Date:</a:t>
            </a:r>
            <a:r>
              <a:rPr lang="en-US" sz="1800" dirty="0">
                <a:latin typeface="Calibri" panose="020F0502020204030204" pitchFamily="34" charset="0"/>
                <a:cs typeface="Calibri" panose="020F0502020204030204" pitchFamily="34" charset="0"/>
              </a:rPr>
              <a:t> July 2021</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Deal Value:</a:t>
            </a:r>
            <a:r>
              <a:rPr lang="en-US" sz="1800" dirty="0">
                <a:latin typeface="Calibri" panose="020F0502020204030204" pitchFamily="34" charset="0"/>
                <a:cs typeface="Calibri" panose="020F0502020204030204" pitchFamily="34" charset="0"/>
              </a:rPr>
              <a:t> $963 million</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Description:</a:t>
            </a:r>
            <a:r>
              <a:rPr lang="en-US" sz="1800" dirty="0">
                <a:latin typeface="Calibri" panose="020F0502020204030204" pitchFamily="34" charset="0"/>
                <a:cs typeface="Calibri" panose="020F0502020204030204" pitchFamily="34" charset="0"/>
              </a:rPr>
              <a:t> Currencycloud is a UK-based fintech platform that offers solutions such as currency exchange, money transfer, and virtual account management for banks and FX brokers. This acquisition expands Visa's cross-border payment capabilities. </a:t>
            </a:r>
            <a:endParaRPr lang="en-US" sz="1800" b="1" i="0" dirty="0">
              <a:effectLst/>
              <a:latin typeface="Calibri" panose="020F0502020204030204" pitchFamily="34" charset="0"/>
              <a:cs typeface="Calibri" panose="020F0502020204030204" pitchFamily="34" charset="0"/>
            </a:endParaRPr>
          </a:p>
          <a:p>
            <a:pPr>
              <a:buFont typeface="Wingdings" pitchFamily="2" charset="2"/>
              <a:buChar char="ü"/>
            </a:pPr>
            <a:r>
              <a:rPr lang="en-US" sz="1800" b="1" i="0" dirty="0">
                <a:solidFill>
                  <a:srgbClr val="4E95D9"/>
                </a:solidFill>
                <a:effectLst/>
                <a:latin typeface="Calibri" panose="020F0502020204030204" pitchFamily="34" charset="0"/>
                <a:cs typeface="Calibri" panose="020F0502020204030204" pitchFamily="34" charset="0"/>
              </a:rPr>
              <a:t>Visa Europe </a:t>
            </a:r>
          </a:p>
          <a:p>
            <a:r>
              <a:rPr lang="en-US" sz="1800" b="1" dirty="0">
                <a:latin typeface="Calibri" panose="020F0502020204030204" pitchFamily="34" charset="0"/>
                <a:cs typeface="Calibri" panose="020F0502020204030204" pitchFamily="34" charset="0"/>
              </a:rPr>
              <a:t>Date: </a:t>
            </a:r>
            <a:r>
              <a:rPr lang="en-US" sz="1800" i="0" dirty="0">
                <a:effectLst/>
                <a:latin typeface="Calibri" panose="020F0502020204030204" pitchFamily="34" charset="0"/>
                <a:cs typeface="Calibri" panose="020F0502020204030204" pitchFamily="34" charset="0"/>
              </a:rPr>
              <a:t>Jun 2016</a:t>
            </a:r>
            <a:endParaRPr lang="en-US" sz="1800" dirty="0">
              <a:latin typeface="Calibri" panose="020F0502020204030204" pitchFamily="34" charset="0"/>
              <a:cs typeface="Calibri" panose="020F0502020204030204" pitchFamily="34" charset="0"/>
            </a:endParaRPr>
          </a:p>
          <a:p>
            <a:r>
              <a:rPr lang="en-US" sz="1800" b="1" i="0" dirty="0">
                <a:effectLst/>
                <a:latin typeface="Calibri" panose="020F0502020204030204" pitchFamily="34" charset="0"/>
                <a:cs typeface="Calibri" panose="020F0502020204030204" pitchFamily="34" charset="0"/>
              </a:rPr>
              <a:t>Deal Value: </a:t>
            </a:r>
            <a:r>
              <a:rPr lang="en-US" sz="1800" dirty="0">
                <a:latin typeface="Calibri" panose="020F0502020204030204" pitchFamily="34" charset="0"/>
                <a:cs typeface="Calibri" panose="020F0502020204030204" pitchFamily="34" charset="0"/>
              </a:rPr>
              <a:t>€21.2 billion</a:t>
            </a:r>
            <a:endParaRPr lang="en-US" sz="1800" b="1" i="0" dirty="0">
              <a:effectLst/>
              <a:latin typeface="Calibri" panose="020F0502020204030204" pitchFamily="34" charset="0"/>
              <a:cs typeface="Calibri" panose="020F0502020204030204" pitchFamily="34" charset="0"/>
            </a:endParaRPr>
          </a:p>
          <a:p>
            <a:r>
              <a:rPr lang="en-US" sz="1800" b="1" dirty="0">
                <a:latin typeface="Calibri" panose="020F0502020204030204" pitchFamily="34" charset="0"/>
                <a:cs typeface="Calibri" panose="020F0502020204030204" pitchFamily="34" charset="0"/>
              </a:rPr>
              <a:t>Description: </a:t>
            </a:r>
            <a:r>
              <a:rPr lang="en-US" sz="1800" b="0" i="0" dirty="0">
                <a:effectLst/>
                <a:latin typeface="Calibri" panose="020F0502020204030204" pitchFamily="34" charset="0"/>
                <a:cs typeface="Calibri" panose="020F0502020204030204" pitchFamily="34" charset="0"/>
              </a:rPr>
              <a:t>Visa acquired Visa Europe to integrate its regional operations and strengthen its global network. </a:t>
            </a:r>
          </a:p>
          <a:p>
            <a:endParaRPr lang="en-US" dirty="0"/>
          </a:p>
        </p:txBody>
      </p:sp>
    </p:spTree>
    <p:extLst>
      <p:ext uri="{BB962C8B-B14F-4D97-AF65-F5344CB8AC3E}">
        <p14:creationId xmlns:p14="http://schemas.microsoft.com/office/powerpoint/2010/main" val="3878042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 shot of a report&#10;&#10;AI-generated content may be incorrect.">
            <a:extLst>
              <a:ext uri="{FF2B5EF4-FFF2-40B4-BE49-F238E27FC236}">
                <a16:creationId xmlns:a16="http://schemas.microsoft.com/office/drawing/2014/main" id="{8B99F258-9241-D667-263A-68B0FEDD1F3A}"/>
              </a:ext>
            </a:extLst>
          </p:cNvPr>
          <p:cNvPicPr>
            <a:picLocks noChangeAspect="1"/>
          </p:cNvPicPr>
          <p:nvPr/>
        </p:nvPicPr>
        <p:blipFill>
          <a:blip r:embed="rId2"/>
          <a:stretch>
            <a:fillRect/>
          </a:stretch>
        </p:blipFill>
        <p:spPr>
          <a:xfrm>
            <a:off x="630936" y="760929"/>
            <a:ext cx="5458968" cy="5336141"/>
          </a:xfrm>
          <a:prstGeom prst="rect">
            <a:avLst/>
          </a:prstGeom>
        </p:spPr>
      </p:pic>
      <p:sp>
        <p:nvSpPr>
          <p:cNvPr id="17"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8">
            <a:extLst>
              <a:ext uri="{FF2B5EF4-FFF2-40B4-BE49-F238E27FC236}">
                <a16:creationId xmlns:a16="http://schemas.microsoft.com/office/drawing/2014/main" id="{349A3B9B-6303-4A67-8233-3819F1FB28A3}"/>
              </a:ext>
            </a:extLst>
          </p:cNvPr>
          <p:cNvSpPr>
            <a:spLocks noGrp="1"/>
          </p:cNvSpPr>
          <p:nvPr>
            <p:ph idx="1"/>
          </p:nvPr>
        </p:nvSpPr>
        <p:spPr>
          <a:xfrm>
            <a:off x="6739128" y="2664886"/>
            <a:ext cx="4818888" cy="3550789"/>
          </a:xfrm>
        </p:spPr>
        <p:txBody>
          <a:bodyPr anchor="t">
            <a:normAutofit/>
          </a:bodyPr>
          <a:lstStyle/>
          <a:p>
            <a:r>
              <a:rPr lang="en-US" sz="1800" dirty="0">
                <a:latin typeface="Calibri" panose="020F0502020204030204" pitchFamily="34" charset="0"/>
                <a:cs typeface="Calibri" panose="020F0502020204030204" pitchFamily="34" charset="0"/>
              </a:rPr>
              <a:t>The board of directors authorized a new $30.0B multi-year share repurchase program.</a:t>
            </a:r>
          </a:p>
          <a:p>
            <a:r>
              <a:rPr lang="en-US" sz="1800" dirty="0">
                <a:latin typeface="Calibri" panose="020F0502020204030204" pitchFamily="34" charset="0"/>
                <a:cs typeface="Calibri" panose="020F0502020204030204" pitchFamily="34" charset="0"/>
              </a:rPr>
              <a:t>Share repurchases and dividends of $5.6B</a:t>
            </a:r>
          </a:p>
        </p:txBody>
      </p:sp>
    </p:spTree>
    <p:extLst>
      <p:ext uri="{BB962C8B-B14F-4D97-AF65-F5344CB8AC3E}">
        <p14:creationId xmlns:p14="http://schemas.microsoft.com/office/powerpoint/2010/main" val="3238618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59B0D-BB03-432D-87EF-565462E367EA}"/>
              </a:ext>
            </a:extLst>
          </p:cNvPr>
          <p:cNvSpPr>
            <a:spLocks noGrp="1"/>
          </p:cNvSpPr>
          <p:nvPr>
            <p:ph type="title"/>
          </p:nvPr>
        </p:nvSpPr>
        <p:spPr>
          <a:xfrm>
            <a:off x="838200" y="241595"/>
            <a:ext cx="10515600" cy="779131"/>
          </a:xfrm>
        </p:spPr>
        <p:txBody>
          <a:bodyPr>
            <a:normAutofit/>
          </a:bodyPr>
          <a:lstStyle/>
          <a:p>
            <a:r>
              <a:rPr lang="en-US" sz="2400" b="1" dirty="0">
                <a:solidFill>
                  <a:srgbClr val="4E95D9"/>
                </a:solidFill>
                <a:latin typeface="Calibri" panose="020F0502020204030204" pitchFamily="34" charset="0"/>
                <a:cs typeface="Calibri" panose="020F0502020204030204" pitchFamily="34" charset="0"/>
              </a:rPr>
              <a:t>COMPETITION</a:t>
            </a:r>
          </a:p>
        </p:txBody>
      </p:sp>
      <p:sp>
        <p:nvSpPr>
          <p:cNvPr id="3" name="Content Placeholder 2">
            <a:extLst>
              <a:ext uri="{FF2B5EF4-FFF2-40B4-BE49-F238E27FC236}">
                <a16:creationId xmlns:a16="http://schemas.microsoft.com/office/drawing/2014/main" id="{9AFA877C-F369-5174-2EF3-2A7AD8CF46BE}"/>
              </a:ext>
            </a:extLst>
          </p:cNvPr>
          <p:cNvSpPr>
            <a:spLocks noGrp="1"/>
          </p:cNvSpPr>
          <p:nvPr>
            <p:ph idx="1"/>
          </p:nvPr>
        </p:nvSpPr>
        <p:spPr>
          <a:xfrm>
            <a:off x="838200" y="935666"/>
            <a:ext cx="11100391" cy="5475767"/>
          </a:xfrm>
        </p:spPr>
        <p:txBody>
          <a:bodyPr>
            <a:normAutofit/>
          </a:bodyPr>
          <a:lstStyle/>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The global payments industry continues to undergo dynamic and rapid change. Existing and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emerging competitors compete with Visa’s network and payment solutions for consumers and for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participation by financial institutions and merchants. Technology and innovation are shifting consumer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habits and driving growth opportunities in ecommerce, mobile payments, blockchain technology and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digital currencies. These advances are enabling new entrants, many of which depart from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traditional network payment models. </a:t>
            </a:r>
          </a:p>
          <a:p>
            <a:pPr algn="just">
              <a:lnSpc>
                <a:spcPts val="877"/>
              </a:lnSpc>
            </a:pPr>
            <a:r>
              <a:rPr lang="en-US" sz="1800" b="1" dirty="0">
                <a:solidFill>
                  <a:srgbClr val="4E95D9"/>
                </a:solidFill>
                <a:effectLst/>
                <a:latin typeface="Calibri" panose="020F0502020204030204" pitchFamily="34" charset="0"/>
                <a:cs typeface="Calibri" panose="020F0502020204030204" pitchFamily="34" charset="0"/>
              </a:rPr>
              <a:t>Global or Multi-regional Networks</a:t>
            </a:r>
            <a:r>
              <a:rPr lang="en-US" sz="1800" b="1" dirty="0">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These networks typically offer a range of branded, general </a:t>
            </a:r>
          </a:p>
          <a:p>
            <a:pPr marL="0" indent="0" algn="just">
              <a:lnSpc>
                <a:spcPts val="877"/>
              </a:lnSpc>
              <a:buNone/>
            </a:pPr>
            <a:r>
              <a:rPr lang="en-US" sz="1800" dirty="0">
                <a:effectLst/>
                <a:latin typeface="Calibri" panose="020F0502020204030204" pitchFamily="34" charset="0"/>
                <a:cs typeface="Calibri" panose="020F0502020204030204" pitchFamily="34" charset="0"/>
              </a:rPr>
              <a:t>purpose card payment products that consumers can use at millions of merchant locations around the </a:t>
            </a:r>
          </a:p>
          <a:p>
            <a:pPr marL="0" indent="0" algn="just">
              <a:lnSpc>
                <a:spcPts val="877"/>
              </a:lnSpc>
              <a:buNone/>
            </a:pPr>
            <a:r>
              <a:rPr lang="en-US" sz="1800" dirty="0">
                <a:effectLst/>
                <a:latin typeface="Calibri" panose="020F0502020204030204" pitchFamily="34" charset="0"/>
                <a:cs typeface="Calibri" panose="020F0502020204030204" pitchFamily="34" charset="0"/>
              </a:rPr>
              <a:t>world. Examples include </a:t>
            </a:r>
            <a:r>
              <a:rPr lang="en-US" sz="1800" b="1" dirty="0">
                <a:effectLst/>
                <a:latin typeface="Calibri" panose="020F0502020204030204" pitchFamily="34" charset="0"/>
                <a:cs typeface="Calibri" panose="020F0502020204030204" pitchFamily="34" charset="0"/>
              </a:rPr>
              <a:t>American Express, Diners Club/Discover, JCB, Mastercard and </a:t>
            </a:r>
          </a:p>
          <a:p>
            <a:pPr marL="0" indent="0" algn="just">
              <a:lnSpc>
                <a:spcPts val="877"/>
              </a:lnSpc>
              <a:buNone/>
            </a:pPr>
            <a:r>
              <a:rPr lang="en-US" sz="1800" b="1" dirty="0">
                <a:effectLst/>
                <a:latin typeface="Calibri" panose="020F0502020204030204" pitchFamily="34" charset="0"/>
                <a:cs typeface="Calibri" panose="020F0502020204030204" pitchFamily="34" charset="0"/>
              </a:rPr>
              <a:t>UnionPay</a:t>
            </a:r>
            <a:r>
              <a:rPr lang="en-US" sz="1800" dirty="0">
                <a:effectLst/>
                <a:latin typeface="Calibri" panose="020F0502020204030204" pitchFamily="34" charset="0"/>
                <a:cs typeface="Calibri" panose="020F0502020204030204" pitchFamily="34" charset="0"/>
              </a:rPr>
              <a:t>. These competitors may be more concentrated in specific geographic regions, such as </a:t>
            </a:r>
          </a:p>
          <a:p>
            <a:pPr marL="0" indent="0" algn="just">
              <a:lnSpc>
                <a:spcPts val="877"/>
              </a:lnSpc>
              <a:buNone/>
            </a:pPr>
            <a:r>
              <a:rPr lang="en-US" sz="1800" dirty="0">
                <a:effectLst/>
                <a:latin typeface="Calibri" panose="020F0502020204030204" pitchFamily="34" charset="0"/>
                <a:cs typeface="Calibri" panose="020F0502020204030204" pitchFamily="34" charset="0"/>
              </a:rPr>
              <a:t>Discover in the U.S.,JCB in Japan and UnionPay in China.</a:t>
            </a:r>
          </a:p>
        </p:txBody>
      </p:sp>
      <p:pic>
        <p:nvPicPr>
          <p:cNvPr id="5" name="Picture 4">
            <a:extLst>
              <a:ext uri="{FF2B5EF4-FFF2-40B4-BE49-F238E27FC236}">
                <a16:creationId xmlns:a16="http://schemas.microsoft.com/office/drawing/2014/main" id="{77A97DD7-3C8D-F4CC-8E31-81BA4B2272B0}"/>
              </a:ext>
            </a:extLst>
          </p:cNvPr>
          <p:cNvPicPr>
            <a:picLocks noChangeAspect="1"/>
          </p:cNvPicPr>
          <p:nvPr/>
        </p:nvPicPr>
        <p:blipFill>
          <a:blip r:embed="rId2"/>
          <a:stretch>
            <a:fillRect/>
          </a:stretch>
        </p:blipFill>
        <p:spPr>
          <a:xfrm>
            <a:off x="1190846" y="4033079"/>
            <a:ext cx="7772400" cy="2378354"/>
          </a:xfrm>
          <a:prstGeom prst="rect">
            <a:avLst/>
          </a:prstGeom>
        </p:spPr>
      </p:pic>
    </p:spTree>
    <p:extLst>
      <p:ext uri="{BB962C8B-B14F-4D97-AF65-F5344CB8AC3E}">
        <p14:creationId xmlns:p14="http://schemas.microsoft.com/office/powerpoint/2010/main" val="4029570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4079D2-3929-D55C-5D0D-DE8C03037773}"/>
              </a:ext>
            </a:extLst>
          </p:cNvPr>
          <p:cNvSpPr>
            <a:spLocks noGrp="1"/>
          </p:cNvSpPr>
          <p:nvPr>
            <p:ph idx="1"/>
          </p:nvPr>
        </p:nvSpPr>
        <p:spPr>
          <a:xfrm>
            <a:off x="563563" y="382588"/>
            <a:ext cx="11174781" cy="6113905"/>
          </a:xfrm>
        </p:spPr>
        <p:txBody>
          <a:bodyPr/>
          <a:lstStyle/>
          <a:p>
            <a:pPr algn="just">
              <a:lnSpc>
                <a:spcPts val="877"/>
              </a:lnSpc>
              <a:spcAft>
                <a:spcPts val="735"/>
              </a:spcAft>
            </a:pPr>
            <a:r>
              <a:rPr lang="en-US" sz="1800" b="1" dirty="0">
                <a:solidFill>
                  <a:srgbClr val="4E95D9"/>
                </a:solidFill>
                <a:effectLst/>
                <a:latin typeface="Calibri" panose="020F0502020204030204" pitchFamily="34" charset="0"/>
                <a:cs typeface="Calibri" panose="020F0502020204030204" pitchFamily="34" charset="0"/>
              </a:rPr>
              <a:t>RTP Networks</a:t>
            </a:r>
            <a:r>
              <a:rPr lang="en-US" sz="1800" b="1" dirty="0">
                <a:solidFill>
                  <a:srgbClr val="4E95D9"/>
                </a:solidFill>
                <a:latin typeface="Calibri" panose="020F0502020204030204" pitchFamily="34" charset="0"/>
                <a:cs typeface="Calibri" panose="020F0502020204030204" pitchFamily="34" charset="0"/>
              </a:rPr>
              <a:t>:</a:t>
            </a:r>
            <a:r>
              <a:rPr lang="en-US" sz="1800" b="1" i="1" dirty="0">
                <a:solidFill>
                  <a:srgbClr val="4E95D9"/>
                </a:solidFill>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RTP networks have launched in at least 80 countries and continue to be driven by strong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government sponsorship and regulatory initiatives to enable and drive adoption (e.g., FedNow in the U.S., PIX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in Brazil and United Payments Interface (UPI) in India), increasing their position as an alternative to payment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card schemes. These networks primarily focus on domestic transactions, with adoption varying by use cases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and geographies. However, with linkages such as PayNow in Singapore and UPI in India, cross-border RTP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networks are advancing and will compete with our cross-border business. RTP networks can compete with Visa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on consumer payments and other payment flows (e.g., B2B and P2P) but can also be customers for value-added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services, such as risk management. </a:t>
            </a:r>
            <a:endParaRPr lang="en-US" sz="1200" dirty="0">
              <a:effectLst/>
              <a:latin typeface="Helvetica" pitchFamily="2" charset="0"/>
            </a:endParaRPr>
          </a:p>
          <a:p>
            <a:pPr algn="just">
              <a:lnSpc>
                <a:spcPts val="877"/>
              </a:lnSpc>
              <a:spcAft>
                <a:spcPts val="660"/>
              </a:spcAft>
            </a:pPr>
            <a:r>
              <a:rPr lang="en-US" sz="1800" b="1" dirty="0">
                <a:solidFill>
                  <a:srgbClr val="4E95D9"/>
                </a:solidFill>
                <a:effectLst/>
                <a:latin typeface="Calibri" panose="020F0502020204030204" pitchFamily="34" charset="0"/>
                <a:cs typeface="Calibri" panose="020F0502020204030204" pitchFamily="34" charset="0"/>
              </a:rPr>
              <a:t>Alternative Payments Providers:</a:t>
            </a:r>
            <a:r>
              <a:rPr lang="en-US" sz="1800" b="1" i="1" dirty="0">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These providers, such as closed commerce ecosystems, BNPL solutions and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cryptocurrency platforms, often have a primary focus of enabling payments through ecommerce and mobile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Channels</a:t>
            </a:r>
            <a:r>
              <a:rPr lang="en-US" sz="1800" dirty="0">
                <a:latin typeface="Calibri" panose="020F0502020204030204" pitchFamily="34" charset="0"/>
                <a:cs typeface="Calibri" panose="020F0502020204030204" pitchFamily="34" charset="0"/>
              </a:rPr>
              <a:t>.</a:t>
            </a:r>
            <a:endParaRPr lang="en-US" sz="1800" dirty="0">
              <a:effectLst/>
              <a:latin typeface="Calibri" panose="020F0502020204030204" pitchFamily="34" charset="0"/>
              <a:cs typeface="Calibri" panose="020F0502020204030204" pitchFamily="34" charset="0"/>
            </a:endParaRPr>
          </a:p>
          <a:p>
            <a:pPr algn="just">
              <a:lnSpc>
                <a:spcPts val="877"/>
              </a:lnSpc>
              <a:spcAft>
                <a:spcPts val="660"/>
              </a:spcAft>
            </a:pPr>
            <a:r>
              <a:rPr lang="en-US" sz="1800" b="1" dirty="0">
                <a:solidFill>
                  <a:srgbClr val="4E95D9"/>
                </a:solidFill>
                <a:latin typeface="Calibri" panose="020F0502020204030204" pitchFamily="34" charset="0"/>
                <a:cs typeface="Calibri" panose="020F0502020204030204" pitchFamily="34" charset="0"/>
              </a:rPr>
              <a:t>Central Bank Digital Currencies:</a:t>
            </a:r>
            <a:r>
              <a:rPr lang="en-US" sz="1800" b="0" i="0" dirty="0">
                <a:solidFill>
                  <a:srgbClr val="000000"/>
                </a:solidFill>
                <a:effectLst/>
                <a:latin typeface="Calibri" panose="020F0502020204030204" pitchFamily="34" charset="0"/>
                <a:cs typeface="Calibri" panose="020F0502020204030204" pitchFamily="34" charset="0"/>
              </a:rPr>
              <a:t>. The Bahamas was the first country to launch a nationwide Central Bank Digital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Currency (CBDC), named the Sand Dollar, in 2020. Following this, Nigeria also rolled out its </a:t>
            </a:r>
            <a:r>
              <a:rPr lang="en-US" sz="1800" b="0" i="0" dirty="0" err="1">
                <a:solidFill>
                  <a:srgbClr val="000000"/>
                </a:solidFill>
                <a:effectLst/>
                <a:latin typeface="Calibri" panose="020F0502020204030204" pitchFamily="34" charset="0"/>
                <a:cs typeface="Calibri" panose="020F0502020204030204" pitchFamily="34" charset="0"/>
              </a:rPr>
              <a:t>eNaira</a:t>
            </a:r>
            <a:r>
              <a:rPr lang="en-US" sz="1800" b="0" i="0" dirty="0">
                <a:solidFill>
                  <a:srgbClr val="000000"/>
                </a:solidFill>
                <a:effectLst/>
                <a:latin typeface="Calibri" panose="020F0502020204030204" pitchFamily="34" charset="0"/>
                <a:cs typeface="Calibri" panose="020F0502020204030204" pitchFamily="34" charset="0"/>
              </a:rPr>
              <a:t> in the same year. In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April 2020, China became the first major economy to pilot its digital currency, the e-CNY or Digital Yuan. India has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introduced the e-Rupee. The digital currency was initially rolled out in phases, with pilot projects for wholesale and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retail use in 2022 and 2023.</a:t>
            </a:r>
            <a:endParaRPr lang="en-US" sz="1800" dirty="0">
              <a:effectLst/>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27669446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graph of a line&#10;&#10;AI-generated content may be incorrect.">
            <a:extLst>
              <a:ext uri="{FF2B5EF4-FFF2-40B4-BE49-F238E27FC236}">
                <a16:creationId xmlns:a16="http://schemas.microsoft.com/office/drawing/2014/main" id="{C24CCE2B-50F0-C5D8-BD70-0CBDF0ED6A09}"/>
              </a:ext>
            </a:extLst>
          </p:cNvPr>
          <p:cNvPicPr>
            <a:picLocks noChangeAspect="1"/>
          </p:cNvPicPr>
          <p:nvPr/>
        </p:nvPicPr>
        <p:blipFill>
          <a:blip r:embed="rId2"/>
          <a:stretch>
            <a:fillRect/>
          </a:stretch>
        </p:blipFill>
        <p:spPr>
          <a:xfrm>
            <a:off x="1374246" y="643467"/>
            <a:ext cx="3830107" cy="5571066"/>
          </a:xfrm>
          <a:prstGeom prst="rect">
            <a:avLst/>
          </a:prstGeom>
        </p:spPr>
      </p:pic>
      <p:pic>
        <p:nvPicPr>
          <p:cNvPr id="5" name="Content Placeholder 4" descr="A graph of a number of people&#10;&#10;AI-generated content may be incorrect.">
            <a:extLst>
              <a:ext uri="{FF2B5EF4-FFF2-40B4-BE49-F238E27FC236}">
                <a16:creationId xmlns:a16="http://schemas.microsoft.com/office/drawing/2014/main" id="{ABB8C653-905D-5A8D-2034-839F068B1E8A}"/>
              </a:ext>
            </a:extLst>
          </p:cNvPr>
          <p:cNvPicPr>
            <a:picLocks noGrp="1" noChangeAspect="1"/>
          </p:cNvPicPr>
          <p:nvPr>
            <p:ph idx="1"/>
          </p:nvPr>
        </p:nvPicPr>
        <p:blipFill>
          <a:blip r:embed="rId3"/>
          <a:stretch>
            <a:fillRect/>
          </a:stretch>
        </p:blipFill>
        <p:spPr>
          <a:xfrm>
            <a:off x="6980681" y="643467"/>
            <a:ext cx="3844034" cy="5571066"/>
          </a:xfrm>
          <a:prstGeom prst="rect">
            <a:avLst/>
          </a:prstGeom>
        </p:spPr>
      </p:pic>
    </p:spTree>
    <p:extLst>
      <p:ext uri="{BB962C8B-B14F-4D97-AF65-F5344CB8AC3E}">
        <p14:creationId xmlns:p14="http://schemas.microsoft.com/office/powerpoint/2010/main" val="1683357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06A5DE1-4C46-B8C2-BA52-0A29AD4A7D64}"/>
              </a:ext>
            </a:extLst>
          </p:cNvPr>
          <p:cNvSpPr>
            <a:spLocks noGrp="1"/>
          </p:cNvSpPr>
          <p:nvPr>
            <p:ph idx="1"/>
          </p:nvPr>
        </p:nvSpPr>
        <p:spPr>
          <a:xfrm>
            <a:off x="393405" y="435935"/>
            <a:ext cx="11323674" cy="6039293"/>
          </a:xfrm>
        </p:spPr>
        <p:txBody>
          <a:bodyPr>
            <a:normAutofit/>
          </a:bodyPr>
          <a:lstStyle/>
          <a:p>
            <a:pPr marL="0" indent="0">
              <a:buNone/>
            </a:pPr>
            <a:r>
              <a:rPr lang="en-US" sz="2200" b="1" i="0" dirty="0">
                <a:solidFill>
                  <a:srgbClr val="4E95D9"/>
                </a:solidFill>
                <a:effectLst/>
                <a:latin typeface="Calibri" panose="020F0502020204030204" pitchFamily="34" charset="0"/>
                <a:cs typeface="Calibri" panose="020F0502020204030204" pitchFamily="34" charset="0"/>
              </a:rPr>
              <a:t>The Payment </a:t>
            </a:r>
            <a:r>
              <a:rPr lang="en-US" sz="2200" b="1" dirty="0">
                <a:solidFill>
                  <a:srgbClr val="4E95D9"/>
                </a:solidFill>
                <a:latin typeface="Calibri" panose="020F0502020204030204" pitchFamily="34" charset="0"/>
                <a:cs typeface="Calibri" panose="020F0502020204030204" pitchFamily="34" charset="0"/>
              </a:rPr>
              <a:t>C</a:t>
            </a:r>
            <a:r>
              <a:rPr lang="en-US" sz="2200" b="1" i="0" dirty="0">
                <a:solidFill>
                  <a:srgbClr val="4E95D9"/>
                </a:solidFill>
                <a:effectLst/>
                <a:latin typeface="Calibri" panose="020F0502020204030204" pitchFamily="34" charset="0"/>
                <a:cs typeface="Calibri" panose="020F0502020204030204" pitchFamily="34" charset="0"/>
              </a:rPr>
              <a:t>ard </a:t>
            </a:r>
            <a:r>
              <a:rPr lang="en-US" sz="2200" b="1" dirty="0">
                <a:solidFill>
                  <a:srgbClr val="4E95D9"/>
                </a:solidFill>
                <a:latin typeface="Calibri" panose="020F0502020204030204" pitchFamily="34" charset="0"/>
                <a:cs typeface="Calibri" panose="020F0502020204030204" pitchFamily="34" charset="0"/>
              </a:rPr>
              <a:t>L</a:t>
            </a:r>
            <a:r>
              <a:rPr lang="en-US" sz="2200" b="1" i="0" dirty="0">
                <a:solidFill>
                  <a:srgbClr val="4E95D9"/>
                </a:solidFill>
                <a:effectLst/>
                <a:latin typeface="Calibri" panose="020F0502020204030204" pitchFamily="34" charset="0"/>
                <a:cs typeface="Calibri" panose="020F0502020204030204" pitchFamily="34" charset="0"/>
              </a:rPr>
              <a:t>andscape</a:t>
            </a:r>
          </a:p>
          <a:p>
            <a:pPr algn="l"/>
            <a:r>
              <a:rPr lang="en-US" sz="2200" b="0" i="0" dirty="0">
                <a:solidFill>
                  <a:srgbClr val="1C1D20"/>
                </a:solidFill>
                <a:effectLst/>
                <a:latin typeface="Calibri" panose="020F0502020204030204" pitchFamily="34" charset="0"/>
                <a:cs typeface="Calibri" panose="020F0502020204030204" pitchFamily="34" charset="0"/>
              </a:rPr>
              <a:t>There were 17.45 billion credit, debit, and prepaid cards in circulation worldwide as of the end of 2023. </a:t>
            </a:r>
          </a:p>
          <a:p>
            <a:pPr algn="l"/>
            <a:r>
              <a:rPr lang="en-US" sz="2200" b="0" i="0" dirty="0">
                <a:solidFill>
                  <a:srgbClr val="1C1D20"/>
                </a:solidFill>
                <a:effectLst/>
                <a:latin typeface="Calibri" panose="020F0502020204030204" pitchFamily="34" charset="0"/>
                <a:cs typeface="Calibri" panose="020F0502020204030204" pitchFamily="34" charset="0"/>
              </a:rPr>
              <a:t>UnionPay cards made up 56% of total cards, Visa composed 25%, Mastercard made up 17%, and American Express held slightly less than 1%. Discover comprised less than half a percent.</a:t>
            </a:r>
            <a:endParaRPr lang="en-US" sz="2200" b="1" dirty="0">
              <a:solidFill>
                <a:srgbClr val="4E95D9"/>
              </a:solidFill>
              <a:latin typeface="Calibri" panose="020F0502020204030204" pitchFamily="34" charset="0"/>
              <a:cs typeface="Calibri" panose="020F0502020204030204" pitchFamily="34" charset="0"/>
            </a:endParaRPr>
          </a:p>
          <a:p>
            <a:pPr marL="0" indent="0" algn="l">
              <a:buNone/>
            </a:pPr>
            <a:r>
              <a:rPr lang="en-US" sz="2200" b="1" dirty="0">
                <a:solidFill>
                  <a:srgbClr val="4E95D9"/>
                </a:solidFill>
                <a:latin typeface="Calibri" panose="020F0502020204030204" pitchFamily="34" charset="0"/>
                <a:cs typeface="Calibri" panose="020F0502020204030204" pitchFamily="34" charset="0"/>
              </a:rPr>
              <a:t>G</a:t>
            </a:r>
            <a:r>
              <a:rPr lang="en-US" sz="2200" b="1" i="0" dirty="0">
                <a:solidFill>
                  <a:srgbClr val="4E95D9"/>
                </a:solidFill>
                <a:effectLst/>
                <a:latin typeface="Calibri" panose="020F0502020204030204" pitchFamily="34" charset="0"/>
                <a:cs typeface="Calibri" panose="020F0502020204030204" pitchFamily="34" charset="0"/>
              </a:rPr>
              <a:t>lobal purchase volume </a:t>
            </a:r>
            <a:r>
              <a:rPr lang="en-US" sz="2200" b="0" i="0" dirty="0">
                <a:effectLst/>
                <a:latin typeface="Calibri" panose="020F0502020204030204" pitchFamily="34" charset="0"/>
                <a:cs typeface="Calibri" panose="020F0502020204030204" pitchFamily="34" charset="0"/>
              </a:rPr>
              <a:t>by </a:t>
            </a:r>
            <a:r>
              <a:rPr lang="en-US" sz="2200" b="1" i="0" dirty="0">
                <a:effectLst/>
                <a:latin typeface="Calibri" panose="020F0502020204030204" pitchFamily="34" charset="0"/>
                <a:cs typeface="Calibri" panose="020F0502020204030204" pitchFamily="34" charset="0"/>
              </a:rPr>
              <a:t>credit card brand </a:t>
            </a:r>
            <a:r>
              <a:rPr lang="en-US" sz="2200" b="0" i="0" dirty="0">
                <a:effectLst/>
                <a:latin typeface="Calibri" panose="020F0502020204030204" pitchFamily="34" charset="0"/>
                <a:cs typeface="Calibri" panose="020F0502020204030204" pitchFamily="34" charset="0"/>
              </a:rPr>
              <a:t>in 2023:</a:t>
            </a:r>
            <a:endParaRPr lang="en-US" sz="22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UnionPay credit: $6.9 trillion, 35%</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Visa credit: $6.3 trillion, 32%</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Mastercard credit: $4 trillion, 21%</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American Express credit: $1.7 trillion, 9%</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JCB credit: $320 billion, 2%</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Discover credit: $256 billion, 1%</a:t>
            </a:r>
          </a:p>
          <a:p>
            <a:pPr marL="0" indent="0">
              <a:buNone/>
            </a:pPr>
            <a:endParaRPr lang="en-US" dirty="0"/>
          </a:p>
        </p:txBody>
      </p:sp>
    </p:spTree>
    <p:extLst>
      <p:ext uri="{BB962C8B-B14F-4D97-AF65-F5344CB8AC3E}">
        <p14:creationId xmlns:p14="http://schemas.microsoft.com/office/powerpoint/2010/main" val="41162107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3F42-738B-7517-838D-81FF366F606B}"/>
              </a:ext>
            </a:extLst>
          </p:cNvPr>
          <p:cNvSpPr>
            <a:spLocks noGrp="1"/>
          </p:cNvSpPr>
          <p:nvPr>
            <p:ph type="title"/>
          </p:nvPr>
        </p:nvSpPr>
        <p:spPr>
          <a:xfrm>
            <a:off x="838200" y="365126"/>
            <a:ext cx="10515600" cy="804456"/>
          </a:xfrm>
        </p:spPr>
        <p:txBody>
          <a:bodyPr>
            <a:normAutofit/>
          </a:bodyPr>
          <a:lstStyle/>
          <a:p>
            <a:r>
              <a:rPr lang="en-US" sz="2400" b="1" dirty="0">
                <a:solidFill>
                  <a:schemeClr val="tx2">
                    <a:lumMod val="90000"/>
                    <a:lumOff val="10000"/>
                  </a:schemeClr>
                </a:solidFill>
                <a:latin typeface="Calibri" panose="020F0502020204030204" pitchFamily="34" charset="0"/>
                <a:cs typeface="Calibri" panose="020F0502020204030204" pitchFamily="34" charset="0"/>
              </a:rPr>
              <a:t>  Risks</a:t>
            </a:r>
          </a:p>
        </p:txBody>
      </p:sp>
      <p:sp>
        <p:nvSpPr>
          <p:cNvPr id="3" name="Content Placeholder 2">
            <a:extLst>
              <a:ext uri="{FF2B5EF4-FFF2-40B4-BE49-F238E27FC236}">
                <a16:creationId xmlns:a16="http://schemas.microsoft.com/office/drawing/2014/main" id="{6490D09E-0EB6-4C2D-3CD2-0E9DF9704F54}"/>
              </a:ext>
            </a:extLst>
          </p:cNvPr>
          <p:cNvSpPr>
            <a:spLocks noGrp="1"/>
          </p:cNvSpPr>
          <p:nvPr>
            <p:ph idx="1"/>
          </p:nvPr>
        </p:nvSpPr>
        <p:spPr>
          <a:xfrm>
            <a:off x="754911" y="1169582"/>
            <a:ext cx="11111023" cy="5323292"/>
          </a:xfrm>
        </p:spPr>
        <p:txBody>
          <a:bodyPr>
            <a:normAutofit/>
          </a:bodyPr>
          <a:lstStyle/>
          <a:p>
            <a:pPr>
              <a:buFont typeface="Wingdings" pitchFamily="2" charset="2"/>
              <a:buChar char="Ø"/>
            </a:pPr>
            <a:r>
              <a:rPr lang="en-US" sz="2100" b="1" dirty="0">
                <a:solidFill>
                  <a:srgbClr val="4E95D9"/>
                </a:solidFill>
                <a:latin typeface="Calibri" panose="020F0502020204030204" pitchFamily="34" charset="0"/>
                <a:cs typeface="Calibri" panose="020F0502020204030204" pitchFamily="34" charset="0"/>
              </a:rPr>
              <a:t> </a:t>
            </a:r>
            <a:r>
              <a:rPr lang="en-US" sz="2000" b="1" dirty="0">
                <a:solidFill>
                  <a:srgbClr val="4E95D9"/>
                </a:solidFill>
                <a:latin typeface="Calibri" panose="020F0502020204030204" pitchFamily="34" charset="0"/>
                <a:cs typeface="Calibri" panose="020F0502020204030204" pitchFamily="34" charset="0"/>
              </a:rPr>
              <a:t>Regulatory Pressure and Antitrust Risk</a:t>
            </a:r>
          </a:p>
          <a:p>
            <a:pPr>
              <a:buNone/>
            </a:pPr>
            <a:r>
              <a:rPr lang="en-US" sz="2000" dirty="0">
                <a:latin typeface="Calibri" panose="020F0502020204030204" pitchFamily="34" charset="0"/>
                <a:cs typeface="Calibri" panose="020F0502020204030204" pitchFamily="34" charset="0"/>
              </a:rPr>
              <a:t>    Visa operates in a heavily scrutinized industry. Governments and regulators across the globe have shown increasing hostility toward perceived monopolistic behavior in the payment's ecosystem. Key risks include:</a:t>
            </a: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Fee caps and interchange regulation</a:t>
            </a:r>
            <a:r>
              <a:rPr lang="en-US" sz="2000" dirty="0">
                <a:latin typeface="Calibri" panose="020F0502020204030204" pitchFamily="34" charset="0"/>
                <a:cs typeface="Calibri" panose="020F0502020204030204" pitchFamily="34" charset="0"/>
              </a:rPr>
              <a:t>: Proposed legislation in the U.S. (e.g., the Credit Card Competition Act) could force Visa to allow competing networks on its cards, potentially lowering its interchange revenue and diminishing its competitive moat.</a:t>
            </a: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European regulation</a:t>
            </a:r>
            <a:r>
              <a:rPr lang="en-US" sz="2000" dirty="0">
                <a:latin typeface="Calibri" panose="020F0502020204030204" pitchFamily="34" charset="0"/>
                <a:cs typeface="Calibri" panose="020F0502020204030204" pitchFamily="34" charset="0"/>
              </a:rPr>
              <a:t>: The EU has historically capped interchange fees and may further restrict Visa's pricing power, particularly for cross-border transactions.</a:t>
            </a: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Antitrust scrutiny</a:t>
            </a:r>
            <a:r>
              <a:rPr lang="en-US" sz="2000" dirty="0">
                <a:latin typeface="Calibri" panose="020F0502020204030204" pitchFamily="34" charset="0"/>
                <a:cs typeface="Calibri" panose="020F0502020204030204" pitchFamily="34" charset="0"/>
              </a:rPr>
              <a:t>: Visa’s dominant market share in credit card processing makes it a target for antitrust litigation and regulatory action, especially as governments focus more on digital competition.</a:t>
            </a:r>
          </a:p>
          <a:p>
            <a:endParaRPr lang="en-US" dirty="0"/>
          </a:p>
        </p:txBody>
      </p:sp>
    </p:spTree>
    <p:extLst>
      <p:ext uri="{BB962C8B-B14F-4D97-AF65-F5344CB8AC3E}">
        <p14:creationId xmlns:p14="http://schemas.microsoft.com/office/powerpoint/2010/main" val="36708184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0ABDCE-7FE0-C3DA-7FB1-3D43E3C7FE2A}"/>
              </a:ext>
            </a:extLst>
          </p:cNvPr>
          <p:cNvSpPr>
            <a:spLocks noGrp="1"/>
          </p:cNvSpPr>
          <p:nvPr>
            <p:ph idx="1"/>
          </p:nvPr>
        </p:nvSpPr>
        <p:spPr>
          <a:xfrm>
            <a:off x="499729" y="467833"/>
            <a:ext cx="11206717" cy="5986130"/>
          </a:xfrm>
        </p:spPr>
        <p:txBody>
          <a:bodyPr>
            <a:normAutofit/>
          </a:bodyPr>
          <a:lstStyle/>
          <a:p>
            <a:pPr>
              <a:buFont typeface="Wingdings" pitchFamily="2" charset="2"/>
              <a:buChar char="Ø"/>
            </a:pPr>
            <a:r>
              <a:rPr lang="en-US" sz="1800" b="1" dirty="0">
                <a:solidFill>
                  <a:srgbClr val="4E95D9"/>
                </a:solidFill>
                <a:latin typeface="Calibri" panose="020F0502020204030204" pitchFamily="34" charset="0"/>
                <a:cs typeface="Calibri" panose="020F0502020204030204" pitchFamily="34" charset="0"/>
              </a:rPr>
              <a:t>Threat of Disruption from Fintech and Real-Time Payments</a:t>
            </a:r>
          </a:p>
          <a:p>
            <a:pPr>
              <a:buNone/>
            </a:pPr>
            <a:r>
              <a:rPr lang="en-US" sz="1800" dirty="0">
                <a:latin typeface="Calibri" panose="020F0502020204030204" pitchFamily="34" charset="0"/>
                <a:cs typeface="Calibri" panose="020F0502020204030204" pitchFamily="34" charset="0"/>
              </a:rPr>
              <a:t>Visa’s traditional model of charging fees for routing card transactions faces long-term existential risk from:</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Fintech disruptors</a:t>
            </a:r>
            <a:r>
              <a:rPr lang="en-US" sz="1800" dirty="0">
                <a:latin typeface="Calibri" panose="020F0502020204030204" pitchFamily="34" charset="0"/>
                <a:cs typeface="Calibri" panose="020F0502020204030204" pitchFamily="34" charset="0"/>
              </a:rPr>
              <a:t> (e.g., Block, Stripe, Adyen): These platforms are building merchant ecosystems that bypass legacy card rails or minimize card usage.</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Real-time payment networks</a:t>
            </a:r>
            <a:r>
              <a:rPr lang="en-US" sz="1800" dirty="0">
                <a:latin typeface="Calibri" panose="020F0502020204030204" pitchFamily="34" charset="0"/>
                <a:cs typeface="Calibri" panose="020F0502020204030204" pitchFamily="34" charset="0"/>
              </a:rPr>
              <a:t> (e.g., FedNow, UPI in India): Governments are promoting cheaper, faster alternatives that could erode Visa’s value proposition, especially in emerging markets.</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Decentralized finance (DeFi)</a:t>
            </a:r>
            <a:r>
              <a:rPr lang="en-US" sz="1800" dirty="0">
                <a:latin typeface="Calibri" panose="020F0502020204030204" pitchFamily="34" charset="0"/>
                <a:cs typeface="Calibri" panose="020F0502020204030204" pitchFamily="34" charset="0"/>
              </a:rPr>
              <a:t>: Although nascent, blockchain-based payment protocols could disintermediate Visa over time, especially for international and peer-to-peer transfers.</a:t>
            </a:r>
          </a:p>
          <a:p>
            <a:pPr>
              <a:buFont typeface="Wingdings" pitchFamily="2" charset="2"/>
              <a:buChar char="Ø"/>
            </a:pPr>
            <a:r>
              <a:rPr lang="en-US" sz="1800" b="1" dirty="0">
                <a:solidFill>
                  <a:srgbClr val="4E95D9"/>
                </a:solidFill>
                <a:latin typeface="Calibri" panose="020F0502020204030204" pitchFamily="34" charset="0"/>
                <a:cs typeface="Calibri" panose="020F0502020204030204" pitchFamily="34" charset="0"/>
              </a:rPr>
              <a:t>Dependency on Consumer Spending and Economic Cyclicality</a:t>
            </a:r>
          </a:p>
          <a:p>
            <a:pPr>
              <a:buNone/>
            </a:pPr>
            <a:r>
              <a:rPr lang="en-US" sz="1800" dirty="0">
                <a:latin typeface="Calibri" panose="020F0502020204030204" pitchFamily="34" charset="0"/>
                <a:cs typeface="Calibri" panose="020F0502020204030204" pitchFamily="34" charset="0"/>
              </a:rPr>
              <a:t>Visa’s revenues are closely tied to transaction volumes, particularly discretionary consumer spending. In a slowing macro environment:</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Recession or stagflation scenarios</a:t>
            </a:r>
            <a:r>
              <a:rPr lang="en-US" sz="1800" dirty="0">
                <a:latin typeface="Calibri" panose="020F0502020204030204" pitchFamily="34" charset="0"/>
                <a:cs typeface="Calibri" panose="020F0502020204030204" pitchFamily="34" charset="0"/>
              </a:rPr>
              <a:t> could reduce spending volumes.</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Higher interest rates</a:t>
            </a:r>
            <a:r>
              <a:rPr lang="en-US" sz="1800" dirty="0">
                <a:latin typeface="Calibri" panose="020F0502020204030204" pitchFamily="34" charset="0"/>
                <a:cs typeface="Calibri" panose="020F0502020204030204" pitchFamily="34" charset="0"/>
              </a:rPr>
              <a:t> and </a:t>
            </a:r>
            <a:r>
              <a:rPr lang="en-US" sz="1800" b="1" dirty="0">
                <a:latin typeface="Calibri" panose="020F0502020204030204" pitchFamily="34" charset="0"/>
                <a:cs typeface="Calibri" panose="020F0502020204030204" pitchFamily="34" charset="0"/>
              </a:rPr>
              <a:t>household debt</a:t>
            </a:r>
            <a:r>
              <a:rPr lang="en-US" sz="1800" dirty="0">
                <a:latin typeface="Calibri" panose="020F0502020204030204" pitchFamily="34" charset="0"/>
                <a:cs typeface="Calibri" panose="020F0502020204030204" pitchFamily="34" charset="0"/>
              </a:rPr>
              <a:t> could pressure consumers to reduce credit usage.</a:t>
            </a:r>
          </a:p>
          <a:p>
            <a:pPr>
              <a:buFont typeface="Arial" panose="020B0604020202020204" pitchFamily="34" charset="0"/>
              <a:buChar char="•"/>
            </a:pPr>
            <a:r>
              <a:rPr lang="en-US" sz="1800" dirty="0">
                <a:latin typeface="Calibri" panose="020F0502020204030204" pitchFamily="34" charset="0"/>
                <a:cs typeface="Calibri" panose="020F0502020204030204" pitchFamily="34" charset="0"/>
              </a:rPr>
              <a:t>A </a:t>
            </a:r>
            <a:r>
              <a:rPr lang="en-US" sz="1800" b="1" dirty="0">
                <a:latin typeface="Calibri" panose="020F0502020204030204" pitchFamily="34" charset="0"/>
                <a:cs typeface="Calibri" panose="020F0502020204030204" pitchFamily="34" charset="0"/>
              </a:rPr>
              <a:t>shift from credit to debit</a:t>
            </a:r>
            <a:r>
              <a:rPr lang="en-US" sz="1800" dirty="0">
                <a:latin typeface="Calibri" panose="020F0502020204030204" pitchFamily="34" charset="0"/>
                <a:cs typeface="Calibri" panose="020F0502020204030204" pitchFamily="34" charset="0"/>
              </a:rPr>
              <a:t>—often seen in downturns—may erode Visa’s more lucrative credit card revenue streams.</a:t>
            </a:r>
          </a:p>
          <a:p>
            <a:pPr marL="0" indent="0">
              <a:buNone/>
            </a:pPr>
            <a:endParaRPr lang="en-US" sz="1800" dirty="0">
              <a:latin typeface="Calibri" panose="020F0502020204030204" pitchFamily="34" charset="0"/>
              <a:cs typeface="Calibri" panose="020F0502020204030204" pitchFamily="34" charset="0"/>
            </a:endParaRPr>
          </a:p>
          <a:p>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239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FED35E8-ADD8-EDB5-1310-A533292BA9E7}"/>
              </a:ext>
            </a:extLst>
          </p:cNvPr>
          <p:cNvSpPr>
            <a:spLocks noGrp="1"/>
          </p:cNvSpPr>
          <p:nvPr>
            <p:ph idx="1"/>
          </p:nvPr>
        </p:nvSpPr>
        <p:spPr>
          <a:xfrm>
            <a:off x="649288" y="350838"/>
            <a:ext cx="11110912" cy="6113462"/>
          </a:xfrm>
        </p:spPr>
        <p:txBody>
          <a:bodyPr>
            <a:normAutofit/>
          </a:bodyPr>
          <a:lstStyle/>
          <a:p>
            <a:pPr>
              <a:buFont typeface="Wingdings" pitchFamily="2" charset="2"/>
              <a:buChar char="Ø"/>
            </a:pPr>
            <a:r>
              <a:rPr lang="en-US" sz="1800" b="1" dirty="0">
                <a:solidFill>
                  <a:srgbClr val="4E95D9"/>
                </a:solidFill>
                <a:latin typeface="Calibri" panose="020F0502020204030204" pitchFamily="34" charset="0"/>
                <a:cs typeface="Calibri" panose="020F0502020204030204" pitchFamily="34" charset="0"/>
              </a:rPr>
              <a:t>Slower International Growth and FX Headwinds</a:t>
            </a:r>
          </a:p>
          <a:p>
            <a:pPr>
              <a:buNone/>
            </a:pPr>
            <a:r>
              <a:rPr lang="en-US" sz="1800" dirty="0">
                <a:latin typeface="Calibri" panose="020F0502020204030204" pitchFamily="34" charset="0"/>
                <a:cs typeface="Calibri" panose="020F0502020204030204" pitchFamily="34" charset="0"/>
              </a:rPr>
              <a:t>While international markets have historically been a growth driver, Visa faces several challenges abroad:</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Currency volatility</a:t>
            </a:r>
            <a:r>
              <a:rPr lang="en-US" sz="1800" dirty="0">
                <a:latin typeface="Calibri" panose="020F0502020204030204" pitchFamily="34" charset="0"/>
                <a:cs typeface="Calibri" panose="020F0502020204030204" pitchFamily="34" charset="0"/>
              </a:rPr>
              <a:t> and </a:t>
            </a:r>
            <a:r>
              <a:rPr lang="en-US" sz="1800" b="1" dirty="0">
                <a:latin typeface="Calibri" panose="020F0502020204030204" pitchFamily="34" charset="0"/>
                <a:cs typeface="Calibri" panose="020F0502020204030204" pitchFamily="34" charset="0"/>
              </a:rPr>
              <a:t>FX translation risks</a:t>
            </a:r>
            <a:r>
              <a:rPr lang="en-US" sz="1800" dirty="0">
                <a:latin typeface="Calibri" panose="020F0502020204030204" pitchFamily="34" charset="0"/>
                <a:cs typeface="Calibri" panose="020F0502020204030204" pitchFamily="34" charset="0"/>
              </a:rPr>
              <a:t> may weigh on earnings reported in USD.</a:t>
            </a:r>
          </a:p>
          <a:p>
            <a:pPr>
              <a:buFont typeface="Arial" panose="020B0604020202020204" pitchFamily="34" charset="0"/>
              <a:buChar char="•"/>
            </a:pPr>
            <a:r>
              <a:rPr lang="en-US" sz="1800" dirty="0">
                <a:latin typeface="Calibri" panose="020F0502020204030204" pitchFamily="34" charset="0"/>
                <a:cs typeface="Calibri" panose="020F0502020204030204" pitchFamily="34" charset="0"/>
              </a:rPr>
              <a:t>In some regions (e.g., China), </a:t>
            </a:r>
            <a:r>
              <a:rPr lang="en-US" sz="1800" b="1" dirty="0">
                <a:latin typeface="Calibri" panose="020F0502020204030204" pitchFamily="34" charset="0"/>
                <a:cs typeface="Calibri" panose="020F0502020204030204" pitchFamily="34" charset="0"/>
              </a:rPr>
              <a:t>local competitors</a:t>
            </a:r>
            <a:r>
              <a:rPr lang="en-US" sz="1800" dirty="0">
                <a:latin typeface="Calibri" panose="020F0502020204030204" pitchFamily="34" charset="0"/>
                <a:cs typeface="Calibri" panose="020F0502020204030204" pitchFamily="34" charset="0"/>
              </a:rPr>
              <a:t> like UnionPay are favored by governments, limiting Visa’s expansion.</a:t>
            </a:r>
          </a:p>
          <a:p>
            <a:pPr>
              <a:buFont typeface="Arial" panose="020B0604020202020204" pitchFamily="34" charset="0"/>
              <a:buChar char="•"/>
            </a:pPr>
            <a:r>
              <a:rPr lang="en-US" sz="1800" dirty="0">
                <a:latin typeface="Calibri" panose="020F0502020204030204" pitchFamily="34" charset="0"/>
                <a:cs typeface="Calibri" panose="020F0502020204030204" pitchFamily="34" charset="0"/>
              </a:rPr>
              <a:t>Emerging markets are increasingly adopting </a:t>
            </a:r>
            <a:r>
              <a:rPr lang="en-US" sz="1800" b="1" dirty="0">
                <a:latin typeface="Calibri" panose="020F0502020204030204" pitchFamily="34" charset="0"/>
                <a:cs typeface="Calibri" panose="020F0502020204030204" pitchFamily="34" charset="0"/>
              </a:rPr>
              <a:t>alternative payment methods</a:t>
            </a:r>
            <a:r>
              <a:rPr lang="en-US" sz="1800" dirty="0">
                <a:latin typeface="Calibri" panose="020F0502020204030204" pitchFamily="34" charset="0"/>
                <a:cs typeface="Calibri" panose="020F0502020204030204" pitchFamily="34" charset="0"/>
              </a:rPr>
              <a:t>, including digital wallets, QR code systems, and government-backed platforms that may marginalize Visa.</a:t>
            </a:r>
          </a:p>
          <a:p>
            <a:pPr>
              <a:buFont typeface="Wingdings" pitchFamily="2" charset="2"/>
              <a:buChar char="Ø"/>
            </a:pPr>
            <a:r>
              <a:rPr lang="en-US" sz="1800" b="1" dirty="0">
                <a:solidFill>
                  <a:srgbClr val="4E95D9"/>
                </a:solidFill>
                <a:latin typeface="Calibri" panose="020F0502020204030204" pitchFamily="34" charset="0"/>
                <a:cs typeface="Calibri" panose="020F0502020204030204" pitchFamily="34" charset="0"/>
              </a:rPr>
              <a:t>Valuation Risk</a:t>
            </a:r>
          </a:p>
          <a:p>
            <a:pPr>
              <a:buNone/>
            </a:pPr>
            <a:r>
              <a:rPr lang="en-US" sz="1800" dirty="0">
                <a:latin typeface="Calibri" panose="020F0502020204030204" pitchFamily="34" charset="0"/>
                <a:cs typeface="Calibri" panose="020F0502020204030204" pitchFamily="34" charset="0"/>
              </a:rPr>
              <a:t>Visa trades at a premium multiple relative to the broader market and even many fintech peers. Risks include:</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Multiple compression</a:t>
            </a:r>
            <a:r>
              <a:rPr lang="en-US" sz="1800" dirty="0">
                <a:latin typeface="Calibri" panose="020F0502020204030204" pitchFamily="34" charset="0"/>
                <a:cs typeface="Calibri" panose="020F0502020204030204" pitchFamily="34" charset="0"/>
              </a:rPr>
              <a:t>: In a rising rate or risk-off environment, high-multiple stocks often underperform.</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Growth expectations</a:t>
            </a:r>
            <a:r>
              <a:rPr lang="en-US" sz="1800" dirty="0">
                <a:latin typeface="Calibri" panose="020F0502020204030204" pitchFamily="34" charset="0"/>
                <a:cs typeface="Calibri" panose="020F0502020204030204" pitchFamily="34" charset="0"/>
              </a:rPr>
              <a:t> baked into current valuations may not materialize** if any of the above headwinds intensify.</a:t>
            </a:r>
          </a:p>
          <a:p>
            <a:pPr>
              <a:buFont typeface="Arial" panose="020B0604020202020204" pitchFamily="34" charset="0"/>
              <a:buChar char="•"/>
            </a:pPr>
            <a:r>
              <a:rPr lang="en-US" sz="1800" dirty="0">
                <a:latin typeface="Calibri" panose="020F0502020204030204" pitchFamily="34" charset="0"/>
                <a:cs typeface="Calibri" panose="020F0502020204030204" pitchFamily="34" charset="0"/>
              </a:rPr>
              <a:t>Investors may rotate toward newer, high-growth fintech platforms with greater perceived upside.</a:t>
            </a:r>
          </a:p>
          <a:p>
            <a:pPr marL="0" indent="0">
              <a:buNone/>
            </a:pPr>
            <a:endParaRPr lang="en-US" sz="1800" dirty="0">
              <a:latin typeface="Calibri" panose="020F0502020204030204" pitchFamily="34" charset="0"/>
              <a:cs typeface="Calibri" panose="020F0502020204030204" pitchFamily="34" charset="0"/>
            </a:endParaRPr>
          </a:p>
          <a:p>
            <a:endParaRPr lang="en-US" sz="1800" dirty="0"/>
          </a:p>
        </p:txBody>
      </p:sp>
    </p:spTree>
    <p:extLst>
      <p:ext uri="{BB962C8B-B14F-4D97-AF65-F5344CB8AC3E}">
        <p14:creationId xmlns:p14="http://schemas.microsoft.com/office/powerpoint/2010/main" val="2201569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stock market&#10;&#10;AI-generated content may be incorrect.">
            <a:extLst>
              <a:ext uri="{FF2B5EF4-FFF2-40B4-BE49-F238E27FC236}">
                <a16:creationId xmlns:a16="http://schemas.microsoft.com/office/drawing/2014/main" id="{C86CB052-90EC-C244-C0B5-A29A9D8AAB4E}"/>
              </a:ext>
            </a:extLst>
          </p:cNvPr>
          <p:cNvPicPr>
            <a:picLocks noGrp="1" noChangeAspect="1"/>
          </p:cNvPicPr>
          <p:nvPr>
            <p:ph idx="1"/>
          </p:nvPr>
        </p:nvPicPr>
        <p:blipFill>
          <a:blip r:embed="rId2"/>
          <a:stretch>
            <a:fillRect/>
          </a:stretch>
        </p:blipFill>
        <p:spPr>
          <a:xfrm>
            <a:off x="468313" y="542809"/>
            <a:ext cx="10885487" cy="5527907"/>
          </a:xfrm>
        </p:spPr>
      </p:pic>
    </p:spTree>
    <p:extLst>
      <p:ext uri="{BB962C8B-B14F-4D97-AF65-F5344CB8AC3E}">
        <p14:creationId xmlns:p14="http://schemas.microsoft.com/office/powerpoint/2010/main" val="20795579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graph&#10;&#10;AI-generated content may be incorrect.">
            <a:extLst>
              <a:ext uri="{FF2B5EF4-FFF2-40B4-BE49-F238E27FC236}">
                <a16:creationId xmlns:a16="http://schemas.microsoft.com/office/drawing/2014/main" id="{2DDBC9EC-E1EA-48BF-BF41-48855DE70B41}"/>
              </a:ext>
            </a:extLst>
          </p:cNvPr>
          <p:cNvPicPr>
            <a:picLocks noGrp="1" noChangeAspect="1"/>
          </p:cNvPicPr>
          <p:nvPr>
            <p:ph idx="1"/>
          </p:nvPr>
        </p:nvPicPr>
        <p:blipFill>
          <a:blip r:embed="rId2"/>
          <a:stretch>
            <a:fillRect/>
          </a:stretch>
        </p:blipFill>
        <p:spPr>
          <a:xfrm>
            <a:off x="2213724" y="643467"/>
            <a:ext cx="7764551" cy="5571066"/>
          </a:xfrm>
          <a:prstGeom prst="rect">
            <a:avLst/>
          </a:prstGeom>
        </p:spPr>
      </p:pic>
    </p:spTree>
    <p:extLst>
      <p:ext uri="{BB962C8B-B14F-4D97-AF65-F5344CB8AC3E}">
        <p14:creationId xmlns:p14="http://schemas.microsoft.com/office/powerpoint/2010/main" val="29359019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graph&#10;&#10;AI-generated content may be incorrect.">
            <a:extLst>
              <a:ext uri="{FF2B5EF4-FFF2-40B4-BE49-F238E27FC236}">
                <a16:creationId xmlns:a16="http://schemas.microsoft.com/office/drawing/2014/main" id="{4FE6DA36-C739-038C-91EB-F56FC8D7B693}"/>
              </a:ext>
            </a:extLst>
          </p:cNvPr>
          <p:cNvPicPr>
            <a:picLocks noGrp="1" noChangeAspect="1"/>
          </p:cNvPicPr>
          <p:nvPr>
            <p:ph idx="1"/>
          </p:nvPr>
        </p:nvPicPr>
        <p:blipFill>
          <a:blip r:embed="rId2"/>
          <a:stretch>
            <a:fillRect/>
          </a:stretch>
        </p:blipFill>
        <p:spPr>
          <a:xfrm>
            <a:off x="2513319" y="643467"/>
            <a:ext cx="7165361" cy="5571066"/>
          </a:xfrm>
          <a:prstGeom prst="rect">
            <a:avLst/>
          </a:prstGeom>
        </p:spPr>
      </p:pic>
    </p:spTree>
    <p:extLst>
      <p:ext uri="{BB962C8B-B14F-4D97-AF65-F5344CB8AC3E}">
        <p14:creationId xmlns:p14="http://schemas.microsoft.com/office/powerpoint/2010/main" val="166970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59D6BAFC-19F4-3CAD-FBD4-39EC6844A838}"/>
              </a:ext>
            </a:extLst>
          </p:cNvPr>
          <p:cNvPicPr>
            <a:picLocks noGrp="1" noChangeAspect="1"/>
          </p:cNvPicPr>
          <p:nvPr>
            <p:ph idx="1"/>
          </p:nvPr>
        </p:nvPicPr>
        <p:blipFill>
          <a:blip r:embed="rId2"/>
          <a:stretch>
            <a:fillRect/>
          </a:stretch>
        </p:blipFill>
        <p:spPr>
          <a:xfrm>
            <a:off x="2095768" y="393700"/>
            <a:ext cx="7694077" cy="5783263"/>
          </a:xfrm>
        </p:spPr>
      </p:pic>
    </p:spTree>
    <p:extLst>
      <p:ext uri="{BB962C8B-B14F-4D97-AF65-F5344CB8AC3E}">
        <p14:creationId xmlns:p14="http://schemas.microsoft.com/office/powerpoint/2010/main" val="22961733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ie chart with different colored circles&#10;&#10;AI-generated content may be incorrect.">
            <a:extLst>
              <a:ext uri="{FF2B5EF4-FFF2-40B4-BE49-F238E27FC236}">
                <a16:creationId xmlns:a16="http://schemas.microsoft.com/office/drawing/2014/main" id="{7340C10B-63A8-ED96-FCF2-C8D54F6B1824}"/>
              </a:ext>
            </a:extLst>
          </p:cNvPr>
          <p:cNvPicPr>
            <a:picLocks noGrp="1" noChangeAspect="1"/>
          </p:cNvPicPr>
          <p:nvPr>
            <p:ph idx="1"/>
          </p:nvPr>
        </p:nvPicPr>
        <p:blipFill>
          <a:blip r:embed="rId2"/>
          <a:stretch>
            <a:fillRect/>
          </a:stretch>
        </p:blipFill>
        <p:spPr>
          <a:xfrm>
            <a:off x="790223" y="643466"/>
            <a:ext cx="10611554" cy="5571067"/>
          </a:xfrm>
          <a:prstGeom prst="rect">
            <a:avLst/>
          </a:prstGeom>
        </p:spPr>
      </p:pic>
    </p:spTree>
    <p:extLst>
      <p:ext uri="{BB962C8B-B14F-4D97-AF65-F5344CB8AC3E}">
        <p14:creationId xmlns:p14="http://schemas.microsoft.com/office/powerpoint/2010/main" val="37477916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DF887-16F1-6F9F-05AC-896DD1ADA9F0}"/>
              </a:ext>
            </a:extLst>
          </p:cNvPr>
          <p:cNvSpPr>
            <a:spLocks noGrp="1"/>
          </p:cNvSpPr>
          <p:nvPr>
            <p:ph type="title"/>
          </p:nvPr>
        </p:nvSpPr>
        <p:spPr>
          <a:xfrm>
            <a:off x="838200" y="365126"/>
            <a:ext cx="10347251" cy="836354"/>
          </a:xfrm>
        </p:spPr>
        <p:txBody>
          <a:bodyPr>
            <a:normAutofit/>
          </a:bodyPr>
          <a:lstStyle/>
          <a:p>
            <a:r>
              <a:rPr lang="en-US" sz="2800" b="1" dirty="0">
                <a:solidFill>
                  <a:schemeClr val="tx2">
                    <a:lumMod val="90000"/>
                    <a:lumOff val="10000"/>
                  </a:schemeClr>
                </a:solidFill>
                <a:latin typeface="Calibri" panose="020F0502020204030204" pitchFamily="34" charset="0"/>
                <a:cs typeface="Calibri" panose="020F0502020204030204" pitchFamily="34" charset="0"/>
              </a:rPr>
              <a:t>THESIS SUMMARY</a:t>
            </a:r>
          </a:p>
        </p:txBody>
      </p:sp>
      <p:sp>
        <p:nvSpPr>
          <p:cNvPr id="3" name="Content Placeholder 2">
            <a:extLst>
              <a:ext uri="{FF2B5EF4-FFF2-40B4-BE49-F238E27FC236}">
                <a16:creationId xmlns:a16="http://schemas.microsoft.com/office/drawing/2014/main" id="{4A8FDDD8-0846-D36E-B68B-BB35A52B1B1E}"/>
              </a:ext>
            </a:extLst>
          </p:cNvPr>
          <p:cNvSpPr>
            <a:spLocks noGrp="1"/>
          </p:cNvSpPr>
          <p:nvPr>
            <p:ph idx="1"/>
          </p:nvPr>
        </p:nvSpPr>
        <p:spPr>
          <a:xfrm>
            <a:off x="838200" y="1253331"/>
            <a:ext cx="10974572" cy="5083674"/>
          </a:xfrm>
        </p:spPr>
        <p:txBody>
          <a:bodyPr>
            <a:normAutofit/>
          </a:bodyPr>
          <a:lstStyle/>
          <a:p>
            <a:r>
              <a:rPr lang="en-US" sz="1800" b="1" dirty="0">
                <a:solidFill>
                  <a:srgbClr val="4E95D9"/>
                </a:solidFill>
                <a:latin typeface="Calibri" panose="020F0502020204030204" pitchFamily="34" charset="0"/>
                <a:cs typeface="Calibri" panose="020F0502020204030204" pitchFamily="34" charset="0"/>
              </a:rPr>
              <a:t>Global Leader in Payment Processing</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Visa operates the world’s largest electronic payment network, facilitating over $14 trillion in annual payment volume. Its unmatched scale, brand strength, and global reach form a powerful moat that is difficult for competitors to breach.</a:t>
            </a:r>
          </a:p>
          <a:p>
            <a:r>
              <a:rPr lang="en-US" sz="1800" b="1" dirty="0">
                <a:solidFill>
                  <a:srgbClr val="4E95D9"/>
                </a:solidFill>
                <a:latin typeface="Calibri" panose="020F0502020204030204" pitchFamily="34" charset="0"/>
                <a:cs typeface="Calibri" panose="020F0502020204030204" pitchFamily="34" charset="0"/>
              </a:rPr>
              <a:t>Highly Scalable and Profitable Business Model</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Visa doesn’t take on credit risk but earns fees on payment volume, making its model capital-light and highly scalable. This results in exceptional operating margins (60%+) and strong free cash flow, fueling reinvestment and shareholder returns.</a:t>
            </a:r>
          </a:p>
          <a:p>
            <a:r>
              <a:rPr lang="en-US" sz="1800" b="1" dirty="0">
                <a:solidFill>
                  <a:srgbClr val="4E95D9"/>
                </a:solidFill>
                <a:latin typeface="Calibri" panose="020F0502020204030204" pitchFamily="34" charset="0"/>
                <a:cs typeface="Calibri" panose="020F0502020204030204" pitchFamily="34" charset="0"/>
              </a:rPr>
              <a:t>Tailwinds from Cash-to-Digital Shift</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Visa is a direct beneficiary of the multi-decade trend away from cash toward digital payments, driven by e-commerce growth, mobile wallets, financial inclusion, and rising consumer spending. These tailwinds support long-term volume and revenue expansion.</a:t>
            </a:r>
          </a:p>
          <a:p>
            <a:r>
              <a:rPr lang="en-US" sz="1800" b="1" dirty="0">
                <a:solidFill>
                  <a:srgbClr val="4E95D9"/>
                </a:solidFill>
                <a:latin typeface="Calibri" panose="020F0502020204030204" pitchFamily="34" charset="0"/>
                <a:cs typeface="Calibri" panose="020F0502020204030204" pitchFamily="34" charset="0"/>
              </a:rPr>
              <a:t>Strategic Expansion Beyond Cards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Visa is aggressively expanding into new areas—real-time payments (Visa Direct), B2B payments, fintech partnerships, open banking, and digital identity—broadening its total addressable market and reinforcing its long-term relevance.</a:t>
            </a:r>
          </a:p>
        </p:txBody>
      </p:sp>
    </p:spTree>
    <p:extLst>
      <p:ext uri="{BB962C8B-B14F-4D97-AF65-F5344CB8AC3E}">
        <p14:creationId xmlns:p14="http://schemas.microsoft.com/office/powerpoint/2010/main" val="5137257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0B4D97-9809-1EAE-025F-410D77D89041}"/>
              </a:ext>
            </a:extLst>
          </p:cNvPr>
          <p:cNvSpPr>
            <a:spLocks noGrp="1"/>
          </p:cNvSpPr>
          <p:nvPr>
            <p:ph idx="1"/>
          </p:nvPr>
        </p:nvSpPr>
        <p:spPr>
          <a:xfrm>
            <a:off x="595313" y="542925"/>
            <a:ext cx="10758487" cy="5634038"/>
          </a:xfrm>
        </p:spPr>
        <p:txBody>
          <a:bodyPr>
            <a:normAutofit/>
          </a:bodyPr>
          <a:lstStyle/>
          <a:p>
            <a:r>
              <a:rPr lang="en-US" sz="1800" b="1" dirty="0">
                <a:solidFill>
                  <a:srgbClr val="4E95D9"/>
                </a:solidFill>
                <a:latin typeface="Calibri" panose="020F0502020204030204" pitchFamily="34" charset="0"/>
                <a:cs typeface="Calibri" panose="020F0502020204030204" pitchFamily="34" charset="0"/>
              </a:rPr>
              <a:t>Strong Balance Sheet and Shareholder Returns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With little debt and consistently high free cash flow, Visa is well-positioned to invest in innovation while returning capital via dividends and aggressive buybacks. Its financial strength adds to its appeal in both growth and defensive portfolios.</a:t>
            </a:r>
          </a:p>
          <a:p>
            <a:r>
              <a:rPr lang="en-US" sz="1800" b="1" dirty="0">
                <a:solidFill>
                  <a:srgbClr val="4E95D9"/>
                </a:solidFill>
                <a:latin typeface="Calibri" panose="020F0502020204030204" pitchFamily="34" charset="0"/>
                <a:cs typeface="Calibri" panose="020F0502020204030204" pitchFamily="34" charset="0"/>
              </a:rPr>
              <a:t>Robust Network Effects and Pricing Power</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Visa’s two-sided network (consumers and merchants) creates strong network effects that deter new entrants. Its essential role in global commerce gives it meaningful pricing power and resilience against competitive and macroeconomic pressures.</a:t>
            </a:r>
          </a:p>
          <a:p>
            <a:r>
              <a:rPr lang="en-US" sz="1800" b="1" dirty="0">
                <a:solidFill>
                  <a:srgbClr val="4E95D9"/>
                </a:solidFill>
                <a:latin typeface="Calibri" panose="020F0502020204030204" pitchFamily="34" charset="0"/>
                <a:cs typeface="Calibri" panose="020F0502020204030204" pitchFamily="34" charset="0"/>
              </a:rPr>
              <a:t>Beneficiary of Global Economic Growth and Inflation</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Because its revenue is tied to transaction values, Visa benefits from higher spending and inflation, serving as a natural hedge in inflationary environments and a proxy for global consumer and business activity.</a:t>
            </a:r>
          </a:p>
          <a:p>
            <a:r>
              <a:rPr lang="en-US" sz="1800" dirty="0">
                <a:latin typeface="Calibri" panose="020F0502020204030204" pitchFamily="34" charset="0"/>
                <a:cs typeface="Calibri" panose="020F0502020204030204" pitchFamily="34" charset="0"/>
              </a:rPr>
              <a:t>Visa has shown excellent performance over the last 17 years with an average annual return of ~21% outperforming most peer competitors and both S&amp;P500 and NASDAQ100 Index.</a:t>
            </a:r>
          </a:p>
          <a:p>
            <a:r>
              <a:rPr lang="en-US" sz="1800" dirty="0">
                <a:latin typeface="Calibri" panose="020F0502020204030204" pitchFamily="34" charset="0"/>
                <a:cs typeface="Calibri" panose="020F0502020204030204" pitchFamily="34" charset="0"/>
              </a:rPr>
              <a:t>Visa also possess vast amounts of payment transaction data placing it in an ideal position to integrate AI models easily.</a:t>
            </a:r>
          </a:p>
          <a:p>
            <a:endParaRPr lang="en-US" sz="1800" dirty="0">
              <a:latin typeface="Calibri" panose="020F0502020204030204" pitchFamily="34" charset="0"/>
              <a:cs typeface="Calibri" panose="020F0502020204030204" pitchFamily="34" charset="0"/>
            </a:endParaRPr>
          </a:p>
          <a:p>
            <a:pPr marL="0" indent="0">
              <a:buNone/>
            </a:pPr>
            <a:endParaRPr lang="en-US" sz="1800" dirty="0">
              <a:latin typeface="Calibri" panose="020F0502020204030204" pitchFamily="34" charset="0"/>
              <a:cs typeface="Calibri" panose="020F0502020204030204" pitchFamily="34" charset="0"/>
            </a:endParaRPr>
          </a:p>
          <a:p>
            <a:endParaRPr lang="en-US" sz="1800" dirty="0">
              <a:latin typeface="Calibri" panose="020F0502020204030204" pitchFamily="34" charset="0"/>
              <a:cs typeface="Calibri" panose="020F0502020204030204" pitchFamily="34" charset="0"/>
            </a:endParaRPr>
          </a:p>
          <a:p>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2906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4954</TotalTime>
  <Words>3117</Words>
  <Application>Microsoft Macintosh PowerPoint</Application>
  <PresentationFormat>Widescreen</PresentationFormat>
  <Paragraphs>198</Paragraphs>
  <Slides>57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Aptos</vt:lpstr>
      <vt:lpstr>Aptos Display</vt:lpstr>
      <vt:lpstr>Arial</vt:lpstr>
      <vt:lpstr>Calibri</vt:lpstr>
      <vt:lpstr>Courier New</vt:lpstr>
      <vt:lpstr>Helvetica</vt:lpstr>
      <vt:lpstr>Symbol</vt:lpstr>
      <vt:lpstr>Wingdings</vt:lpstr>
      <vt:lpstr>Office Theme</vt:lpstr>
      <vt:lpstr>A Bullish Case for</vt:lpstr>
      <vt:lpstr>PowerPoint Presentation</vt:lpstr>
      <vt:lpstr>PowerPoint Presentation</vt:lpstr>
      <vt:lpstr>PowerPoint Presentation</vt:lpstr>
      <vt:lpstr>PowerPoint Presentation</vt:lpstr>
      <vt:lpstr>PowerPoint Presentation</vt:lpstr>
      <vt:lpstr>PowerPoint Presentation</vt:lpstr>
      <vt:lpstr>Business Description</vt:lpstr>
      <vt:lpstr>VISA Factsheet</vt:lpstr>
      <vt:lpstr>PowerPoint Presentation</vt:lpstr>
      <vt:lpstr>PowerPoint Presentation</vt:lpstr>
      <vt:lpstr>Revenue Breakdown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VISA Management Team</vt:lpstr>
      <vt:lpstr>Visa Mergers &amp; Acquisitions</vt:lpstr>
      <vt:lpstr>PowerPoint Presentation</vt:lpstr>
      <vt:lpstr>PowerPoint Presentation</vt:lpstr>
      <vt:lpstr>COMPETITION</vt:lpstr>
      <vt:lpstr>PowerPoint Presentation</vt:lpstr>
      <vt:lpstr>PowerPoint Presentation</vt:lpstr>
      <vt:lpstr>PowerPoint Presentation</vt:lpstr>
      <vt:lpstr>  Risks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THESIS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Sajid, Ahmed S</dc:creator>
  <cp:lastModifiedBy>Sajid, Ahmed S</cp:lastModifiedBy>
  <cp:revision>312</cp:revision>
  <dcterms:created xsi:type="dcterms:W3CDTF">2025-05-02T19:32:18Z</dcterms:created>
  <dcterms:modified xsi:type="dcterms:W3CDTF">2025-05-08T20:46:25Z</dcterms:modified>
</cp:coreProperties>
</file>